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100" y="1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485406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just culture is widely endorsed and rarely achieved. This deck is about the friction between the two, drawing on safety science (Reason, Marx, Dekker, Shorrock), healthcare research, and DevOps/SRE practice.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 just culture is an agreement about how the organization will behave under pressure, not a document. Every barrier that follows is a way that agreement gets broken.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Westrum's typology, as adopted by DORA. Worth stressing that 'failure leads to justice' sits in the bureaucratic column, not the generative one. Procedural fairness is not the same as learning.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barrier people skip. Treating just culture as a program with a launch date is itself a barrier, because it sets an expectation of completion that the work will never meet.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think of the last incident where someone's name became shorthand for the outage. How long ago was it, and is that person still here?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Row 4 is the one to dwell on: the pressure to name an individual is strongest at exactly the moment the incident is most worth learning from.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Caveat the 67% figure: small single-institution sample, healthcare not tech. It is directionally useful, not a benchmark.</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here. Overpromising immunity is a barrier in itself. Better to say clearly what the org will and will not protect.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diagram is the argument: barriers are not one problem. Fixing team-level psychological safety does nothing about the organizational and external layers, which is why local wins keep getting reversed.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measurement point. It converts an abstract debate into a number leadership can be held to over time.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420"/>
        </a:solidFill>
        <a:effectLst/>
      </p:bgPr>
    </p:bg>
    <p:spTree>
      <p:nvGrpSpPr>
        <p:cNvPr id="1" name=""/>
        <p:cNvGrpSpPr/>
        <p:nvPr/>
      </p:nvGrpSpPr>
      <p:grpSpPr>
        <a:xfrm>
          <a:off x="0" y="0"/>
          <a:ext cx="0" cy="0"/>
          <a:chOff x="0" y="0"/>
          <a:chExt cx="0" cy="0"/>
        </a:xfrm>
      </p:grpSpPr>
      <p:sp>
        <p:nvSpPr>
          <p:cNvPr id="2" name="Shape 0"/>
          <p:cNvSpPr/>
          <p:nvPr/>
        </p:nvSpPr>
        <p:spPr>
          <a:xfrm>
            <a:off x="5943600" y="640080"/>
            <a:ext cx="5577840" cy="5577840"/>
          </a:xfrm>
          <a:prstGeom prst="ellipse">
            <a:avLst/>
          </a:prstGeom>
          <a:solidFill>
            <a:srgbClr val="0E1420">
              <a:alpha val="0"/>
            </a:srgbClr>
          </a:solidFill>
          <a:ln w="15875">
            <a:solidFill>
              <a:srgbClr val="2E3B52"/>
            </a:solidFill>
            <a:prstDash val="solid"/>
          </a:ln>
        </p:spPr>
        <p:txBody>
          <a:bodyPr/>
          <a:lstStyle/>
          <a:p>
            <a:endParaRPr lang="en-US"/>
          </a:p>
        </p:txBody>
      </p:sp>
      <p:sp>
        <p:nvSpPr>
          <p:cNvPr id="3" name="Shape 1"/>
          <p:cNvSpPr/>
          <p:nvPr/>
        </p:nvSpPr>
        <p:spPr>
          <a:xfrm>
            <a:off x="6583680" y="1280160"/>
            <a:ext cx="4297680" cy="4297680"/>
          </a:xfrm>
          <a:prstGeom prst="ellipse">
            <a:avLst/>
          </a:prstGeom>
          <a:solidFill>
            <a:srgbClr val="0E1420">
              <a:alpha val="0"/>
            </a:srgbClr>
          </a:solidFill>
          <a:ln w="15875">
            <a:solidFill>
              <a:srgbClr val="2E3B52"/>
            </a:solidFill>
            <a:prstDash val="solid"/>
          </a:ln>
        </p:spPr>
        <p:txBody>
          <a:bodyPr/>
          <a:lstStyle/>
          <a:p>
            <a:endParaRPr lang="en-US"/>
          </a:p>
        </p:txBody>
      </p:sp>
      <p:sp>
        <p:nvSpPr>
          <p:cNvPr id="4" name="Shape 2"/>
          <p:cNvSpPr/>
          <p:nvPr/>
        </p:nvSpPr>
        <p:spPr>
          <a:xfrm>
            <a:off x="7223760" y="1920240"/>
            <a:ext cx="3017520" cy="3017520"/>
          </a:xfrm>
          <a:prstGeom prst="ellipse">
            <a:avLst/>
          </a:prstGeom>
          <a:solidFill>
            <a:srgbClr val="0E1420">
              <a:alpha val="0"/>
            </a:srgbClr>
          </a:solidFill>
          <a:ln w="15875">
            <a:solidFill>
              <a:srgbClr val="2E3B52"/>
            </a:solidFill>
            <a:prstDash val="solid"/>
          </a:ln>
        </p:spPr>
        <p:txBody>
          <a:bodyPr/>
          <a:lstStyle/>
          <a:p>
            <a:endParaRPr lang="en-US"/>
          </a:p>
        </p:txBody>
      </p:sp>
      <p:sp>
        <p:nvSpPr>
          <p:cNvPr id="5" name="Shape 3"/>
          <p:cNvSpPr/>
          <p:nvPr/>
        </p:nvSpPr>
        <p:spPr>
          <a:xfrm>
            <a:off x="7863840" y="2560320"/>
            <a:ext cx="1737360" cy="1737360"/>
          </a:xfrm>
          <a:prstGeom prst="ellipse">
            <a:avLst/>
          </a:prstGeom>
          <a:solidFill>
            <a:srgbClr val="0E1420">
              <a:alpha val="0"/>
            </a:srgbClr>
          </a:solidFill>
          <a:ln w="25400">
            <a:solidFill>
              <a:srgbClr val="F0A202"/>
            </a:solidFill>
            <a:prstDash val="solid"/>
          </a:ln>
        </p:spPr>
        <p:txBody>
          <a:bodyPr/>
          <a:lstStyle/>
          <a:p>
            <a:endParaRPr lang="en-US"/>
          </a:p>
        </p:txBody>
      </p:sp>
      <p:sp>
        <p:nvSpPr>
          <p:cNvPr id="6" name="Text 4"/>
          <p:cNvSpPr/>
          <p:nvPr/>
        </p:nvSpPr>
        <p:spPr>
          <a:xfrm>
            <a:off x="777240" y="1600200"/>
            <a:ext cx="7315200" cy="274320"/>
          </a:xfrm>
          <a:prstGeom prst="rect">
            <a:avLst/>
          </a:prstGeom>
          <a:noFill/>
          <a:ln/>
        </p:spPr>
        <p:txBody>
          <a:bodyPr wrap="square" lIns="0" tIns="0" rIns="0" bIns="0" rtlCol="0" anchor="ctr"/>
          <a:lstStyle/>
          <a:p>
            <a:pPr marL="0" indent="0">
              <a:buNone/>
            </a:pPr>
            <a:r>
              <a:rPr lang="en-US" sz="1150" b="1" kern="0" spc="240" dirty="0">
                <a:solidFill>
                  <a:srgbClr val="F0A202"/>
                </a:solidFill>
                <a:latin typeface="Calibri" pitchFamily="34" charset="0"/>
                <a:ea typeface="Calibri" pitchFamily="34" charset="-122"/>
                <a:cs typeface="Calibri" pitchFamily="34" charset="-120"/>
              </a:rPr>
              <a:t>DEVOPS  ·  RELIABILITY  ·  INTERNAL TRAINING</a:t>
            </a:r>
            <a:endParaRPr lang="en-US" sz="1150" dirty="0"/>
          </a:p>
        </p:txBody>
      </p:sp>
      <p:sp>
        <p:nvSpPr>
          <p:cNvPr id="7" name="Text 5"/>
          <p:cNvSpPr/>
          <p:nvPr/>
        </p:nvSpPr>
        <p:spPr>
          <a:xfrm>
            <a:off x="777240" y="2011680"/>
            <a:ext cx="7498080" cy="1737360"/>
          </a:xfrm>
          <a:prstGeom prst="rect">
            <a:avLst/>
          </a:prstGeom>
          <a:noFill/>
          <a:ln/>
        </p:spPr>
        <p:txBody>
          <a:bodyPr wrap="square" lIns="0" tIns="0" rIns="0" bIns="0" rtlCol="0" anchor="ctr"/>
          <a:lstStyle/>
          <a:p>
            <a:pPr marL="0" indent="0">
              <a:lnSpc>
                <a:spcPct val="105000"/>
              </a:lnSpc>
              <a:buNone/>
            </a:pPr>
            <a:r>
              <a:rPr lang="en-US" sz="4200" b="1" dirty="0">
                <a:solidFill>
                  <a:srgbClr val="E8EDF5"/>
                </a:solidFill>
                <a:latin typeface="Arial" pitchFamily="34" charset="0"/>
                <a:ea typeface="Arial" pitchFamily="34" charset="-122"/>
                <a:cs typeface="Arial" pitchFamily="34" charset="-120"/>
              </a:rPr>
              <a:t>Why Just Culture</a:t>
            </a:r>
            <a:endParaRPr lang="en-US" sz="4200" dirty="0"/>
          </a:p>
          <a:p>
            <a:pPr marL="0" indent="0">
              <a:lnSpc>
                <a:spcPct val="105000"/>
              </a:lnSpc>
              <a:buNone/>
            </a:pPr>
            <a:r>
              <a:rPr lang="en-US" sz="4200" b="1" dirty="0">
                <a:solidFill>
                  <a:srgbClr val="E8EDF5"/>
                </a:solidFill>
                <a:latin typeface="Arial" pitchFamily="34" charset="0"/>
                <a:ea typeface="Arial" pitchFamily="34" charset="-122"/>
                <a:cs typeface="Arial" pitchFamily="34" charset="-120"/>
              </a:rPr>
              <a:t>Is So Hard to Build</a:t>
            </a:r>
            <a:endParaRPr lang="en-US" sz="4200" dirty="0"/>
          </a:p>
        </p:txBody>
      </p:sp>
      <p:sp>
        <p:nvSpPr>
          <p:cNvPr id="8" name="Text 6"/>
          <p:cNvSpPr/>
          <p:nvPr/>
        </p:nvSpPr>
        <p:spPr>
          <a:xfrm>
            <a:off x="777240" y="3886200"/>
            <a:ext cx="6766560" cy="822960"/>
          </a:xfrm>
          <a:prstGeom prst="rect">
            <a:avLst/>
          </a:prstGeom>
          <a:noFill/>
          <a:ln/>
        </p:spPr>
        <p:txBody>
          <a:bodyPr wrap="square" lIns="0" tIns="0" rIns="0" bIns="0" rtlCol="0" anchor="ctr"/>
          <a:lstStyle/>
          <a:p>
            <a:pPr marL="0" indent="0">
              <a:lnSpc>
                <a:spcPct val="125000"/>
              </a:lnSpc>
              <a:buNone/>
            </a:pPr>
            <a:r>
              <a:rPr lang="en-US" sz="1500" dirty="0">
                <a:solidFill>
                  <a:srgbClr val="8A97AC"/>
                </a:solidFill>
                <a:latin typeface="Calibri" pitchFamily="34" charset="0"/>
                <a:ea typeface="Calibri" pitchFamily="34" charset="-122"/>
                <a:cs typeface="Calibri" pitchFamily="34" charset="-120"/>
              </a:rPr>
              <a:t>Barriers and challenges to implementing a just culture, and what they look like inside an engineering organization.</a:t>
            </a:r>
            <a:endParaRPr lang="en-US" sz="1500" dirty="0"/>
          </a:p>
        </p:txBody>
      </p:sp>
      <p:sp>
        <p:nvSpPr>
          <p:cNvPr id="9" name="Shape 7"/>
          <p:cNvSpPr/>
          <p:nvPr/>
        </p:nvSpPr>
        <p:spPr>
          <a:xfrm>
            <a:off x="777240" y="4983480"/>
            <a:ext cx="1828800" cy="20117"/>
          </a:xfrm>
          <a:prstGeom prst="rect">
            <a:avLst/>
          </a:prstGeom>
          <a:solidFill>
            <a:srgbClr val="2E3B52"/>
          </a:solidFill>
          <a:ln/>
        </p:spPr>
        <p:txBody>
          <a:bodyPr/>
          <a:lstStyle/>
          <a:p>
            <a:endParaRPr lang="en-US"/>
          </a:p>
        </p:txBody>
      </p:sp>
      <p:sp>
        <p:nvSpPr>
          <p:cNvPr id="10" name="Text 8"/>
          <p:cNvSpPr/>
          <p:nvPr/>
        </p:nvSpPr>
        <p:spPr>
          <a:xfrm>
            <a:off x="777240" y="5166360"/>
            <a:ext cx="6400800" cy="274320"/>
          </a:xfrm>
          <a:prstGeom prst="rect">
            <a:avLst/>
          </a:prstGeom>
          <a:noFill/>
          <a:ln/>
        </p:spPr>
        <p:txBody>
          <a:bodyPr wrap="square" lIns="0" tIns="0" rIns="0" bIns="0" rtlCol="0" anchor="ctr"/>
          <a:lstStyle/>
          <a:p>
            <a:pPr marL="0" indent="0">
              <a:buNone/>
            </a:pPr>
            <a:r>
              <a:rPr lang="en-US" sz="1200" dirty="0">
                <a:solidFill>
                  <a:srgbClr val="8A97AC"/>
                </a:solidFill>
                <a:latin typeface="Calibri" pitchFamily="34" charset="0"/>
                <a:ea typeface="Calibri" pitchFamily="34" charset="-122"/>
                <a:cs typeface="Calibri" pitchFamily="34" charset="-120"/>
              </a:rPr>
              <a:t>Caleb Schumacher  ·  August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420"/>
        </a:solidFill>
        <a:effectLst/>
      </p:bgPr>
    </p:bg>
    <p:spTree>
      <p:nvGrpSpPr>
        <p:cNvPr id="1" name=""/>
        <p:cNvGrpSpPr/>
        <p:nvPr/>
      </p:nvGrpSpPr>
      <p:grpSpPr>
        <a:xfrm>
          <a:off x="0" y="0"/>
          <a:ext cx="0" cy="0"/>
          <a:chOff x="0" y="0"/>
          <a:chExt cx="0" cy="0"/>
        </a:xfrm>
      </p:grpSpPr>
      <p:sp>
        <p:nvSpPr>
          <p:cNvPr id="2" name="Text 0"/>
          <p:cNvSpPr/>
          <p:nvPr/>
        </p:nvSpPr>
        <p:spPr>
          <a:xfrm>
            <a:off x="640080" y="310896"/>
            <a:ext cx="10881360" cy="256032"/>
          </a:xfrm>
          <a:prstGeom prst="rect">
            <a:avLst/>
          </a:prstGeom>
          <a:noFill/>
          <a:ln/>
        </p:spPr>
        <p:txBody>
          <a:bodyPr wrap="square" lIns="0" tIns="0" rIns="0" bIns="0" rtlCol="0" anchor="ctr"/>
          <a:lstStyle/>
          <a:p>
            <a:pPr marL="0" indent="0">
              <a:buNone/>
            </a:pPr>
            <a:r>
              <a:rPr lang="en-US" sz="1100" b="1" kern="0" spc="220" dirty="0">
                <a:solidFill>
                  <a:srgbClr val="F0A202"/>
                </a:solidFill>
                <a:latin typeface="Calibri" pitchFamily="34" charset="0"/>
                <a:ea typeface="Calibri" pitchFamily="34" charset="-122"/>
                <a:cs typeface="Calibri" pitchFamily="34" charset="-120"/>
              </a:rPr>
              <a:t>BASELINE</a:t>
            </a:r>
            <a:endParaRPr lang="en-US" sz="1100" dirty="0"/>
          </a:p>
        </p:txBody>
      </p:sp>
      <p:sp>
        <p:nvSpPr>
          <p:cNvPr id="3" name="Text 1"/>
          <p:cNvSpPr/>
          <p:nvPr/>
        </p:nvSpPr>
        <p:spPr>
          <a:xfrm>
            <a:off x="640080" y="576072"/>
            <a:ext cx="10881360" cy="658368"/>
          </a:xfrm>
          <a:prstGeom prst="rect">
            <a:avLst/>
          </a:prstGeom>
          <a:noFill/>
          <a:ln/>
        </p:spPr>
        <p:txBody>
          <a:bodyPr wrap="square" lIns="0" tIns="0" rIns="0" bIns="0" rtlCol="0" anchor="ctr"/>
          <a:lstStyle/>
          <a:p>
            <a:pPr marL="0" indent="0">
              <a:buNone/>
            </a:pPr>
            <a:r>
              <a:rPr lang="en-US" sz="3000" b="1" dirty="0">
                <a:solidFill>
                  <a:srgbClr val="E8EDF5"/>
                </a:solidFill>
                <a:latin typeface="Arial" pitchFamily="34" charset="0"/>
                <a:ea typeface="Arial" pitchFamily="34" charset="-122"/>
                <a:cs typeface="Arial" pitchFamily="34" charset="-120"/>
              </a:rPr>
              <a:t>What we mean by “just culture”</a:t>
            </a:r>
            <a:endParaRPr lang="en-US" sz="3000" dirty="0"/>
          </a:p>
        </p:txBody>
      </p:sp>
      <p:sp>
        <p:nvSpPr>
          <p:cNvPr id="4" name="Shape 2"/>
          <p:cNvSpPr/>
          <p:nvPr/>
        </p:nvSpPr>
        <p:spPr>
          <a:xfrm>
            <a:off x="640080" y="1463040"/>
            <a:ext cx="5532120" cy="2240280"/>
          </a:xfrm>
          <a:prstGeom prst="roundRect">
            <a:avLst>
              <a:gd name="adj" fmla="val 2449"/>
            </a:avLst>
          </a:prstGeom>
          <a:solidFill>
            <a:srgbClr val="1A2333"/>
          </a:solidFill>
          <a:ln w="12700">
            <a:solidFill>
              <a:srgbClr val="2E3B52"/>
            </a:solidFill>
            <a:prstDash val="solid"/>
          </a:ln>
        </p:spPr>
        <p:txBody>
          <a:bodyPr/>
          <a:lstStyle/>
          <a:p>
            <a:endParaRPr lang="en-US"/>
          </a:p>
        </p:txBody>
      </p:sp>
      <p:sp>
        <p:nvSpPr>
          <p:cNvPr id="5" name="Text 3"/>
          <p:cNvSpPr/>
          <p:nvPr/>
        </p:nvSpPr>
        <p:spPr>
          <a:xfrm>
            <a:off x="914400" y="1691640"/>
            <a:ext cx="4983480" cy="1463040"/>
          </a:xfrm>
          <a:prstGeom prst="rect">
            <a:avLst/>
          </a:prstGeom>
          <a:noFill/>
          <a:ln/>
        </p:spPr>
        <p:txBody>
          <a:bodyPr wrap="square" lIns="0" tIns="0" rIns="0" bIns="0" rtlCol="0" anchor="ctr"/>
          <a:lstStyle/>
          <a:p>
            <a:pPr marL="0" indent="0">
              <a:lnSpc>
                <a:spcPct val="122000"/>
              </a:lnSpc>
              <a:buNone/>
            </a:pPr>
            <a:r>
              <a:rPr lang="en-US" sz="1350" i="1" dirty="0">
                <a:solidFill>
                  <a:srgbClr val="E8EDF5"/>
                </a:solidFill>
                <a:latin typeface="Calibri" pitchFamily="34" charset="0"/>
                <a:ea typeface="Calibri" pitchFamily="34" charset="-122"/>
                <a:cs typeface="Calibri" pitchFamily="34" charset="-120"/>
              </a:rPr>
              <a:t>“A culture where staff are not punished for actions, omissions or decisions taken by them that are commensurate with their experience and training, but where gross negligence, wilful violations and destructive acts will not be tolerated.”</a:t>
            </a:r>
            <a:endParaRPr lang="en-US" sz="1350" dirty="0"/>
          </a:p>
        </p:txBody>
      </p:sp>
      <p:sp>
        <p:nvSpPr>
          <p:cNvPr id="6" name="Text 4"/>
          <p:cNvSpPr/>
          <p:nvPr/>
        </p:nvSpPr>
        <p:spPr>
          <a:xfrm>
            <a:off x="914400" y="3200400"/>
            <a:ext cx="4983480" cy="274320"/>
          </a:xfrm>
          <a:prstGeom prst="rect">
            <a:avLst/>
          </a:prstGeom>
          <a:noFill/>
          <a:ln/>
        </p:spPr>
        <p:txBody>
          <a:bodyPr wrap="square" lIns="0" tIns="0" rIns="0" bIns="0" rtlCol="0" anchor="ctr"/>
          <a:lstStyle/>
          <a:p>
            <a:pPr marL="0" indent="0">
              <a:buNone/>
            </a:pPr>
            <a:r>
              <a:rPr lang="en-US" sz="1050" b="1" dirty="0">
                <a:solidFill>
                  <a:srgbClr val="F0A202"/>
                </a:solidFill>
                <a:latin typeface="Calibri" pitchFamily="34" charset="0"/>
                <a:ea typeface="Calibri" pitchFamily="34" charset="-122"/>
                <a:cs typeface="Calibri" pitchFamily="34" charset="-120"/>
              </a:rPr>
              <a:t>Regulation (EU) No 376/2014</a:t>
            </a:r>
            <a:endParaRPr lang="en-US" sz="1050" dirty="0"/>
          </a:p>
        </p:txBody>
      </p:sp>
      <p:sp>
        <p:nvSpPr>
          <p:cNvPr id="7" name="Shape 5"/>
          <p:cNvSpPr/>
          <p:nvPr/>
        </p:nvSpPr>
        <p:spPr>
          <a:xfrm>
            <a:off x="6446520" y="1463040"/>
            <a:ext cx="5074920" cy="2240280"/>
          </a:xfrm>
          <a:prstGeom prst="roundRect">
            <a:avLst>
              <a:gd name="adj" fmla="val 2449"/>
            </a:avLst>
          </a:prstGeom>
          <a:solidFill>
            <a:srgbClr val="232E42"/>
          </a:solidFill>
          <a:ln w="12700">
            <a:solidFill>
              <a:srgbClr val="2E3B52"/>
            </a:solidFill>
            <a:prstDash val="solid"/>
          </a:ln>
        </p:spPr>
        <p:txBody>
          <a:bodyPr/>
          <a:lstStyle/>
          <a:p>
            <a:endParaRPr lang="en-US"/>
          </a:p>
        </p:txBody>
      </p:sp>
      <p:sp>
        <p:nvSpPr>
          <p:cNvPr id="8" name="Text 6"/>
          <p:cNvSpPr/>
          <p:nvPr/>
        </p:nvSpPr>
        <p:spPr>
          <a:xfrm>
            <a:off x="6720840" y="1691640"/>
            <a:ext cx="4526280" cy="292608"/>
          </a:xfrm>
          <a:prstGeom prst="rect">
            <a:avLst/>
          </a:prstGeom>
          <a:noFill/>
          <a:ln/>
        </p:spPr>
        <p:txBody>
          <a:bodyPr wrap="square" lIns="0" tIns="0" rIns="0" bIns="0" rtlCol="0" anchor="ctr"/>
          <a:lstStyle/>
          <a:p>
            <a:pPr marL="0" indent="0">
              <a:buNone/>
            </a:pPr>
            <a:r>
              <a:rPr lang="en-US" sz="1500" b="1" dirty="0">
                <a:solidFill>
                  <a:srgbClr val="2EC4B6"/>
                </a:solidFill>
                <a:latin typeface="Arial" pitchFamily="34" charset="0"/>
                <a:ea typeface="Arial" pitchFamily="34" charset="-122"/>
                <a:cs typeface="Arial" pitchFamily="34" charset="-120"/>
              </a:rPr>
              <a:t>The DevOps translation</a:t>
            </a:r>
            <a:endParaRPr lang="en-US" sz="1500" dirty="0"/>
          </a:p>
        </p:txBody>
      </p:sp>
      <p:sp>
        <p:nvSpPr>
          <p:cNvPr id="9" name="Text 7"/>
          <p:cNvSpPr/>
          <p:nvPr/>
        </p:nvSpPr>
        <p:spPr>
          <a:xfrm>
            <a:off x="6720840" y="2103120"/>
            <a:ext cx="4526280" cy="1417320"/>
          </a:xfrm>
          <a:prstGeom prst="rect">
            <a:avLst/>
          </a:prstGeom>
          <a:noFill/>
          <a:ln/>
        </p:spPr>
        <p:txBody>
          <a:bodyPr wrap="square" lIns="0" tIns="0" rIns="0" bIns="0" rtlCol="0" anchor="t"/>
          <a:lstStyle/>
          <a:p>
            <a:pPr marL="0" indent="0">
              <a:lnSpc>
                <a:spcPct val="122000"/>
              </a:lnSpc>
              <a:spcAft>
                <a:spcPts val="800"/>
              </a:spcAft>
              <a:buNone/>
            </a:pPr>
            <a:r>
              <a:rPr lang="en-US" sz="1300" dirty="0">
                <a:solidFill>
                  <a:srgbClr val="E8EDF5"/>
                </a:solidFill>
                <a:latin typeface="Calibri" pitchFamily="34" charset="0"/>
                <a:ea typeface="Calibri" pitchFamily="34" charset="-122"/>
                <a:cs typeface="Calibri" pitchFamily="34" charset="-120"/>
              </a:rPr>
              <a:t>Blameless postmortems, incident reviews that ask what made the action reasonable at the time, and on-call engineers who page for help without calculating career risk.</a:t>
            </a:r>
            <a:endParaRPr lang="en-US" sz="1300" dirty="0"/>
          </a:p>
          <a:p>
            <a:pPr marL="0" indent="0">
              <a:lnSpc>
                <a:spcPct val="122000"/>
              </a:lnSpc>
              <a:spcAft>
                <a:spcPts val="800"/>
              </a:spcAft>
              <a:buNone/>
            </a:pPr>
            <a:r>
              <a:rPr lang="en-US" sz="1300" dirty="0">
                <a:solidFill>
                  <a:srgbClr val="E8EDF5"/>
                </a:solidFill>
                <a:latin typeface="Calibri" pitchFamily="34" charset="0"/>
                <a:ea typeface="Calibri" pitchFamily="34" charset="-122"/>
                <a:cs typeface="Calibri" pitchFamily="34" charset="-120"/>
              </a:rPr>
              <a:t>DORA calls the target state a generative culture: messengers are trained, risks are shared, failure leads to inquiry.</a:t>
            </a:r>
            <a:endParaRPr lang="en-US" sz="1300" dirty="0"/>
          </a:p>
        </p:txBody>
      </p:sp>
      <p:sp>
        <p:nvSpPr>
          <p:cNvPr id="10" name="Shape 8"/>
          <p:cNvSpPr/>
          <p:nvPr/>
        </p:nvSpPr>
        <p:spPr>
          <a:xfrm>
            <a:off x="640080" y="4069080"/>
            <a:ext cx="3520440" cy="1371600"/>
          </a:xfrm>
          <a:prstGeom prst="roundRect">
            <a:avLst>
              <a:gd name="adj" fmla="val 4000"/>
            </a:avLst>
          </a:prstGeom>
          <a:solidFill>
            <a:srgbClr val="1A2333"/>
          </a:solidFill>
          <a:ln w="12700">
            <a:solidFill>
              <a:srgbClr val="2E3B52"/>
            </a:solidFill>
            <a:prstDash val="solid"/>
          </a:ln>
        </p:spPr>
        <p:txBody>
          <a:bodyPr/>
          <a:lstStyle/>
          <a:p>
            <a:endParaRPr lang="en-US"/>
          </a:p>
        </p:txBody>
      </p:sp>
      <p:sp>
        <p:nvSpPr>
          <p:cNvPr id="11" name="Shape 9"/>
          <p:cNvSpPr/>
          <p:nvPr/>
        </p:nvSpPr>
        <p:spPr>
          <a:xfrm>
            <a:off x="914400" y="4325112"/>
            <a:ext cx="146304" cy="146304"/>
          </a:xfrm>
          <a:prstGeom prst="ellipse">
            <a:avLst/>
          </a:prstGeom>
          <a:solidFill>
            <a:srgbClr val="F0A202"/>
          </a:solidFill>
          <a:ln/>
        </p:spPr>
        <p:txBody>
          <a:bodyPr/>
          <a:lstStyle/>
          <a:p>
            <a:endParaRPr lang="en-US"/>
          </a:p>
        </p:txBody>
      </p:sp>
      <p:sp>
        <p:nvSpPr>
          <p:cNvPr id="12" name="Text 10"/>
          <p:cNvSpPr/>
          <p:nvPr/>
        </p:nvSpPr>
        <p:spPr>
          <a:xfrm>
            <a:off x="1170432" y="4251960"/>
            <a:ext cx="2743200" cy="292608"/>
          </a:xfrm>
          <a:prstGeom prst="rect">
            <a:avLst/>
          </a:prstGeom>
          <a:noFill/>
          <a:ln/>
        </p:spPr>
        <p:txBody>
          <a:bodyPr wrap="square" lIns="0" tIns="0" rIns="0" bIns="0" rtlCol="0" anchor="ctr"/>
          <a:lstStyle/>
          <a:p>
            <a:pPr marL="0" indent="0">
              <a:buNone/>
            </a:pPr>
            <a:r>
              <a:rPr lang="en-US" sz="1350" b="1" dirty="0">
                <a:solidFill>
                  <a:srgbClr val="E8EDF5"/>
                </a:solidFill>
                <a:latin typeface="Arial" pitchFamily="34" charset="0"/>
                <a:ea typeface="Arial" pitchFamily="34" charset="-122"/>
                <a:cs typeface="Arial" pitchFamily="34" charset="-120"/>
              </a:rPr>
              <a:t>It is not a policy</a:t>
            </a:r>
            <a:endParaRPr lang="en-US" sz="1350" dirty="0"/>
          </a:p>
        </p:txBody>
      </p:sp>
      <p:sp>
        <p:nvSpPr>
          <p:cNvPr id="13" name="Text 11"/>
          <p:cNvSpPr/>
          <p:nvPr/>
        </p:nvSpPr>
        <p:spPr>
          <a:xfrm>
            <a:off x="914400" y="4663440"/>
            <a:ext cx="2971800" cy="731520"/>
          </a:xfrm>
          <a:prstGeom prst="rect">
            <a:avLst/>
          </a:prstGeom>
          <a:noFill/>
          <a:ln/>
        </p:spPr>
        <p:txBody>
          <a:bodyPr wrap="square" lIns="0" tIns="0" rIns="0" bIns="0" rtlCol="0" anchor="t"/>
          <a:lstStyle/>
          <a:p>
            <a:pPr marL="0" indent="0">
              <a:lnSpc>
                <a:spcPct val="120000"/>
              </a:lnSpc>
              <a:buNone/>
            </a:pPr>
            <a:r>
              <a:rPr lang="en-US" sz="1200" dirty="0">
                <a:solidFill>
                  <a:srgbClr val="8A97AC"/>
                </a:solidFill>
                <a:latin typeface="Calibri" pitchFamily="34" charset="0"/>
                <a:ea typeface="Calibri" pitchFamily="34" charset="-122"/>
                <a:cs typeface="Calibri" pitchFamily="34" charset="-120"/>
              </a:rPr>
              <a:t>You can publish a just culture policy on Monday and still have a blame culture on Tuesday.</a:t>
            </a:r>
            <a:endParaRPr lang="en-US" sz="1200" dirty="0"/>
          </a:p>
        </p:txBody>
      </p:sp>
      <p:sp>
        <p:nvSpPr>
          <p:cNvPr id="14" name="Shape 12"/>
          <p:cNvSpPr/>
          <p:nvPr/>
        </p:nvSpPr>
        <p:spPr>
          <a:xfrm>
            <a:off x="4343400" y="4069080"/>
            <a:ext cx="3520440" cy="1371600"/>
          </a:xfrm>
          <a:prstGeom prst="roundRect">
            <a:avLst>
              <a:gd name="adj" fmla="val 4000"/>
            </a:avLst>
          </a:prstGeom>
          <a:solidFill>
            <a:srgbClr val="1A2333"/>
          </a:solidFill>
          <a:ln w="12700">
            <a:solidFill>
              <a:srgbClr val="2E3B52"/>
            </a:solidFill>
            <a:prstDash val="solid"/>
          </a:ln>
        </p:spPr>
        <p:txBody>
          <a:bodyPr/>
          <a:lstStyle/>
          <a:p>
            <a:endParaRPr lang="en-US"/>
          </a:p>
        </p:txBody>
      </p:sp>
      <p:sp>
        <p:nvSpPr>
          <p:cNvPr id="15" name="Shape 13"/>
          <p:cNvSpPr/>
          <p:nvPr/>
        </p:nvSpPr>
        <p:spPr>
          <a:xfrm>
            <a:off x="4617720" y="4325112"/>
            <a:ext cx="146304" cy="146304"/>
          </a:xfrm>
          <a:prstGeom prst="ellipse">
            <a:avLst/>
          </a:prstGeom>
          <a:solidFill>
            <a:srgbClr val="F0A202"/>
          </a:solidFill>
          <a:ln/>
        </p:spPr>
        <p:txBody>
          <a:bodyPr/>
          <a:lstStyle/>
          <a:p>
            <a:endParaRPr lang="en-US"/>
          </a:p>
        </p:txBody>
      </p:sp>
      <p:sp>
        <p:nvSpPr>
          <p:cNvPr id="16" name="Text 14"/>
          <p:cNvSpPr/>
          <p:nvPr/>
        </p:nvSpPr>
        <p:spPr>
          <a:xfrm>
            <a:off x="4873752" y="4251960"/>
            <a:ext cx="2743200" cy="292608"/>
          </a:xfrm>
          <a:prstGeom prst="rect">
            <a:avLst/>
          </a:prstGeom>
          <a:noFill/>
          <a:ln/>
        </p:spPr>
        <p:txBody>
          <a:bodyPr wrap="square" lIns="0" tIns="0" rIns="0" bIns="0" rtlCol="0" anchor="ctr"/>
          <a:lstStyle/>
          <a:p>
            <a:pPr marL="0" indent="0">
              <a:buNone/>
            </a:pPr>
            <a:r>
              <a:rPr lang="en-US" sz="1350" b="1" dirty="0">
                <a:solidFill>
                  <a:srgbClr val="E8EDF5"/>
                </a:solidFill>
                <a:latin typeface="Arial" pitchFamily="34" charset="0"/>
                <a:ea typeface="Arial" pitchFamily="34" charset="-122"/>
                <a:cs typeface="Arial" pitchFamily="34" charset="-120"/>
              </a:rPr>
              <a:t>It is not “no blame”</a:t>
            </a:r>
            <a:endParaRPr lang="en-US" sz="1350" dirty="0"/>
          </a:p>
        </p:txBody>
      </p:sp>
      <p:sp>
        <p:nvSpPr>
          <p:cNvPr id="17" name="Text 15"/>
          <p:cNvSpPr/>
          <p:nvPr/>
        </p:nvSpPr>
        <p:spPr>
          <a:xfrm>
            <a:off x="4617720" y="4663440"/>
            <a:ext cx="2971800" cy="731520"/>
          </a:xfrm>
          <a:prstGeom prst="rect">
            <a:avLst/>
          </a:prstGeom>
          <a:noFill/>
          <a:ln/>
        </p:spPr>
        <p:txBody>
          <a:bodyPr wrap="square" lIns="0" tIns="0" rIns="0" bIns="0" rtlCol="0" anchor="t"/>
          <a:lstStyle/>
          <a:p>
            <a:pPr marL="0" indent="0">
              <a:lnSpc>
                <a:spcPct val="120000"/>
              </a:lnSpc>
              <a:buNone/>
            </a:pPr>
            <a:r>
              <a:rPr lang="en-US" sz="1200" dirty="0">
                <a:solidFill>
                  <a:srgbClr val="8A97AC"/>
                </a:solidFill>
                <a:latin typeface="Calibri" pitchFamily="34" charset="0"/>
                <a:ea typeface="Calibri" pitchFamily="34" charset="-122"/>
                <a:cs typeface="Calibri" pitchFamily="34" charset="-120"/>
              </a:rPr>
              <a:t>Removing accountability entirely is its own failure mode, and a common objection.</a:t>
            </a:r>
            <a:endParaRPr lang="en-US" sz="1200" dirty="0"/>
          </a:p>
        </p:txBody>
      </p:sp>
      <p:sp>
        <p:nvSpPr>
          <p:cNvPr id="18" name="Shape 16"/>
          <p:cNvSpPr/>
          <p:nvPr/>
        </p:nvSpPr>
        <p:spPr>
          <a:xfrm>
            <a:off x="8046720" y="4069080"/>
            <a:ext cx="3520440" cy="1371600"/>
          </a:xfrm>
          <a:prstGeom prst="roundRect">
            <a:avLst>
              <a:gd name="adj" fmla="val 4000"/>
            </a:avLst>
          </a:prstGeom>
          <a:solidFill>
            <a:srgbClr val="1A2333"/>
          </a:solidFill>
          <a:ln w="12700">
            <a:solidFill>
              <a:srgbClr val="2E3B52"/>
            </a:solidFill>
            <a:prstDash val="solid"/>
          </a:ln>
        </p:spPr>
        <p:txBody>
          <a:bodyPr/>
          <a:lstStyle/>
          <a:p>
            <a:endParaRPr lang="en-US"/>
          </a:p>
        </p:txBody>
      </p:sp>
      <p:sp>
        <p:nvSpPr>
          <p:cNvPr id="19" name="Shape 17"/>
          <p:cNvSpPr/>
          <p:nvPr/>
        </p:nvSpPr>
        <p:spPr>
          <a:xfrm>
            <a:off x="8321040" y="4325112"/>
            <a:ext cx="146304" cy="146304"/>
          </a:xfrm>
          <a:prstGeom prst="ellipse">
            <a:avLst/>
          </a:prstGeom>
          <a:solidFill>
            <a:srgbClr val="F0A202"/>
          </a:solidFill>
          <a:ln/>
        </p:spPr>
        <p:txBody>
          <a:bodyPr/>
          <a:lstStyle/>
          <a:p>
            <a:endParaRPr lang="en-US"/>
          </a:p>
        </p:txBody>
      </p:sp>
      <p:sp>
        <p:nvSpPr>
          <p:cNvPr id="20" name="Text 18"/>
          <p:cNvSpPr/>
          <p:nvPr/>
        </p:nvSpPr>
        <p:spPr>
          <a:xfrm>
            <a:off x="8577072" y="4251960"/>
            <a:ext cx="2743200" cy="292608"/>
          </a:xfrm>
          <a:prstGeom prst="rect">
            <a:avLst/>
          </a:prstGeom>
          <a:noFill/>
          <a:ln/>
        </p:spPr>
        <p:txBody>
          <a:bodyPr wrap="square" lIns="0" tIns="0" rIns="0" bIns="0" rtlCol="0" anchor="ctr"/>
          <a:lstStyle/>
          <a:p>
            <a:pPr marL="0" indent="0">
              <a:buNone/>
            </a:pPr>
            <a:r>
              <a:rPr lang="en-US" sz="1350" b="1" dirty="0">
                <a:solidFill>
                  <a:srgbClr val="E8EDF5"/>
                </a:solidFill>
                <a:latin typeface="Arial" pitchFamily="34" charset="0"/>
                <a:ea typeface="Arial" pitchFamily="34" charset="-122"/>
                <a:cs typeface="Arial" pitchFamily="34" charset="-120"/>
              </a:rPr>
              <a:t>It is an agreement</a:t>
            </a:r>
            <a:endParaRPr lang="en-US" sz="1350" dirty="0"/>
          </a:p>
        </p:txBody>
      </p:sp>
      <p:sp>
        <p:nvSpPr>
          <p:cNvPr id="21" name="Text 19"/>
          <p:cNvSpPr/>
          <p:nvPr/>
        </p:nvSpPr>
        <p:spPr>
          <a:xfrm>
            <a:off x="8321040" y="4663440"/>
            <a:ext cx="2971800" cy="731520"/>
          </a:xfrm>
          <a:prstGeom prst="rect">
            <a:avLst/>
          </a:prstGeom>
          <a:noFill/>
          <a:ln/>
        </p:spPr>
        <p:txBody>
          <a:bodyPr wrap="square" lIns="0" tIns="0" rIns="0" bIns="0" rtlCol="0" anchor="t"/>
          <a:lstStyle/>
          <a:p>
            <a:pPr marL="0" indent="0">
              <a:lnSpc>
                <a:spcPct val="120000"/>
              </a:lnSpc>
              <a:buNone/>
            </a:pPr>
            <a:r>
              <a:rPr lang="en-US" sz="1200" dirty="0">
                <a:solidFill>
                  <a:srgbClr val="8A97AC"/>
                </a:solidFill>
                <a:latin typeface="Calibri" pitchFamily="34" charset="0"/>
                <a:ea typeface="Calibri" pitchFamily="34" charset="-122"/>
                <a:cs typeface="Calibri" pitchFamily="34" charset="-120"/>
              </a:rPr>
              <a:t>It survives only as long as people believe it will hold the next time it is tested.</a:t>
            </a:r>
            <a:endParaRPr lang="en-US" sz="1200" dirty="0"/>
          </a:p>
        </p:txBody>
      </p:sp>
      <p:sp>
        <p:nvSpPr>
          <p:cNvPr id="22" name="Text 20"/>
          <p:cNvSpPr/>
          <p:nvPr/>
        </p:nvSpPr>
        <p:spPr>
          <a:xfrm>
            <a:off x="640080" y="6245352"/>
            <a:ext cx="10881360" cy="329184"/>
          </a:xfrm>
          <a:prstGeom prst="rect">
            <a:avLst/>
          </a:prstGeom>
          <a:noFill/>
          <a:ln/>
        </p:spPr>
        <p:txBody>
          <a:bodyPr wrap="square" lIns="0" tIns="0" rIns="0" bIns="0" rtlCol="0" anchor="t"/>
          <a:lstStyle/>
          <a:p>
            <a:pPr marL="0" indent="0">
              <a:buNone/>
            </a:pPr>
            <a:r>
              <a:rPr lang="en-US" sz="950" i="1" dirty="0">
                <a:solidFill>
                  <a:srgbClr val="8A97AC"/>
                </a:solidFill>
                <a:latin typeface="Calibri" pitchFamily="34" charset="0"/>
                <a:ea typeface="Calibri" pitchFamily="34" charset="-122"/>
                <a:cs typeface="Calibri" pitchFamily="34" charset="-120"/>
              </a:rPr>
              <a:t>Sources: Regulation (EU) No 376/2014; Dekker, Just Culture: Balancing Safety and Accountability (2016); DORA, “Generative organizational culture.”</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420"/>
        </a:solidFill>
        <a:effectLst/>
      </p:bgPr>
    </p:bg>
    <p:spTree>
      <p:nvGrpSpPr>
        <p:cNvPr id="1" name=""/>
        <p:cNvGrpSpPr/>
        <p:nvPr/>
      </p:nvGrpSpPr>
      <p:grpSpPr>
        <a:xfrm>
          <a:off x="0" y="0"/>
          <a:ext cx="0" cy="0"/>
          <a:chOff x="0" y="0"/>
          <a:chExt cx="0" cy="0"/>
        </a:xfrm>
      </p:grpSpPr>
      <p:sp>
        <p:nvSpPr>
          <p:cNvPr id="2" name="Text 0"/>
          <p:cNvSpPr/>
          <p:nvPr/>
        </p:nvSpPr>
        <p:spPr>
          <a:xfrm>
            <a:off x="640080" y="310896"/>
            <a:ext cx="10881360" cy="256032"/>
          </a:xfrm>
          <a:prstGeom prst="rect">
            <a:avLst/>
          </a:prstGeom>
          <a:noFill/>
          <a:ln/>
        </p:spPr>
        <p:txBody>
          <a:bodyPr wrap="square" lIns="0" tIns="0" rIns="0" bIns="0" rtlCol="0" anchor="ctr"/>
          <a:lstStyle/>
          <a:p>
            <a:pPr marL="0" indent="0">
              <a:buNone/>
            </a:pPr>
            <a:r>
              <a:rPr lang="en-US" sz="1100" b="1" kern="0" spc="220" dirty="0">
                <a:solidFill>
                  <a:srgbClr val="F0A202"/>
                </a:solidFill>
                <a:latin typeface="Calibri" pitchFamily="34" charset="0"/>
                <a:ea typeface="Calibri" pitchFamily="34" charset="-122"/>
                <a:cs typeface="Calibri" pitchFamily="34" charset="-120"/>
              </a:rPr>
              <a:t>GRAPHIC · THE GRADIENT WE ARE CLIMBING</a:t>
            </a:r>
            <a:endParaRPr lang="en-US" sz="1100" dirty="0"/>
          </a:p>
        </p:txBody>
      </p:sp>
      <p:sp>
        <p:nvSpPr>
          <p:cNvPr id="3" name="Text 1"/>
          <p:cNvSpPr/>
          <p:nvPr/>
        </p:nvSpPr>
        <p:spPr>
          <a:xfrm>
            <a:off x="640080" y="576072"/>
            <a:ext cx="10881360" cy="658368"/>
          </a:xfrm>
          <a:prstGeom prst="rect">
            <a:avLst/>
          </a:prstGeom>
          <a:noFill/>
          <a:ln/>
        </p:spPr>
        <p:txBody>
          <a:bodyPr wrap="square" lIns="0" tIns="0" rIns="0" bIns="0" rtlCol="0" anchor="ctr"/>
          <a:lstStyle/>
          <a:p>
            <a:pPr marL="0" indent="0">
              <a:buNone/>
            </a:pPr>
            <a:r>
              <a:rPr lang="en-US" sz="3000" b="1" dirty="0">
                <a:solidFill>
                  <a:srgbClr val="E8EDF5"/>
                </a:solidFill>
                <a:latin typeface="Arial" pitchFamily="34" charset="0"/>
                <a:ea typeface="Arial" pitchFamily="34" charset="-122"/>
                <a:cs typeface="Arial" pitchFamily="34" charset="-120"/>
              </a:rPr>
              <a:t>Most orgs bureaucratic and not pathological.</a:t>
            </a:r>
            <a:endParaRPr lang="en-US" sz="3000" dirty="0"/>
          </a:p>
        </p:txBody>
      </p:sp>
      <p:sp>
        <p:nvSpPr>
          <p:cNvPr id="4" name="Shape 2"/>
          <p:cNvSpPr/>
          <p:nvPr/>
        </p:nvSpPr>
        <p:spPr>
          <a:xfrm>
            <a:off x="640080" y="1481328"/>
            <a:ext cx="3520440" cy="3200400"/>
          </a:xfrm>
          <a:prstGeom prst="roundRect">
            <a:avLst>
              <a:gd name="adj" fmla="val 1714"/>
            </a:avLst>
          </a:prstGeom>
          <a:solidFill>
            <a:srgbClr val="1A2333"/>
          </a:solidFill>
          <a:ln w="12700">
            <a:solidFill>
              <a:srgbClr val="2E3B52"/>
            </a:solidFill>
            <a:prstDash val="solid"/>
          </a:ln>
        </p:spPr>
        <p:txBody>
          <a:bodyPr/>
          <a:lstStyle/>
          <a:p>
            <a:endParaRPr lang="en-US"/>
          </a:p>
        </p:txBody>
      </p:sp>
      <p:sp>
        <p:nvSpPr>
          <p:cNvPr id="5" name="Shape 3"/>
          <p:cNvSpPr/>
          <p:nvPr/>
        </p:nvSpPr>
        <p:spPr>
          <a:xfrm>
            <a:off x="932688" y="1737360"/>
            <a:ext cx="164592" cy="164592"/>
          </a:xfrm>
          <a:prstGeom prst="ellipse">
            <a:avLst/>
          </a:prstGeom>
          <a:solidFill>
            <a:srgbClr val="E4572E"/>
          </a:solidFill>
          <a:ln/>
        </p:spPr>
        <p:txBody>
          <a:bodyPr/>
          <a:lstStyle/>
          <a:p>
            <a:endParaRPr lang="en-US"/>
          </a:p>
        </p:txBody>
      </p:sp>
      <p:sp>
        <p:nvSpPr>
          <p:cNvPr id="6" name="Text 4"/>
          <p:cNvSpPr/>
          <p:nvPr/>
        </p:nvSpPr>
        <p:spPr>
          <a:xfrm>
            <a:off x="1207008" y="1664208"/>
            <a:ext cx="2743200" cy="292608"/>
          </a:xfrm>
          <a:prstGeom prst="rect">
            <a:avLst/>
          </a:prstGeom>
          <a:noFill/>
          <a:ln/>
        </p:spPr>
        <p:txBody>
          <a:bodyPr wrap="square" lIns="0" tIns="0" rIns="0" bIns="0" rtlCol="0" anchor="ctr"/>
          <a:lstStyle/>
          <a:p>
            <a:pPr marL="0" indent="0">
              <a:buNone/>
            </a:pPr>
            <a:r>
              <a:rPr lang="en-US" sz="1450" b="1" kern="0" spc="100" dirty="0">
                <a:solidFill>
                  <a:srgbClr val="E4572E"/>
                </a:solidFill>
                <a:latin typeface="Arial" pitchFamily="34" charset="0"/>
                <a:ea typeface="Arial" pitchFamily="34" charset="-122"/>
                <a:cs typeface="Arial" pitchFamily="34" charset="-120"/>
              </a:rPr>
              <a:t>PATHOLOGICAL</a:t>
            </a:r>
            <a:endParaRPr lang="en-US" sz="1450" dirty="0"/>
          </a:p>
        </p:txBody>
      </p:sp>
      <p:sp>
        <p:nvSpPr>
          <p:cNvPr id="7" name="Text 5"/>
          <p:cNvSpPr/>
          <p:nvPr/>
        </p:nvSpPr>
        <p:spPr>
          <a:xfrm>
            <a:off x="932688" y="2011680"/>
            <a:ext cx="2926080" cy="256032"/>
          </a:xfrm>
          <a:prstGeom prst="rect">
            <a:avLst/>
          </a:prstGeom>
          <a:noFill/>
          <a:ln/>
        </p:spPr>
        <p:txBody>
          <a:bodyPr wrap="square" lIns="0" tIns="0" rIns="0" bIns="0" rtlCol="0" anchor="ctr"/>
          <a:lstStyle/>
          <a:p>
            <a:pPr marL="0" indent="0">
              <a:buNone/>
            </a:pPr>
            <a:r>
              <a:rPr lang="en-US" sz="1150" i="1" dirty="0">
                <a:solidFill>
                  <a:srgbClr val="8A97AC"/>
                </a:solidFill>
                <a:latin typeface="Calibri" pitchFamily="34" charset="0"/>
                <a:ea typeface="Calibri" pitchFamily="34" charset="-122"/>
                <a:cs typeface="Calibri" pitchFamily="34" charset="-120"/>
              </a:rPr>
              <a:t>Power oriented</a:t>
            </a:r>
            <a:endParaRPr lang="en-US" sz="1150" dirty="0"/>
          </a:p>
        </p:txBody>
      </p:sp>
      <p:sp>
        <p:nvSpPr>
          <p:cNvPr id="8" name="Shape 6"/>
          <p:cNvSpPr/>
          <p:nvPr/>
        </p:nvSpPr>
        <p:spPr>
          <a:xfrm>
            <a:off x="932688" y="2359152"/>
            <a:ext cx="2926080" cy="16459"/>
          </a:xfrm>
          <a:prstGeom prst="rect">
            <a:avLst/>
          </a:prstGeom>
          <a:solidFill>
            <a:srgbClr val="2E3B52"/>
          </a:solidFill>
          <a:ln/>
        </p:spPr>
        <p:txBody>
          <a:bodyPr/>
          <a:lstStyle/>
          <a:p>
            <a:endParaRPr lang="en-US"/>
          </a:p>
        </p:txBody>
      </p:sp>
      <p:sp>
        <p:nvSpPr>
          <p:cNvPr id="9" name="Text 7"/>
          <p:cNvSpPr/>
          <p:nvPr/>
        </p:nvSpPr>
        <p:spPr>
          <a:xfrm>
            <a:off x="932688" y="2514600"/>
            <a:ext cx="2971800" cy="2468880"/>
          </a:xfrm>
          <a:prstGeom prst="rect">
            <a:avLst/>
          </a:prstGeom>
          <a:noFill/>
          <a:ln/>
        </p:spPr>
        <p:txBody>
          <a:bodyPr wrap="square" lIns="0" tIns="0" rIns="0" bIns="0" rtlCol="0" anchor="t"/>
          <a:lstStyle/>
          <a:p>
            <a:pPr marL="0" indent="0">
              <a:lnSpc>
                <a:spcPct val="110000"/>
              </a:lnSpc>
              <a:spcAft>
                <a:spcPts val="700"/>
              </a:spcAft>
              <a:buNone/>
            </a:pPr>
            <a:r>
              <a:rPr lang="en-US" sz="1250" dirty="0">
                <a:solidFill>
                  <a:srgbClr val="8A97AC"/>
                </a:solidFill>
                <a:latin typeface="Calibri" pitchFamily="34" charset="0"/>
                <a:ea typeface="Calibri" pitchFamily="34" charset="-122"/>
                <a:cs typeface="Calibri" pitchFamily="34" charset="-120"/>
              </a:rPr>
              <a:t>Low cooperation</a:t>
            </a:r>
            <a:endParaRPr lang="en-US" sz="1250" dirty="0"/>
          </a:p>
          <a:p>
            <a:pPr marL="0" indent="0">
              <a:lnSpc>
                <a:spcPct val="110000"/>
              </a:lnSpc>
              <a:spcAft>
                <a:spcPts val="700"/>
              </a:spcAft>
              <a:buNone/>
            </a:pPr>
            <a:r>
              <a:rPr lang="en-US" sz="1250" dirty="0">
                <a:solidFill>
                  <a:srgbClr val="8A97AC"/>
                </a:solidFill>
                <a:latin typeface="Calibri" pitchFamily="34" charset="0"/>
                <a:ea typeface="Calibri" pitchFamily="34" charset="-122"/>
                <a:cs typeface="Calibri" pitchFamily="34" charset="-120"/>
              </a:rPr>
              <a:t>Messengers punished</a:t>
            </a:r>
            <a:endParaRPr lang="en-US" sz="1250" dirty="0"/>
          </a:p>
          <a:p>
            <a:pPr marL="0" indent="0">
              <a:lnSpc>
                <a:spcPct val="110000"/>
              </a:lnSpc>
              <a:spcAft>
                <a:spcPts val="700"/>
              </a:spcAft>
              <a:buNone/>
            </a:pPr>
            <a:r>
              <a:rPr lang="en-US" sz="1250" dirty="0">
                <a:solidFill>
                  <a:srgbClr val="8A97AC"/>
                </a:solidFill>
                <a:latin typeface="Calibri" pitchFamily="34" charset="0"/>
                <a:ea typeface="Calibri" pitchFamily="34" charset="-122"/>
                <a:cs typeface="Calibri" pitchFamily="34" charset="-120"/>
              </a:rPr>
              <a:t>Responsibilities shirked</a:t>
            </a:r>
            <a:endParaRPr lang="en-US" sz="1250" dirty="0"/>
          </a:p>
          <a:p>
            <a:pPr marL="0" indent="0">
              <a:lnSpc>
                <a:spcPct val="110000"/>
              </a:lnSpc>
              <a:spcAft>
                <a:spcPts val="700"/>
              </a:spcAft>
              <a:buNone/>
            </a:pPr>
            <a:r>
              <a:rPr lang="en-US" sz="1250" dirty="0">
                <a:solidFill>
                  <a:srgbClr val="8A97AC"/>
                </a:solidFill>
                <a:latin typeface="Calibri" pitchFamily="34" charset="0"/>
                <a:ea typeface="Calibri" pitchFamily="34" charset="-122"/>
                <a:cs typeface="Calibri" pitchFamily="34" charset="-120"/>
              </a:rPr>
              <a:t>Bridging discouraged</a:t>
            </a:r>
            <a:endParaRPr lang="en-US" sz="1250" dirty="0"/>
          </a:p>
          <a:p>
            <a:pPr marL="0" indent="0">
              <a:lnSpc>
                <a:spcPct val="110000"/>
              </a:lnSpc>
              <a:spcAft>
                <a:spcPts val="700"/>
              </a:spcAft>
              <a:buNone/>
            </a:pPr>
            <a:r>
              <a:rPr lang="en-US" sz="1250" dirty="0">
                <a:solidFill>
                  <a:srgbClr val="8A97AC"/>
                </a:solidFill>
                <a:latin typeface="Calibri" pitchFamily="34" charset="0"/>
                <a:ea typeface="Calibri" pitchFamily="34" charset="-122"/>
                <a:cs typeface="Calibri" pitchFamily="34" charset="-120"/>
              </a:rPr>
              <a:t>Failure → scapegoating</a:t>
            </a:r>
            <a:endParaRPr lang="en-US" sz="1250" dirty="0"/>
          </a:p>
          <a:p>
            <a:pPr marL="0" indent="0">
              <a:lnSpc>
                <a:spcPct val="110000"/>
              </a:lnSpc>
              <a:spcAft>
                <a:spcPts val="700"/>
              </a:spcAft>
              <a:buNone/>
            </a:pPr>
            <a:r>
              <a:rPr lang="en-US" sz="1250" dirty="0">
                <a:solidFill>
                  <a:srgbClr val="8A97AC"/>
                </a:solidFill>
                <a:latin typeface="Calibri" pitchFamily="34" charset="0"/>
                <a:ea typeface="Calibri" pitchFamily="34" charset="-122"/>
                <a:cs typeface="Calibri" pitchFamily="34" charset="-120"/>
              </a:rPr>
              <a:t>Novelty crushed</a:t>
            </a:r>
            <a:endParaRPr lang="en-US" sz="1250" dirty="0"/>
          </a:p>
        </p:txBody>
      </p:sp>
      <p:sp>
        <p:nvSpPr>
          <p:cNvPr id="10" name="Shape 8"/>
          <p:cNvSpPr/>
          <p:nvPr/>
        </p:nvSpPr>
        <p:spPr>
          <a:xfrm>
            <a:off x="4343400" y="1481328"/>
            <a:ext cx="3520440" cy="3200400"/>
          </a:xfrm>
          <a:prstGeom prst="roundRect">
            <a:avLst>
              <a:gd name="adj" fmla="val 1714"/>
            </a:avLst>
          </a:prstGeom>
          <a:solidFill>
            <a:srgbClr val="1A2333"/>
          </a:solidFill>
          <a:ln w="12700">
            <a:solidFill>
              <a:srgbClr val="2E3B52"/>
            </a:solidFill>
            <a:prstDash val="solid"/>
          </a:ln>
        </p:spPr>
        <p:txBody>
          <a:bodyPr/>
          <a:lstStyle/>
          <a:p>
            <a:endParaRPr lang="en-US"/>
          </a:p>
        </p:txBody>
      </p:sp>
      <p:sp>
        <p:nvSpPr>
          <p:cNvPr id="11" name="Shape 9"/>
          <p:cNvSpPr/>
          <p:nvPr/>
        </p:nvSpPr>
        <p:spPr>
          <a:xfrm>
            <a:off x="4636008" y="1737360"/>
            <a:ext cx="164592" cy="164592"/>
          </a:xfrm>
          <a:prstGeom prst="ellipse">
            <a:avLst/>
          </a:prstGeom>
          <a:solidFill>
            <a:srgbClr val="F0A202"/>
          </a:solidFill>
          <a:ln/>
        </p:spPr>
        <p:txBody>
          <a:bodyPr/>
          <a:lstStyle/>
          <a:p>
            <a:endParaRPr lang="en-US"/>
          </a:p>
        </p:txBody>
      </p:sp>
      <p:sp>
        <p:nvSpPr>
          <p:cNvPr id="12" name="Text 10"/>
          <p:cNvSpPr/>
          <p:nvPr/>
        </p:nvSpPr>
        <p:spPr>
          <a:xfrm>
            <a:off x="4910328" y="1664208"/>
            <a:ext cx="2743200" cy="292608"/>
          </a:xfrm>
          <a:prstGeom prst="rect">
            <a:avLst/>
          </a:prstGeom>
          <a:noFill/>
          <a:ln/>
        </p:spPr>
        <p:txBody>
          <a:bodyPr wrap="square" lIns="0" tIns="0" rIns="0" bIns="0" rtlCol="0" anchor="ctr"/>
          <a:lstStyle/>
          <a:p>
            <a:pPr marL="0" indent="0">
              <a:buNone/>
            </a:pPr>
            <a:r>
              <a:rPr lang="en-US" sz="1450" b="1" kern="0" spc="100" dirty="0">
                <a:solidFill>
                  <a:srgbClr val="F0A202"/>
                </a:solidFill>
                <a:latin typeface="Arial" pitchFamily="34" charset="0"/>
                <a:ea typeface="Arial" pitchFamily="34" charset="-122"/>
                <a:cs typeface="Arial" pitchFamily="34" charset="-120"/>
              </a:rPr>
              <a:t>BUREAUCRATIC</a:t>
            </a:r>
            <a:endParaRPr lang="en-US" sz="1450" dirty="0"/>
          </a:p>
        </p:txBody>
      </p:sp>
      <p:sp>
        <p:nvSpPr>
          <p:cNvPr id="13" name="Text 11"/>
          <p:cNvSpPr/>
          <p:nvPr/>
        </p:nvSpPr>
        <p:spPr>
          <a:xfrm>
            <a:off x="4636008" y="2011680"/>
            <a:ext cx="2926080" cy="256032"/>
          </a:xfrm>
          <a:prstGeom prst="rect">
            <a:avLst/>
          </a:prstGeom>
          <a:noFill/>
          <a:ln/>
        </p:spPr>
        <p:txBody>
          <a:bodyPr wrap="square" lIns="0" tIns="0" rIns="0" bIns="0" rtlCol="0" anchor="ctr"/>
          <a:lstStyle/>
          <a:p>
            <a:pPr marL="0" indent="0">
              <a:buNone/>
            </a:pPr>
            <a:r>
              <a:rPr lang="en-US" sz="1150" i="1" dirty="0">
                <a:solidFill>
                  <a:srgbClr val="8A97AC"/>
                </a:solidFill>
                <a:latin typeface="Calibri" pitchFamily="34" charset="0"/>
                <a:ea typeface="Calibri" pitchFamily="34" charset="-122"/>
                <a:cs typeface="Calibri" pitchFamily="34" charset="-120"/>
              </a:rPr>
              <a:t>Rule oriented</a:t>
            </a:r>
            <a:endParaRPr lang="en-US" sz="1150" dirty="0"/>
          </a:p>
        </p:txBody>
      </p:sp>
      <p:sp>
        <p:nvSpPr>
          <p:cNvPr id="14" name="Shape 12"/>
          <p:cNvSpPr/>
          <p:nvPr/>
        </p:nvSpPr>
        <p:spPr>
          <a:xfrm>
            <a:off x="4636008" y="2359152"/>
            <a:ext cx="2926080" cy="16459"/>
          </a:xfrm>
          <a:prstGeom prst="rect">
            <a:avLst/>
          </a:prstGeom>
          <a:solidFill>
            <a:srgbClr val="2E3B52"/>
          </a:solidFill>
          <a:ln/>
        </p:spPr>
        <p:txBody>
          <a:bodyPr/>
          <a:lstStyle/>
          <a:p>
            <a:endParaRPr lang="en-US"/>
          </a:p>
        </p:txBody>
      </p:sp>
      <p:sp>
        <p:nvSpPr>
          <p:cNvPr id="15" name="Text 13"/>
          <p:cNvSpPr/>
          <p:nvPr/>
        </p:nvSpPr>
        <p:spPr>
          <a:xfrm>
            <a:off x="4636008" y="2514600"/>
            <a:ext cx="2971800" cy="2468880"/>
          </a:xfrm>
          <a:prstGeom prst="rect">
            <a:avLst/>
          </a:prstGeom>
          <a:noFill/>
          <a:ln/>
        </p:spPr>
        <p:txBody>
          <a:bodyPr wrap="square" lIns="0" tIns="0" rIns="0" bIns="0" rtlCol="0" anchor="t"/>
          <a:lstStyle/>
          <a:p>
            <a:pPr marL="0" indent="0">
              <a:lnSpc>
                <a:spcPct val="110000"/>
              </a:lnSpc>
              <a:spcAft>
                <a:spcPts val="700"/>
              </a:spcAft>
              <a:buNone/>
            </a:pPr>
            <a:r>
              <a:rPr lang="en-US" sz="1250" dirty="0">
                <a:solidFill>
                  <a:srgbClr val="8A97AC"/>
                </a:solidFill>
                <a:latin typeface="Calibri" pitchFamily="34" charset="0"/>
                <a:ea typeface="Calibri" pitchFamily="34" charset="-122"/>
                <a:cs typeface="Calibri" pitchFamily="34" charset="-120"/>
              </a:rPr>
              <a:t>Modest cooperation</a:t>
            </a:r>
            <a:endParaRPr lang="en-US" sz="1250" dirty="0"/>
          </a:p>
          <a:p>
            <a:pPr marL="0" indent="0">
              <a:lnSpc>
                <a:spcPct val="110000"/>
              </a:lnSpc>
              <a:spcAft>
                <a:spcPts val="700"/>
              </a:spcAft>
              <a:buNone/>
            </a:pPr>
            <a:r>
              <a:rPr lang="en-US" sz="1250" dirty="0">
                <a:solidFill>
                  <a:srgbClr val="8A97AC"/>
                </a:solidFill>
                <a:latin typeface="Calibri" pitchFamily="34" charset="0"/>
                <a:ea typeface="Calibri" pitchFamily="34" charset="-122"/>
                <a:cs typeface="Calibri" pitchFamily="34" charset="-120"/>
              </a:rPr>
              <a:t>Messengers neglected</a:t>
            </a:r>
            <a:endParaRPr lang="en-US" sz="1250" dirty="0"/>
          </a:p>
          <a:p>
            <a:pPr marL="0" indent="0">
              <a:lnSpc>
                <a:spcPct val="110000"/>
              </a:lnSpc>
              <a:spcAft>
                <a:spcPts val="700"/>
              </a:spcAft>
              <a:buNone/>
            </a:pPr>
            <a:r>
              <a:rPr lang="en-US" sz="1250" dirty="0">
                <a:solidFill>
                  <a:srgbClr val="8A97AC"/>
                </a:solidFill>
                <a:latin typeface="Calibri" pitchFamily="34" charset="0"/>
                <a:ea typeface="Calibri" pitchFamily="34" charset="-122"/>
                <a:cs typeface="Calibri" pitchFamily="34" charset="-120"/>
              </a:rPr>
              <a:t>Narrow responsibilities</a:t>
            </a:r>
            <a:endParaRPr lang="en-US" sz="1250" dirty="0"/>
          </a:p>
          <a:p>
            <a:pPr marL="0" indent="0">
              <a:lnSpc>
                <a:spcPct val="110000"/>
              </a:lnSpc>
              <a:spcAft>
                <a:spcPts val="700"/>
              </a:spcAft>
              <a:buNone/>
            </a:pPr>
            <a:r>
              <a:rPr lang="en-US" sz="1250" dirty="0">
                <a:solidFill>
                  <a:srgbClr val="8A97AC"/>
                </a:solidFill>
                <a:latin typeface="Calibri" pitchFamily="34" charset="0"/>
                <a:ea typeface="Calibri" pitchFamily="34" charset="-122"/>
                <a:cs typeface="Calibri" pitchFamily="34" charset="-120"/>
              </a:rPr>
              <a:t>Bridging tolerated</a:t>
            </a:r>
            <a:endParaRPr lang="en-US" sz="1250" dirty="0"/>
          </a:p>
          <a:p>
            <a:pPr marL="0" indent="0">
              <a:lnSpc>
                <a:spcPct val="110000"/>
              </a:lnSpc>
              <a:spcAft>
                <a:spcPts val="700"/>
              </a:spcAft>
              <a:buNone/>
            </a:pPr>
            <a:r>
              <a:rPr lang="en-US" sz="1250" dirty="0">
                <a:solidFill>
                  <a:srgbClr val="8A97AC"/>
                </a:solidFill>
                <a:latin typeface="Calibri" pitchFamily="34" charset="0"/>
                <a:ea typeface="Calibri" pitchFamily="34" charset="-122"/>
                <a:cs typeface="Calibri" pitchFamily="34" charset="-120"/>
              </a:rPr>
              <a:t>Failure → justice</a:t>
            </a:r>
            <a:endParaRPr lang="en-US" sz="1250" dirty="0"/>
          </a:p>
          <a:p>
            <a:pPr marL="0" indent="0">
              <a:lnSpc>
                <a:spcPct val="110000"/>
              </a:lnSpc>
              <a:spcAft>
                <a:spcPts val="700"/>
              </a:spcAft>
              <a:buNone/>
            </a:pPr>
            <a:r>
              <a:rPr lang="en-US" sz="1250" dirty="0">
                <a:solidFill>
                  <a:srgbClr val="8A97AC"/>
                </a:solidFill>
                <a:latin typeface="Calibri" pitchFamily="34" charset="0"/>
                <a:ea typeface="Calibri" pitchFamily="34" charset="-122"/>
                <a:cs typeface="Calibri" pitchFamily="34" charset="-120"/>
              </a:rPr>
              <a:t>Novelty → problems</a:t>
            </a:r>
            <a:endParaRPr lang="en-US" sz="1250" dirty="0"/>
          </a:p>
        </p:txBody>
      </p:sp>
      <p:sp>
        <p:nvSpPr>
          <p:cNvPr id="16" name="Shape 14"/>
          <p:cNvSpPr/>
          <p:nvPr/>
        </p:nvSpPr>
        <p:spPr>
          <a:xfrm>
            <a:off x="8046720" y="1481328"/>
            <a:ext cx="3520440" cy="3200400"/>
          </a:xfrm>
          <a:prstGeom prst="roundRect">
            <a:avLst>
              <a:gd name="adj" fmla="val 1714"/>
            </a:avLst>
          </a:prstGeom>
          <a:solidFill>
            <a:srgbClr val="232E42"/>
          </a:solidFill>
          <a:ln w="12700">
            <a:solidFill>
              <a:srgbClr val="2E3B52"/>
            </a:solidFill>
            <a:prstDash val="solid"/>
          </a:ln>
        </p:spPr>
        <p:txBody>
          <a:bodyPr/>
          <a:lstStyle/>
          <a:p>
            <a:endParaRPr lang="en-US"/>
          </a:p>
        </p:txBody>
      </p:sp>
      <p:sp>
        <p:nvSpPr>
          <p:cNvPr id="17" name="Shape 15"/>
          <p:cNvSpPr/>
          <p:nvPr/>
        </p:nvSpPr>
        <p:spPr>
          <a:xfrm>
            <a:off x="8339328" y="1737360"/>
            <a:ext cx="164592" cy="164592"/>
          </a:xfrm>
          <a:prstGeom prst="ellipse">
            <a:avLst/>
          </a:prstGeom>
          <a:solidFill>
            <a:srgbClr val="2EC4B6"/>
          </a:solidFill>
          <a:ln/>
        </p:spPr>
        <p:txBody>
          <a:bodyPr/>
          <a:lstStyle/>
          <a:p>
            <a:endParaRPr lang="en-US"/>
          </a:p>
        </p:txBody>
      </p:sp>
      <p:sp>
        <p:nvSpPr>
          <p:cNvPr id="18" name="Text 16"/>
          <p:cNvSpPr/>
          <p:nvPr/>
        </p:nvSpPr>
        <p:spPr>
          <a:xfrm>
            <a:off x="8613648" y="1664208"/>
            <a:ext cx="2743200" cy="292608"/>
          </a:xfrm>
          <a:prstGeom prst="rect">
            <a:avLst/>
          </a:prstGeom>
          <a:noFill/>
          <a:ln/>
        </p:spPr>
        <p:txBody>
          <a:bodyPr wrap="square" lIns="0" tIns="0" rIns="0" bIns="0" rtlCol="0" anchor="ctr"/>
          <a:lstStyle/>
          <a:p>
            <a:pPr marL="0" indent="0">
              <a:buNone/>
            </a:pPr>
            <a:r>
              <a:rPr lang="en-US" sz="1450" b="1" kern="0" spc="100" dirty="0">
                <a:solidFill>
                  <a:srgbClr val="2EC4B6"/>
                </a:solidFill>
                <a:latin typeface="Arial" pitchFamily="34" charset="0"/>
                <a:ea typeface="Arial" pitchFamily="34" charset="-122"/>
                <a:cs typeface="Arial" pitchFamily="34" charset="-120"/>
              </a:rPr>
              <a:t>GENERATIVE</a:t>
            </a:r>
            <a:endParaRPr lang="en-US" sz="1450" dirty="0"/>
          </a:p>
        </p:txBody>
      </p:sp>
      <p:sp>
        <p:nvSpPr>
          <p:cNvPr id="19" name="Text 17"/>
          <p:cNvSpPr/>
          <p:nvPr/>
        </p:nvSpPr>
        <p:spPr>
          <a:xfrm>
            <a:off x="8339328" y="2011680"/>
            <a:ext cx="2926080" cy="256032"/>
          </a:xfrm>
          <a:prstGeom prst="rect">
            <a:avLst/>
          </a:prstGeom>
          <a:noFill/>
          <a:ln/>
        </p:spPr>
        <p:txBody>
          <a:bodyPr wrap="square" lIns="0" tIns="0" rIns="0" bIns="0" rtlCol="0" anchor="ctr"/>
          <a:lstStyle/>
          <a:p>
            <a:pPr marL="0" indent="0">
              <a:buNone/>
            </a:pPr>
            <a:r>
              <a:rPr lang="en-US" sz="1150" i="1" dirty="0">
                <a:solidFill>
                  <a:srgbClr val="8A97AC"/>
                </a:solidFill>
                <a:latin typeface="Calibri" pitchFamily="34" charset="0"/>
                <a:ea typeface="Calibri" pitchFamily="34" charset="-122"/>
                <a:cs typeface="Calibri" pitchFamily="34" charset="-120"/>
              </a:rPr>
              <a:t>Performance oriented</a:t>
            </a:r>
            <a:endParaRPr lang="en-US" sz="1150" dirty="0"/>
          </a:p>
        </p:txBody>
      </p:sp>
      <p:sp>
        <p:nvSpPr>
          <p:cNvPr id="20" name="Shape 18"/>
          <p:cNvSpPr/>
          <p:nvPr/>
        </p:nvSpPr>
        <p:spPr>
          <a:xfrm>
            <a:off x="8339328" y="2359152"/>
            <a:ext cx="2926080" cy="16459"/>
          </a:xfrm>
          <a:prstGeom prst="rect">
            <a:avLst/>
          </a:prstGeom>
          <a:solidFill>
            <a:srgbClr val="2E3B52"/>
          </a:solidFill>
          <a:ln/>
        </p:spPr>
        <p:txBody>
          <a:bodyPr/>
          <a:lstStyle/>
          <a:p>
            <a:endParaRPr lang="en-US"/>
          </a:p>
        </p:txBody>
      </p:sp>
      <p:sp>
        <p:nvSpPr>
          <p:cNvPr id="21" name="Text 19"/>
          <p:cNvSpPr/>
          <p:nvPr/>
        </p:nvSpPr>
        <p:spPr>
          <a:xfrm>
            <a:off x="8339328" y="2514600"/>
            <a:ext cx="2971800" cy="2468880"/>
          </a:xfrm>
          <a:prstGeom prst="rect">
            <a:avLst/>
          </a:prstGeom>
          <a:noFill/>
          <a:ln/>
        </p:spPr>
        <p:txBody>
          <a:bodyPr wrap="square" lIns="0" tIns="0" rIns="0" bIns="0" rtlCol="0" anchor="t"/>
          <a:lstStyle/>
          <a:p>
            <a:pPr marL="0" indent="0">
              <a:lnSpc>
                <a:spcPct val="110000"/>
              </a:lnSpc>
              <a:spcAft>
                <a:spcPts val="700"/>
              </a:spcAft>
              <a:buNone/>
            </a:pPr>
            <a:r>
              <a:rPr lang="en-US" sz="1250" dirty="0">
                <a:solidFill>
                  <a:srgbClr val="E8EDF5"/>
                </a:solidFill>
                <a:latin typeface="Calibri" pitchFamily="34" charset="0"/>
                <a:ea typeface="Calibri" pitchFamily="34" charset="-122"/>
                <a:cs typeface="Calibri" pitchFamily="34" charset="-120"/>
              </a:rPr>
              <a:t>High cooperation</a:t>
            </a:r>
            <a:endParaRPr lang="en-US" sz="1250" dirty="0"/>
          </a:p>
          <a:p>
            <a:pPr marL="0" indent="0">
              <a:lnSpc>
                <a:spcPct val="110000"/>
              </a:lnSpc>
              <a:spcAft>
                <a:spcPts val="700"/>
              </a:spcAft>
              <a:buNone/>
            </a:pPr>
            <a:r>
              <a:rPr lang="en-US" sz="1250" dirty="0">
                <a:solidFill>
                  <a:srgbClr val="E8EDF5"/>
                </a:solidFill>
                <a:latin typeface="Calibri" pitchFamily="34" charset="0"/>
                <a:ea typeface="Calibri" pitchFamily="34" charset="-122"/>
                <a:cs typeface="Calibri" pitchFamily="34" charset="-120"/>
              </a:rPr>
              <a:t>Messengers trained</a:t>
            </a:r>
            <a:endParaRPr lang="en-US" sz="1250" dirty="0"/>
          </a:p>
          <a:p>
            <a:pPr marL="0" indent="0">
              <a:lnSpc>
                <a:spcPct val="110000"/>
              </a:lnSpc>
              <a:spcAft>
                <a:spcPts val="700"/>
              </a:spcAft>
              <a:buNone/>
            </a:pPr>
            <a:r>
              <a:rPr lang="en-US" sz="1250" dirty="0">
                <a:solidFill>
                  <a:srgbClr val="E8EDF5"/>
                </a:solidFill>
                <a:latin typeface="Calibri" pitchFamily="34" charset="0"/>
                <a:ea typeface="Calibri" pitchFamily="34" charset="-122"/>
                <a:cs typeface="Calibri" pitchFamily="34" charset="-120"/>
              </a:rPr>
              <a:t>Risks are shared</a:t>
            </a:r>
            <a:endParaRPr lang="en-US" sz="1250" dirty="0"/>
          </a:p>
          <a:p>
            <a:pPr marL="0" indent="0">
              <a:lnSpc>
                <a:spcPct val="110000"/>
              </a:lnSpc>
              <a:spcAft>
                <a:spcPts val="700"/>
              </a:spcAft>
              <a:buNone/>
            </a:pPr>
            <a:r>
              <a:rPr lang="en-US" sz="1250" dirty="0">
                <a:solidFill>
                  <a:srgbClr val="E8EDF5"/>
                </a:solidFill>
                <a:latin typeface="Calibri" pitchFamily="34" charset="0"/>
                <a:ea typeface="Calibri" pitchFamily="34" charset="-122"/>
                <a:cs typeface="Calibri" pitchFamily="34" charset="-120"/>
              </a:rPr>
              <a:t>Bridging encouraged</a:t>
            </a:r>
            <a:endParaRPr lang="en-US" sz="1250" dirty="0"/>
          </a:p>
          <a:p>
            <a:pPr marL="0" indent="0">
              <a:lnSpc>
                <a:spcPct val="110000"/>
              </a:lnSpc>
              <a:spcAft>
                <a:spcPts val="700"/>
              </a:spcAft>
              <a:buNone/>
            </a:pPr>
            <a:r>
              <a:rPr lang="en-US" sz="1250" dirty="0">
                <a:solidFill>
                  <a:srgbClr val="E8EDF5"/>
                </a:solidFill>
                <a:latin typeface="Calibri" pitchFamily="34" charset="0"/>
                <a:ea typeface="Calibri" pitchFamily="34" charset="-122"/>
                <a:cs typeface="Calibri" pitchFamily="34" charset="-120"/>
              </a:rPr>
              <a:t>Failure → inquiry</a:t>
            </a:r>
            <a:endParaRPr lang="en-US" sz="1250" dirty="0"/>
          </a:p>
          <a:p>
            <a:pPr marL="0" indent="0">
              <a:lnSpc>
                <a:spcPct val="110000"/>
              </a:lnSpc>
              <a:spcAft>
                <a:spcPts val="700"/>
              </a:spcAft>
              <a:buNone/>
            </a:pPr>
            <a:r>
              <a:rPr lang="en-US" sz="1250" dirty="0">
                <a:solidFill>
                  <a:srgbClr val="E8EDF5"/>
                </a:solidFill>
                <a:latin typeface="Calibri" pitchFamily="34" charset="0"/>
                <a:ea typeface="Calibri" pitchFamily="34" charset="-122"/>
                <a:cs typeface="Calibri" pitchFamily="34" charset="-120"/>
              </a:rPr>
              <a:t>Novelty implemented</a:t>
            </a:r>
            <a:endParaRPr lang="en-US" sz="1250" dirty="0"/>
          </a:p>
        </p:txBody>
      </p:sp>
      <p:sp>
        <p:nvSpPr>
          <p:cNvPr id="22" name="Shape 20"/>
          <p:cNvSpPr/>
          <p:nvPr/>
        </p:nvSpPr>
        <p:spPr>
          <a:xfrm>
            <a:off x="640080" y="4937760"/>
            <a:ext cx="10881360" cy="822960"/>
          </a:xfrm>
          <a:prstGeom prst="roundRect">
            <a:avLst>
              <a:gd name="adj" fmla="val 6667"/>
            </a:avLst>
          </a:prstGeom>
          <a:solidFill>
            <a:srgbClr val="232E42"/>
          </a:solidFill>
          <a:ln w="12700">
            <a:solidFill>
              <a:srgbClr val="2E3B52"/>
            </a:solidFill>
            <a:prstDash val="solid"/>
          </a:ln>
        </p:spPr>
        <p:txBody>
          <a:bodyPr/>
          <a:lstStyle/>
          <a:p>
            <a:endParaRPr lang="en-US"/>
          </a:p>
        </p:txBody>
      </p:sp>
      <p:sp>
        <p:nvSpPr>
          <p:cNvPr id="23" name="Text 21"/>
          <p:cNvSpPr/>
          <p:nvPr/>
        </p:nvSpPr>
        <p:spPr>
          <a:xfrm>
            <a:off x="914400" y="5120640"/>
            <a:ext cx="10332720" cy="548640"/>
          </a:xfrm>
          <a:prstGeom prst="rect">
            <a:avLst/>
          </a:prstGeom>
          <a:noFill/>
          <a:ln/>
        </p:spPr>
        <p:txBody>
          <a:bodyPr wrap="square" lIns="0" tIns="0" rIns="0" bIns="0" rtlCol="0" anchor="t"/>
          <a:lstStyle/>
          <a:p>
            <a:pPr marL="0" indent="0">
              <a:lnSpc>
                <a:spcPct val="115000"/>
              </a:lnSpc>
              <a:buNone/>
            </a:pPr>
            <a:r>
              <a:rPr lang="en-US" sz="1300" b="1" dirty="0">
                <a:solidFill>
                  <a:srgbClr val="F0A202"/>
                </a:solidFill>
                <a:latin typeface="Calibri" pitchFamily="34" charset="0"/>
                <a:ea typeface="Calibri" pitchFamily="34" charset="-122"/>
                <a:cs typeface="Calibri" pitchFamily="34" charset="-120"/>
              </a:rPr>
              <a:t>The barrier is the middle column. </a:t>
            </a:r>
            <a:r>
              <a:rPr lang="en-US" sz="1300" dirty="0">
                <a:solidFill>
                  <a:srgbClr val="E8EDF5"/>
                </a:solidFill>
                <a:latin typeface="Calibri" pitchFamily="34" charset="0"/>
                <a:ea typeface="Calibri" pitchFamily="34" charset="-122"/>
                <a:cs typeface="Calibri" pitchFamily="34" charset="-120"/>
              </a:rPr>
              <a:t>Bureaucratic orgs already believe they are fair. They have a process, a policy, and a review board. That belief is what makes the remaining barriers invisible from the top.</a:t>
            </a:r>
            <a:endParaRPr lang="en-US" sz="1300" dirty="0"/>
          </a:p>
        </p:txBody>
      </p:sp>
      <p:sp>
        <p:nvSpPr>
          <p:cNvPr id="24" name="Text 22"/>
          <p:cNvSpPr/>
          <p:nvPr/>
        </p:nvSpPr>
        <p:spPr>
          <a:xfrm>
            <a:off x="640080" y="6245352"/>
            <a:ext cx="10881360" cy="329184"/>
          </a:xfrm>
          <a:prstGeom prst="rect">
            <a:avLst/>
          </a:prstGeom>
          <a:noFill/>
          <a:ln/>
        </p:spPr>
        <p:txBody>
          <a:bodyPr wrap="square" lIns="0" tIns="0" rIns="0" bIns="0" rtlCol="0" anchor="t"/>
          <a:lstStyle/>
          <a:p>
            <a:pPr marL="0" indent="0">
              <a:buNone/>
            </a:pP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420"/>
        </a:solidFill>
        <a:effectLst/>
      </p:bgPr>
    </p:bg>
    <p:spTree>
      <p:nvGrpSpPr>
        <p:cNvPr id="1" name=""/>
        <p:cNvGrpSpPr/>
        <p:nvPr/>
      </p:nvGrpSpPr>
      <p:grpSpPr>
        <a:xfrm>
          <a:off x="0" y="0"/>
          <a:ext cx="0" cy="0"/>
          <a:chOff x="0" y="0"/>
          <a:chExt cx="0" cy="0"/>
        </a:xfrm>
      </p:grpSpPr>
      <p:sp>
        <p:nvSpPr>
          <p:cNvPr id="2" name="Text 0"/>
          <p:cNvSpPr/>
          <p:nvPr/>
        </p:nvSpPr>
        <p:spPr>
          <a:xfrm>
            <a:off x="640080" y="310896"/>
            <a:ext cx="10881360" cy="256032"/>
          </a:xfrm>
          <a:prstGeom prst="rect">
            <a:avLst/>
          </a:prstGeom>
          <a:noFill/>
          <a:ln/>
        </p:spPr>
        <p:txBody>
          <a:bodyPr wrap="square" lIns="0" tIns="0" rIns="0" bIns="0" rtlCol="0" anchor="ctr"/>
          <a:lstStyle/>
          <a:p>
            <a:pPr marL="0" indent="0">
              <a:buNone/>
            </a:pPr>
            <a:r>
              <a:rPr lang="en-US" sz="1100" b="1" kern="0" spc="220" dirty="0">
                <a:solidFill>
                  <a:srgbClr val="F0A202"/>
                </a:solidFill>
                <a:latin typeface="Calibri" pitchFamily="34" charset="0"/>
                <a:ea typeface="Calibri" pitchFamily="34" charset="-122"/>
                <a:cs typeface="Calibri" pitchFamily="34" charset="-120"/>
              </a:rPr>
              <a:t>BARRIER 01 · CONCEPTUAL</a:t>
            </a:r>
            <a:endParaRPr lang="en-US" sz="1100" dirty="0"/>
          </a:p>
        </p:txBody>
      </p:sp>
      <p:sp>
        <p:nvSpPr>
          <p:cNvPr id="3" name="Text 1"/>
          <p:cNvSpPr/>
          <p:nvPr/>
        </p:nvSpPr>
        <p:spPr>
          <a:xfrm>
            <a:off x="640080" y="576072"/>
            <a:ext cx="10881360" cy="658368"/>
          </a:xfrm>
          <a:prstGeom prst="rect">
            <a:avLst/>
          </a:prstGeom>
          <a:noFill/>
          <a:ln/>
        </p:spPr>
        <p:txBody>
          <a:bodyPr wrap="square" lIns="0" tIns="0" rIns="0" bIns="0" rtlCol="0" anchor="ctr"/>
          <a:lstStyle/>
          <a:p>
            <a:pPr marL="0" indent="0">
              <a:buNone/>
            </a:pPr>
            <a:r>
              <a:rPr lang="en-US" sz="3000" b="1" dirty="0">
                <a:solidFill>
                  <a:srgbClr val="E8EDF5"/>
                </a:solidFill>
                <a:latin typeface="Arial" pitchFamily="34" charset="0"/>
                <a:ea typeface="Arial" pitchFamily="34" charset="-122"/>
                <a:cs typeface="Arial" pitchFamily="34" charset="-120"/>
              </a:rPr>
              <a:t>You cannot install a culture</a:t>
            </a:r>
            <a:endParaRPr lang="en-US" sz="3000" dirty="0"/>
          </a:p>
        </p:txBody>
      </p:sp>
      <p:sp>
        <p:nvSpPr>
          <p:cNvPr id="4" name="Shape 2"/>
          <p:cNvSpPr/>
          <p:nvPr/>
        </p:nvSpPr>
        <p:spPr>
          <a:xfrm>
            <a:off x="640080" y="1481328"/>
            <a:ext cx="6537960" cy="2331720"/>
          </a:xfrm>
          <a:prstGeom prst="roundRect">
            <a:avLst>
              <a:gd name="adj" fmla="val 2353"/>
            </a:avLst>
          </a:prstGeom>
          <a:solidFill>
            <a:srgbClr val="232E42"/>
          </a:solidFill>
          <a:ln w="12700">
            <a:solidFill>
              <a:srgbClr val="2E3B52"/>
            </a:solidFill>
            <a:prstDash val="solid"/>
          </a:ln>
        </p:spPr>
        <p:txBody>
          <a:bodyPr/>
          <a:lstStyle/>
          <a:p>
            <a:endParaRPr lang="en-US"/>
          </a:p>
        </p:txBody>
      </p:sp>
      <p:sp>
        <p:nvSpPr>
          <p:cNvPr id="5" name="Text 3"/>
          <p:cNvSpPr/>
          <p:nvPr/>
        </p:nvSpPr>
        <p:spPr>
          <a:xfrm>
            <a:off x="960120" y="1783080"/>
            <a:ext cx="5943600" cy="1371600"/>
          </a:xfrm>
          <a:prstGeom prst="rect">
            <a:avLst/>
          </a:prstGeom>
          <a:noFill/>
          <a:ln/>
        </p:spPr>
        <p:txBody>
          <a:bodyPr wrap="square" lIns="0" tIns="0" rIns="0" bIns="0" rtlCol="0" anchor="ctr"/>
          <a:lstStyle/>
          <a:p>
            <a:pPr marL="0" indent="0">
              <a:lnSpc>
                <a:spcPct val="120000"/>
              </a:lnSpc>
              <a:buNone/>
            </a:pPr>
            <a:r>
              <a:rPr lang="en-US" sz="1700" i="1" dirty="0">
                <a:solidFill>
                  <a:srgbClr val="E8EDF5"/>
                </a:solidFill>
                <a:latin typeface="Arial" pitchFamily="34" charset="0"/>
                <a:ea typeface="Arial" pitchFamily="34" charset="-122"/>
                <a:cs typeface="Arial" pitchFamily="34" charset="-120"/>
              </a:rPr>
              <a:t>“We may try to achieve a common culture across the organisation, but you can’t ‘design’, ‘engineer’ or ‘implement’ a culture of any kind… adaptive change is mostly bottom up, and slow.”</a:t>
            </a:r>
            <a:endParaRPr lang="en-US" sz="1700" dirty="0"/>
          </a:p>
        </p:txBody>
      </p:sp>
      <p:sp>
        <p:nvSpPr>
          <p:cNvPr id="6" name="Text 4"/>
          <p:cNvSpPr/>
          <p:nvPr/>
        </p:nvSpPr>
        <p:spPr>
          <a:xfrm>
            <a:off x="960120" y="3246120"/>
            <a:ext cx="5943600" cy="274320"/>
          </a:xfrm>
          <a:prstGeom prst="rect">
            <a:avLst/>
          </a:prstGeom>
          <a:noFill/>
          <a:ln/>
        </p:spPr>
        <p:txBody>
          <a:bodyPr wrap="square" lIns="0" tIns="0" rIns="0" bIns="0" rtlCol="0" anchor="ctr"/>
          <a:lstStyle/>
          <a:p>
            <a:pPr marL="0" indent="0">
              <a:buNone/>
            </a:pPr>
            <a:r>
              <a:rPr lang="en-US" sz="1100" b="1" dirty="0">
                <a:solidFill>
                  <a:srgbClr val="F0A202"/>
                </a:solidFill>
                <a:latin typeface="Calibri" pitchFamily="34" charset="0"/>
                <a:ea typeface="Calibri" pitchFamily="34" charset="-122"/>
                <a:cs typeface="Calibri" pitchFamily="34" charset="-120"/>
              </a:rPr>
              <a:t>Steven Shorrock, HindSight 35 (2023)</a:t>
            </a:r>
            <a:endParaRPr lang="en-US" sz="1100" dirty="0"/>
          </a:p>
        </p:txBody>
      </p:sp>
      <p:sp>
        <p:nvSpPr>
          <p:cNvPr id="7" name="Shape 5"/>
          <p:cNvSpPr/>
          <p:nvPr/>
        </p:nvSpPr>
        <p:spPr>
          <a:xfrm>
            <a:off x="7452360" y="1481328"/>
            <a:ext cx="4069080" cy="2331720"/>
          </a:xfrm>
          <a:prstGeom prst="roundRect">
            <a:avLst>
              <a:gd name="adj" fmla="val 2353"/>
            </a:avLst>
          </a:prstGeom>
          <a:solidFill>
            <a:srgbClr val="1A2333"/>
          </a:solidFill>
          <a:ln w="12700">
            <a:solidFill>
              <a:srgbClr val="2E3B52"/>
            </a:solidFill>
            <a:prstDash val="solid"/>
          </a:ln>
        </p:spPr>
        <p:txBody>
          <a:bodyPr/>
          <a:lstStyle/>
          <a:p>
            <a:endParaRPr lang="en-US"/>
          </a:p>
        </p:txBody>
      </p:sp>
      <p:sp>
        <p:nvSpPr>
          <p:cNvPr id="8" name="Text 6"/>
          <p:cNvSpPr/>
          <p:nvPr/>
        </p:nvSpPr>
        <p:spPr>
          <a:xfrm>
            <a:off x="7726680" y="1737360"/>
            <a:ext cx="3520440" cy="274320"/>
          </a:xfrm>
          <a:prstGeom prst="rect">
            <a:avLst/>
          </a:prstGeom>
          <a:noFill/>
          <a:ln/>
        </p:spPr>
        <p:txBody>
          <a:bodyPr wrap="square" lIns="0" tIns="0" rIns="0" bIns="0" rtlCol="0" anchor="ctr"/>
          <a:lstStyle/>
          <a:p>
            <a:pPr marL="0" indent="0">
              <a:buNone/>
            </a:pPr>
            <a:r>
              <a:rPr lang="en-US" sz="1400" b="1" dirty="0">
                <a:solidFill>
                  <a:srgbClr val="2EC4B6"/>
                </a:solidFill>
                <a:latin typeface="Arial" pitchFamily="34" charset="0"/>
                <a:ea typeface="Arial" pitchFamily="34" charset="-122"/>
                <a:cs typeface="Arial" pitchFamily="34" charset="-120"/>
              </a:rPr>
              <a:t>Why this bites in DevOps</a:t>
            </a:r>
            <a:endParaRPr lang="en-US" sz="1400" dirty="0"/>
          </a:p>
        </p:txBody>
      </p:sp>
      <p:sp>
        <p:nvSpPr>
          <p:cNvPr id="9" name="Text 7"/>
          <p:cNvSpPr/>
          <p:nvPr/>
        </p:nvSpPr>
        <p:spPr>
          <a:xfrm>
            <a:off x="7726680" y="2148840"/>
            <a:ext cx="3520440" cy="1463040"/>
          </a:xfrm>
          <a:prstGeom prst="rect">
            <a:avLst/>
          </a:prstGeom>
          <a:noFill/>
          <a:ln/>
        </p:spPr>
        <p:txBody>
          <a:bodyPr wrap="square" lIns="0" tIns="0" rIns="0" bIns="0" rtlCol="0" anchor="t"/>
          <a:lstStyle/>
          <a:p>
            <a:pPr marL="0" indent="0">
              <a:lnSpc>
                <a:spcPct val="120000"/>
              </a:lnSpc>
              <a:spcAft>
                <a:spcPts val="800"/>
              </a:spcAft>
              <a:buNone/>
            </a:pPr>
            <a:r>
              <a:rPr lang="en-US" sz="1250" dirty="0">
                <a:solidFill>
                  <a:srgbClr val="8A97AC"/>
                </a:solidFill>
                <a:latin typeface="Calibri" pitchFamily="34" charset="0"/>
                <a:ea typeface="Calibri" pitchFamily="34" charset="-122"/>
                <a:cs typeface="Calibri" pitchFamily="34" charset="-120"/>
              </a:rPr>
              <a:t>We are trained to ship culture like a service: name it, roadmap it, declare it live at the all-hands.</a:t>
            </a:r>
            <a:endParaRPr lang="en-US" sz="1250" dirty="0"/>
          </a:p>
          <a:p>
            <a:pPr marL="0" indent="0">
              <a:lnSpc>
                <a:spcPct val="120000"/>
              </a:lnSpc>
              <a:spcAft>
                <a:spcPts val="800"/>
              </a:spcAft>
              <a:buNone/>
            </a:pPr>
            <a:r>
              <a:rPr lang="en-US" sz="1250" dirty="0">
                <a:solidFill>
                  <a:srgbClr val="8A97AC"/>
                </a:solidFill>
                <a:latin typeface="Calibri" pitchFamily="34" charset="0"/>
                <a:ea typeface="Calibri" pitchFamily="34" charset="-122"/>
                <a:cs typeface="Calibri" pitchFamily="34" charset="-120"/>
              </a:rPr>
              <a:t>Culture is largely read-only. The rollout finishes; the beliefs do not move.</a:t>
            </a:r>
            <a:endParaRPr lang="en-US" sz="1250" dirty="0"/>
          </a:p>
        </p:txBody>
      </p:sp>
      <p:sp>
        <p:nvSpPr>
          <p:cNvPr id="10" name="Shape 8"/>
          <p:cNvSpPr/>
          <p:nvPr/>
        </p:nvSpPr>
        <p:spPr>
          <a:xfrm>
            <a:off x="640080" y="3977640"/>
            <a:ext cx="3520440" cy="1874520"/>
          </a:xfrm>
          <a:prstGeom prst="roundRect">
            <a:avLst>
              <a:gd name="adj" fmla="val 2927"/>
            </a:avLst>
          </a:prstGeom>
          <a:solidFill>
            <a:srgbClr val="1A2333"/>
          </a:solidFill>
          <a:ln w="12700">
            <a:solidFill>
              <a:srgbClr val="2E3B52"/>
            </a:solidFill>
            <a:prstDash val="solid"/>
          </a:ln>
        </p:spPr>
        <p:txBody>
          <a:bodyPr/>
          <a:lstStyle/>
          <a:p>
            <a:endParaRPr lang="en-US"/>
          </a:p>
        </p:txBody>
      </p:sp>
      <p:sp>
        <p:nvSpPr>
          <p:cNvPr id="11" name="Shape 9"/>
          <p:cNvSpPr/>
          <p:nvPr/>
        </p:nvSpPr>
        <p:spPr>
          <a:xfrm>
            <a:off x="914400" y="4187952"/>
            <a:ext cx="420624" cy="420624"/>
          </a:xfrm>
          <a:prstGeom prst="ellipse">
            <a:avLst/>
          </a:prstGeom>
          <a:solidFill>
            <a:srgbClr val="F0A202"/>
          </a:solidFill>
          <a:ln/>
        </p:spPr>
        <p:txBody>
          <a:bodyPr/>
          <a:lstStyle/>
          <a:p>
            <a:endParaRPr lang="en-US"/>
          </a:p>
        </p:txBody>
      </p:sp>
      <p:sp>
        <p:nvSpPr>
          <p:cNvPr id="12" name="Text 10"/>
          <p:cNvSpPr/>
          <p:nvPr/>
        </p:nvSpPr>
        <p:spPr>
          <a:xfrm>
            <a:off x="914400" y="4187952"/>
            <a:ext cx="420624" cy="420624"/>
          </a:xfrm>
          <a:prstGeom prst="rect">
            <a:avLst/>
          </a:prstGeom>
          <a:noFill/>
          <a:ln/>
        </p:spPr>
        <p:txBody>
          <a:bodyPr wrap="square" lIns="0" tIns="0" rIns="0" bIns="0" rtlCol="0" anchor="ctr"/>
          <a:lstStyle/>
          <a:p>
            <a:pPr marL="0" indent="0" algn="ctr">
              <a:buNone/>
            </a:pPr>
            <a:r>
              <a:rPr lang="en-US" sz="1400" b="1" dirty="0">
                <a:solidFill>
                  <a:srgbClr val="0E1420"/>
                </a:solidFill>
                <a:latin typeface="Arial" pitchFamily="34" charset="0"/>
                <a:ea typeface="Arial" pitchFamily="34" charset="-122"/>
                <a:cs typeface="Arial" pitchFamily="34" charset="-120"/>
              </a:rPr>
              <a:t>1</a:t>
            </a:r>
            <a:endParaRPr lang="en-US" sz="1400" dirty="0"/>
          </a:p>
        </p:txBody>
      </p:sp>
      <p:sp>
        <p:nvSpPr>
          <p:cNvPr id="13" name="Text 11"/>
          <p:cNvSpPr/>
          <p:nvPr/>
        </p:nvSpPr>
        <p:spPr>
          <a:xfrm>
            <a:off x="1444752" y="4261104"/>
            <a:ext cx="2468880" cy="274320"/>
          </a:xfrm>
          <a:prstGeom prst="rect">
            <a:avLst/>
          </a:prstGeom>
          <a:noFill/>
          <a:ln/>
        </p:spPr>
        <p:txBody>
          <a:bodyPr wrap="square" lIns="0" tIns="0" rIns="0" bIns="0" rtlCol="0" anchor="ctr"/>
          <a:lstStyle/>
          <a:p>
            <a:pPr marL="0" indent="0">
              <a:buNone/>
            </a:pPr>
            <a:r>
              <a:rPr lang="en-US" sz="1300" b="1" dirty="0">
                <a:solidFill>
                  <a:srgbClr val="E8EDF5"/>
                </a:solidFill>
                <a:latin typeface="Arial" pitchFamily="34" charset="0"/>
                <a:ea typeface="Arial" pitchFamily="34" charset="-122"/>
                <a:cs typeface="Arial" pitchFamily="34" charset="-120"/>
              </a:rPr>
              <a:t>Timescale mismatch</a:t>
            </a:r>
            <a:endParaRPr lang="en-US" sz="1300" dirty="0"/>
          </a:p>
        </p:txBody>
      </p:sp>
      <p:sp>
        <p:nvSpPr>
          <p:cNvPr id="14" name="Text 12"/>
          <p:cNvSpPr/>
          <p:nvPr/>
        </p:nvSpPr>
        <p:spPr>
          <a:xfrm>
            <a:off x="914400" y="4736592"/>
            <a:ext cx="2971800" cy="1051560"/>
          </a:xfrm>
          <a:prstGeom prst="rect">
            <a:avLst/>
          </a:prstGeom>
          <a:noFill/>
          <a:ln/>
        </p:spPr>
        <p:txBody>
          <a:bodyPr wrap="square" lIns="0" tIns="0" rIns="0" bIns="0" rtlCol="0" anchor="t"/>
          <a:lstStyle/>
          <a:p>
            <a:pPr marL="0" indent="0">
              <a:lnSpc>
                <a:spcPct val="118000"/>
              </a:lnSpc>
              <a:buNone/>
            </a:pPr>
            <a:r>
              <a:rPr lang="en-US" sz="1150" dirty="0">
                <a:solidFill>
                  <a:srgbClr val="8A97AC"/>
                </a:solidFill>
                <a:latin typeface="Calibri" pitchFamily="34" charset="0"/>
                <a:ea typeface="Calibri" pitchFamily="34" charset="-122"/>
                <a:cs typeface="Calibri" pitchFamily="34" charset="-120"/>
              </a:rPr>
              <a:t>Cultural change is evolutionary and generational. Reorgs, leadership changes, and quarterly goals all move faster than it does.</a:t>
            </a:r>
            <a:endParaRPr lang="en-US" sz="1150" dirty="0"/>
          </a:p>
        </p:txBody>
      </p:sp>
      <p:sp>
        <p:nvSpPr>
          <p:cNvPr id="15" name="Shape 13"/>
          <p:cNvSpPr/>
          <p:nvPr/>
        </p:nvSpPr>
        <p:spPr>
          <a:xfrm>
            <a:off x="4343400" y="3977640"/>
            <a:ext cx="3520440" cy="1874520"/>
          </a:xfrm>
          <a:prstGeom prst="roundRect">
            <a:avLst>
              <a:gd name="adj" fmla="val 2927"/>
            </a:avLst>
          </a:prstGeom>
          <a:solidFill>
            <a:srgbClr val="1A2333"/>
          </a:solidFill>
          <a:ln w="12700">
            <a:solidFill>
              <a:srgbClr val="2E3B52"/>
            </a:solidFill>
            <a:prstDash val="solid"/>
          </a:ln>
        </p:spPr>
        <p:txBody>
          <a:bodyPr/>
          <a:lstStyle/>
          <a:p>
            <a:endParaRPr lang="en-US"/>
          </a:p>
        </p:txBody>
      </p:sp>
      <p:sp>
        <p:nvSpPr>
          <p:cNvPr id="16" name="Shape 14"/>
          <p:cNvSpPr/>
          <p:nvPr/>
        </p:nvSpPr>
        <p:spPr>
          <a:xfrm>
            <a:off x="4617720" y="4187952"/>
            <a:ext cx="420624" cy="420624"/>
          </a:xfrm>
          <a:prstGeom prst="ellipse">
            <a:avLst/>
          </a:prstGeom>
          <a:solidFill>
            <a:srgbClr val="F0A202"/>
          </a:solidFill>
          <a:ln/>
        </p:spPr>
        <p:txBody>
          <a:bodyPr/>
          <a:lstStyle/>
          <a:p>
            <a:endParaRPr lang="en-US"/>
          </a:p>
        </p:txBody>
      </p:sp>
      <p:sp>
        <p:nvSpPr>
          <p:cNvPr id="17" name="Text 15"/>
          <p:cNvSpPr/>
          <p:nvPr/>
        </p:nvSpPr>
        <p:spPr>
          <a:xfrm>
            <a:off x="4617720" y="4187952"/>
            <a:ext cx="420624" cy="420624"/>
          </a:xfrm>
          <a:prstGeom prst="rect">
            <a:avLst/>
          </a:prstGeom>
          <a:noFill/>
          <a:ln/>
        </p:spPr>
        <p:txBody>
          <a:bodyPr wrap="square" lIns="0" tIns="0" rIns="0" bIns="0" rtlCol="0" anchor="ctr"/>
          <a:lstStyle/>
          <a:p>
            <a:pPr marL="0" indent="0" algn="ctr">
              <a:buNone/>
            </a:pPr>
            <a:r>
              <a:rPr lang="en-US" sz="1400" b="1" dirty="0">
                <a:solidFill>
                  <a:srgbClr val="0E1420"/>
                </a:solidFill>
                <a:latin typeface="Arial" pitchFamily="34" charset="0"/>
                <a:ea typeface="Arial" pitchFamily="34" charset="-122"/>
                <a:cs typeface="Arial" pitchFamily="34" charset="-120"/>
              </a:rPr>
              <a:t>2</a:t>
            </a:r>
            <a:endParaRPr lang="en-US" sz="1400" dirty="0"/>
          </a:p>
        </p:txBody>
      </p:sp>
      <p:sp>
        <p:nvSpPr>
          <p:cNvPr id="18" name="Text 16"/>
          <p:cNvSpPr/>
          <p:nvPr/>
        </p:nvSpPr>
        <p:spPr>
          <a:xfrm>
            <a:off x="5148072" y="4261104"/>
            <a:ext cx="2468880" cy="274320"/>
          </a:xfrm>
          <a:prstGeom prst="rect">
            <a:avLst/>
          </a:prstGeom>
          <a:noFill/>
          <a:ln/>
        </p:spPr>
        <p:txBody>
          <a:bodyPr wrap="square" lIns="0" tIns="0" rIns="0" bIns="0" rtlCol="0" anchor="ctr"/>
          <a:lstStyle/>
          <a:p>
            <a:pPr marL="0" indent="0">
              <a:buNone/>
            </a:pPr>
            <a:r>
              <a:rPr lang="en-US" sz="1300" b="1" dirty="0">
                <a:solidFill>
                  <a:srgbClr val="E8EDF5"/>
                </a:solidFill>
                <a:latin typeface="Arial" pitchFamily="34" charset="0"/>
                <a:ea typeface="Arial" pitchFamily="34" charset="-122"/>
                <a:cs typeface="Arial" pitchFamily="34" charset="-120"/>
              </a:rPr>
              <a:t>The definition is contested</a:t>
            </a:r>
            <a:endParaRPr lang="en-US" sz="1300" dirty="0"/>
          </a:p>
        </p:txBody>
      </p:sp>
      <p:sp>
        <p:nvSpPr>
          <p:cNvPr id="19" name="Text 17"/>
          <p:cNvSpPr/>
          <p:nvPr/>
        </p:nvSpPr>
        <p:spPr>
          <a:xfrm>
            <a:off x="4617720" y="4736592"/>
            <a:ext cx="2971800" cy="1051560"/>
          </a:xfrm>
          <a:prstGeom prst="rect">
            <a:avLst/>
          </a:prstGeom>
          <a:noFill/>
          <a:ln/>
        </p:spPr>
        <p:txBody>
          <a:bodyPr wrap="square" lIns="0" tIns="0" rIns="0" bIns="0" rtlCol="0" anchor="t"/>
          <a:lstStyle/>
          <a:p>
            <a:pPr marL="0" indent="0">
              <a:lnSpc>
                <a:spcPct val="118000"/>
              </a:lnSpc>
              <a:buNone/>
            </a:pPr>
            <a:r>
              <a:rPr lang="en-US" sz="1150" dirty="0">
                <a:solidFill>
                  <a:srgbClr val="8A97AC"/>
                </a:solidFill>
                <a:latin typeface="Calibri" pitchFamily="34" charset="0"/>
                <a:ea typeface="Calibri" pitchFamily="34" charset="-122"/>
                <a:cs typeface="Calibri" pitchFamily="34" charset="-120"/>
              </a:rPr>
              <a:t>“Gross negligence” and “wilful violation” are left for each org to interpret, so each team draws the line somewhere different.</a:t>
            </a:r>
            <a:endParaRPr lang="en-US" sz="1150" dirty="0"/>
          </a:p>
        </p:txBody>
      </p:sp>
      <p:sp>
        <p:nvSpPr>
          <p:cNvPr id="20" name="Shape 18"/>
          <p:cNvSpPr/>
          <p:nvPr/>
        </p:nvSpPr>
        <p:spPr>
          <a:xfrm>
            <a:off x="8046720" y="3977640"/>
            <a:ext cx="3520440" cy="1874520"/>
          </a:xfrm>
          <a:prstGeom prst="roundRect">
            <a:avLst>
              <a:gd name="adj" fmla="val 2927"/>
            </a:avLst>
          </a:prstGeom>
          <a:solidFill>
            <a:srgbClr val="1A2333"/>
          </a:solidFill>
          <a:ln w="12700">
            <a:solidFill>
              <a:srgbClr val="2E3B52"/>
            </a:solidFill>
            <a:prstDash val="solid"/>
          </a:ln>
        </p:spPr>
        <p:txBody>
          <a:bodyPr/>
          <a:lstStyle/>
          <a:p>
            <a:endParaRPr lang="en-US"/>
          </a:p>
        </p:txBody>
      </p:sp>
      <p:sp>
        <p:nvSpPr>
          <p:cNvPr id="21" name="Shape 19"/>
          <p:cNvSpPr/>
          <p:nvPr/>
        </p:nvSpPr>
        <p:spPr>
          <a:xfrm>
            <a:off x="8321040" y="4187952"/>
            <a:ext cx="420624" cy="420624"/>
          </a:xfrm>
          <a:prstGeom prst="ellipse">
            <a:avLst/>
          </a:prstGeom>
          <a:solidFill>
            <a:srgbClr val="F0A202"/>
          </a:solidFill>
          <a:ln/>
        </p:spPr>
        <p:txBody>
          <a:bodyPr/>
          <a:lstStyle/>
          <a:p>
            <a:endParaRPr lang="en-US"/>
          </a:p>
        </p:txBody>
      </p:sp>
      <p:sp>
        <p:nvSpPr>
          <p:cNvPr id="22" name="Text 20"/>
          <p:cNvSpPr/>
          <p:nvPr/>
        </p:nvSpPr>
        <p:spPr>
          <a:xfrm>
            <a:off x="8321040" y="4187952"/>
            <a:ext cx="420624" cy="420624"/>
          </a:xfrm>
          <a:prstGeom prst="rect">
            <a:avLst/>
          </a:prstGeom>
          <a:noFill/>
          <a:ln/>
        </p:spPr>
        <p:txBody>
          <a:bodyPr wrap="square" lIns="0" tIns="0" rIns="0" bIns="0" rtlCol="0" anchor="ctr"/>
          <a:lstStyle/>
          <a:p>
            <a:pPr marL="0" indent="0" algn="ctr">
              <a:buNone/>
            </a:pPr>
            <a:r>
              <a:rPr lang="en-US" sz="1400" b="1" dirty="0">
                <a:solidFill>
                  <a:srgbClr val="0E1420"/>
                </a:solidFill>
                <a:latin typeface="Arial" pitchFamily="34" charset="0"/>
                <a:ea typeface="Arial" pitchFamily="34" charset="-122"/>
                <a:cs typeface="Arial" pitchFamily="34" charset="-120"/>
              </a:rPr>
              <a:t>3</a:t>
            </a:r>
            <a:endParaRPr lang="en-US" sz="1400" dirty="0"/>
          </a:p>
        </p:txBody>
      </p:sp>
      <p:sp>
        <p:nvSpPr>
          <p:cNvPr id="23" name="Text 21"/>
          <p:cNvSpPr/>
          <p:nvPr/>
        </p:nvSpPr>
        <p:spPr>
          <a:xfrm>
            <a:off x="8851392" y="4261104"/>
            <a:ext cx="2468880" cy="274320"/>
          </a:xfrm>
          <a:prstGeom prst="rect">
            <a:avLst/>
          </a:prstGeom>
          <a:noFill/>
          <a:ln/>
        </p:spPr>
        <p:txBody>
          <a:bodyPr wrap="square" lIns="0" tIns="0" rIns="0" bIns="0" rtlCol="0" anchor="ctr"/>
          <a:lstStyle/>
          <a:p>
            <a:pPr marL="0" indent="0">
              <a:buNone/>
            </a:pPr>
            <a:r>
              <a:rPr lang="en-US" sz="1300" b="1" dirty="0">
                <a:solidFill>
                  <a:srgbClr val="E8EDF5"/>
                </a:solidFill>
                <a:latin typeface="Arial" pitchFamily="34" charset="0"/>
                <a:ea typeface="Arial" pitchFamily="34" charset="-122"/>
                <a:cs typeface="Arial" pitchFamily="34" charset="-120"/>
              </a:rPr>
              <a:t>Subcultures, not a culture</a:t>
            </a:r>
            <a:endParaRPr lang="en-US" sz="1300" dirty="0"/>
          </a:p>
        </p:txBody>
      </p:sp>
      <p:sp>
        <p:nvSpPr>
          <p:cNvPr id="24" name="Text 22"/>
          <p:cNvSpPr/>
          <p:nvPr/>
        </p:nvSpPr>
        <p:spPr>
          <a:xfrm>
            <a:off x="8321040" y="4736592"/>
            <a:ext cx="2971800" cy="1051560"/>
          </a:xfrm>
          <a:prstGeom prst="rect">
            <a:avLst/>
          </a:prstGeom>
          <a:noFill/>
          <a:ln/>
        </p:spPr>
        <p:txBody>
          <a:bodyPr wrap="square" lIns="0" tIns="0" rIns="0" bIns="0" rtlCol="0" anchor="t"/>
          <a:lstStyle/>
          <a:p>
            <a:pPr marL="0" indent="0">
              <a:lnSpc>
                <a:spcPct val="118000"/>
              </a:lnSpc>
              <a:buNone/>
            </a:pPr>
            <a:r>
              <a:rPr lang="en-US" sz="1150" dirty="0">
                <a:solidFill>
                  <a:srgbClr val="8A97AC"/>
                </a:solidFill>
                <a:latin typeface="Calibri" pitchFamily="34" charset="0"/>
                <a:ea typeface="Calibri" pitchFamily="34" charset="-122"/>
                <a:cs typeface="Calibri" pitchFamily="34" charset="-120"/>
              </a:rPr>
              <a:t>SRE, security, support, and legal hold genuinely different views of what a fair outcome looks like after an incident.</a:t>
            </a:r>
            <a:endParaRPr lang="en-US" sz="1150" dirty="0"/>
          </a:p>
        </p:txBody>
      </p:sp>
      <p:sp>
        <p:nvSpPr>
          <p:cNvPr id="25" name="Text 23"/>
          <p:cNvSpPr/>
          <p:nvPr/>
        </p:nvSpPr>
        <p:spPr>
          <a:xfrm>
            <a:off x="640080" y="6245352"/>
            <a:ext cx="10881360" cy="329184"/>
          </a:xfrm>
          <a:prstGeom prst="rect">
            <a:avLst/>
          </a:prstGeom>
          <a:noFill/>
          <a:ln/>
        </p:spPr>
        <p:txBody>
          <a:bodyPr wrap="square" lIns="0" tIns="0" rIns="0" bIns="0" rtlCol="0" anchor="t"/>
          <a:lstStyle/>
          <a:p>
            <a:pPr marL="0" indent="0">
              <a:buNone/>
            </a:pPr>
            <a:r>
              <a:rPr lang="en-US" sz="950" i="1" dirty="0">
                <a:solidFill>
                  <a:srgbClr val="8A97AC"/>
                </a:solidFill>
                <a:latin typeface="Calibri" pitchFamily="34" charset="0"/>
                <a:ea typeface="Calibri" pitchFamily="34" charset="-122"/>
                <a:cs typeface="Calibri" pitchFamily="34" charset="-120"/>
              </a:rPr>
              <a:t>Source: Shorrock, “Why Is It Just So Difficult? Barriers to ‘Just Culture’ in the Real World,” HindSight 35, EUROCONTROL (2023).</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420"/>
        </a:solidFill>
        <a:effectLst/>
      </p:bgPr>
    </p:bg>
    <p:spTree>
      <p:nvGrpSpPr>
        <p:cNvPr id="1" name=""/>
        <p:cNvGrpSpPr/>
        <p:nvPr/>
      </p:nvGrpSpPr>
      <p:grpSpPr>
        <a:xfrm>
          <a:off x="0" y="0"/>
          <a:ext cx="0" cy="0"/>
          <a:chOff x="0" y="0"/>
          <a:chExt cx="0" cy="0"/>
        </a:xfrm>
      </p:grpSpPr>
      <p:sp>
        <p:nvSpPr>
          <p:cNvPr id="2" name="Text 0"/>
          <p:cNvSpPr/>
          <p:nvPr/>
        </p:nvSpPr>
        <p:spPr>
          <a:xfrm>
            <a:off x="640080" y="310896"/>
            <a:ext cx="10881360" cy="256032"/>
          </a:xfrm>
          <a:prstGeom prst="rect">
            <a:avLst/>
          </a:prstGeom>
          <a:noFill/>
          <a:ln/>
        </p:spPr>
        <p:txBody>
          <a:bodyPr wrap="square" lIns="0" tIns="0" rIns="0" bIns="0" rtlCol="0" anchor="ctr"/>
          <a:lstStyle/>
          <a:p>
            <a:pPr marL="0" indent="0">
              <a:buNone/>
            </a:pPr>
            <a:r>
              <a:rPr lang="en-US" sz="1100" b="1" kern="0" spc="220" dirty="0">
                <a:solidFill>
                  <a:srgbClr val="F0A202"/>
                </a:solidFill>
                <a:latin typeface="Calibri" pitchFamily="34" charset="0"/>
                <a:ea typeface="Calibri" pitchFamily="34" charset="-122"/>
                <a:cs typeface="Calibri" pitchFamily="34" charset="-120"/>
              </a:rPr>
              <a:t>BARRIER 02 · COGNITIVE AND SOCIAL</a:t>
            </a:r>
            <a:endParaRPr lang="en-US" sz="1100" dirty="0"/>
          </a:p>
        </p:txBody>
      </p:sp>
      <p:sp>
        <p:nvSpPr>
          <p:cNvPr id="3" name="Text 1"/>
          <p:cNvSpPr/>
          <p:nvPr/>
        </p:nvSpPr>
        <p:spPr>
          <a:xfrm>
            <a:off x="640080" y="576072"/>
            <a:ext cx="10881360" cy="658368"/>
          </a:xfrm>
          <a:prstGeom prst="rect">
            <a:avLst/>
          </a:prstGeom>
          <a:noFill/>
          <a:ln/>
        </p:spPr>
        <p:txBody>
          <a:bodyPr wrap="square" lIns="0" tIns="0" rIns="0" bIns="0" rtlCol="0" anchor="ctr"/>
          <a:lstStyle/>
          <a:p>
            <a:pPr marL="0" indent="0">
              <a:buNone/>
            </a:pPr>
            <a:r>
              <a:rPr lang="en-US" sz="3000" b="1" dirty="0">
                <a:solidFill>
                  <a:srgbClr val="E8EDF5"/>
                </a:solidFill>
                <a:latin typeface="Arial" pitchFamily="34" charset="0"/>
                <a:ea typeface="Arial" pitchFamily="34" charset="-122"/>
                <a:cs typeface="Arial" pitchFamily="34" charset="-120"/>
              </a:rPr>
              <a:t>Our judgement is not as fair as we think</a:t>
            </a:r>
            <a:endParaRPr lang="en-US" sz="3000" dirty="0"/>
          </a:p>
        </p:txBody>
      </p:sp>
      <p:sp>
        <p:nvSpPr>
          <p:cNvPr id="4" name="Shape 2"/>
          <p:cNvSpPr/>
          <p:nvPr/>
        </p:nvSpPr>
        <p:spPr>
          <a:xfrm>
            <a:off x="640080" y="1508760"/>
            <a:ext cx="5349240" cy="1783080"/>
          </a:xfrm>
          <a:prstGeom prst="roundRect">
            <a:avLst>
              <a:gd name="adj" fmla="val 3077"/>
            </a:avLst>
          </a:prstGeom>
          <a:solidFill>
            <a:srgbClr val="232E42"/>
          </a:solidFill>
          <a:ln w="12700">
            <a:solidFill>
              <a:srgbClr val="2E3B52"/>
            </a:solidFill>
            <a:prstDash val="solid"/>
          </a:ln>
        </p:spPr>
        <p:txBody>
          <a:bodyPr/>
          <a:lstStyle/>
          <a:p>
            <a:endParaRPr lang="en-US"/>
          </a:p>
        </p:txBody>
      </p:sp>
      <p:sp>
        <p:nvSpPr>
          <p:cNvPr id="5" name="Shape 3"/>
          <p:cNvSpPr/>
          <p:nvPr/>
        </p:nvSpPr>
        <p:spPr>
          <a:xfrm>
            <a:off x="960120" y="1801368"/>
            <a:ext cx="182880" cy="182880"/>
          </a:xfrm>
          <a:prstGeom prst="ellipse">
            <a:avLst/>
          </a:prstGeom>
          <a:solidFill>
            <a:srgbClr val="2EC4B6"/>
          </a:solidFill>
          <a:ln/>
        </p:spPr>
        <p:txBody>
          <a:bodyPr/>
          <a:lstStyle/>
          <a:p>
            <a:endParaRPr lang="en-US"/>
          </a:p>
        </p:txBody>
      </p:sp>
      <p:sp>
        <p:nvSpPr>
          <p:cNvPr id="6" name="Text 4"/>
          <p:cNvSpPr/>
          <p:nvPr/>
        </p:nvSpPr>
        <p:spPr>
          <a:xfrm>
            <a:off x="1261872" y="1728216"/>
            <a:ext cx="4480560" cy="310896"/>
          </a:xfrm>
          <a:prstGeom prst="rect">
            <a:avLst/>
          </a:prstGeom>
          <a:noFill/>
          <a:ln/>
        </p:spPr>
        <p:txBody>
          <a:bodyPr wrap="square" lIns="0" tIns="0" rIns="0" bIns="0" rtlCol="0" anchor="ctr"/>
          <a:lstStyle/>
          <a:p>
            <a:pPr marL="0" indent="0">
              <a:buNone/>
            </a:pPr>
            <a:r>
              <a:rPr lang="en-US" sz="1500" b="1" dirty="0">
                <a:solidFill>
                  <a:srgbClr val="E8EDF5"/>
                </a:solidFill>
                <a:latin typeface="Arial" pitchFamily="34" charset="0"/>
                <a:ea typeface="Arial" pitchFamily="34" charset="-122"/>
                <a:cs typeface="Arial" pitchFamily="34" charset="-120"/>
              </a:rPr>
              <a:t>Outcome and hindsight bias</a:t>
            </a:r>
            <a:endParaRPr lang="en-US" sz="1500" dirty="0"/>
          </a:p>
        </p:txBody>
      </p:sp>
      <p:sp>
        <p:nvSpPr>
          <p:cNvPr id="7" name="Text 5"/>
          <p:cNvSpPr/>
          <p:nvPr/>
        </p:nvSpPr>
        <p:spPr>
          <a:xfrm>
            <a:off x="960120" y="2194560"/>
            <a:ext cx="4709160" cy="1280160"/>
          </a:xfrm>
          <a:prstGeom prst="rect">
            <a:avLst/>
          </a:prstGeom>
          <a:noFill/>
          <a:ln/>
        </p:spPr>
        <p:txBody>
          <a:bodyPr wrap="square" lIns="0" tIns="0" rIns="0" bIns="0" rtlCol="0" anchor="t"/>
          <a:lstStyle/>
          <a:p>
            <a:pPr marL="0" indent="0">
              <a:lnSpc>
                <a:spcPct val="122000"/>
              </a:lnSpc>
              <a:buNone/>
            </a:pPr>
            <a:r>
              <a:rPr lang="en-US" sz="1250" dirty="0">
                <a:solidFill>
                  <a:srgbClr val="8A97AC"/>
                </a:solidFill>
                <a:latin typeface="Calibri" pitchFamily="34" charset="0"/>
                <a:ea typeface="Calibri" pitchFamily="34" charset="-122"/>
                <a:cs typeface="Calibri" pitchFamily="34" charset="-120"/>
              </a:rPr>
              <a:t>The same decision is judged competent after a near-miss and negligent after an outage. Severity of outcome, not quality of reasoning, drives the verdict.</a:t>
            </a:r>
            <a:endParaRPr lang="en-US" sz="1250" dirty="0"/>
          </a:p>
        </p:txBody>
      </p:sp>
      <p:sp>
        <p:nvSpPr>
          <p:cNvPr id="8" name="Shape 6"/>
          <p:cNvSpPr/>
          <p:nvPr/>
        </p:nvSpPr>
        <p:spPr>
          <a:xfrm>
            <a:off x="6172200" y="1508760"/>
            <a:ext cx="5349240" cy="1783080"/>
          </a:xfrm>
          <a:prstGeom prst="roundRect">
            <a:avLst>
              <a:gd name="adj" fmla="val 3077"/>
            </a:avLst>
          </a:prstGeom>
          <a:solidFill>
            <a:srgbClr val="1A2333"/>
          </a:solidFill>
          <a:ln w="12700">
            <a:solidFill>
              <a:srgbClr val="2E3B52"/>
            </a:solidFill>
            <a:prstDash val="solid"/>
          </a:ln>
        </p:spPr>
        <p:txBody>
          <a:bodyPr/>
          <a:lstStyle/>
          <a:p>
            <a:endParaRPr lang="en-US"/>
          </a:p>
        </p:txBody>
      </p:sp>
      <p:sp>
        <p:nvSpPr>
          <p:cNvPr id="9" name="Shape 7"/>
          <p:cNvSpPr/>
          <p:nvPr/>
        </p:nvSpPr>
        <p:spPr>
          <a:xfrm>
            <a:off x="6492240" y="1801368"/>
            <a:ext cx="182880" cy="182880"/>
          </a:xfrm>
          <a:prstGeom prst="ellipse">
            <a:avLst/>
          </a:prstGeom>
          <a:solidFill>
            <a:srgbClr val="F0A202"/>
          </a:solidFill>
          <a:ln/>
        </p:spPr>
        <p:txBody>
          <a:bodyPr/>
          <a:lstStyle/>
          <a:p>
            <a:endParaRPr lang="en-US"/>
          </a:p>
        </p:txBody>
      </p:sp>
      <p:sp>
        <p:nvSpPr>
          <p:cNvPr id="10" name="Text 8"/>
          <p:cNvSpPr/>
          <p:nvPr/>
        </p:nvSpPr>
        <p:spPr>
          <a:xfrm>
            <a:off x="6793992" y="1728216"/>
            <a:ext cx="4480560" cy="310896"/>
          </a:xfrm>
          <a:prstGeom prst="rect">
            <a:avLst/>
          </a:prstGeom>
          <a:noFill/>
          <a:ln/>
        </p:spPr>
        <p:txBody>
          <a:bodyPr wrap="square" lIns="0" tIns="0" rIns="0" bIns="0" rtlCol="0" anchor="ctr"/>
          <a:lstStyle/>
          <a:p>
            <a:pPr marL="0" indent="0">
              <a:buNone/>
            </a:pPr>
            <a:r>
              <a:rPr lang="en-US" sz="1500" b="1" dirty="0">
                <a:solidFill>
                  <a:srgbClr val="E8EDF5"/>
                </a:solidFill>
                <a:latin typeface="Arial" pitchFamily="34" charset="0"/>
                <a:ea typeface="Arial" pitchFamily="34" charset="-122"/>
                <a:cs typeface="Arial" pitchFamily="34" charset="-120"/>
              </a:rPr>
              <a:t>Trust is asymmetric</a:t>
            </a:r>
            <a:endParaRPr lang="en-US" sz="1500" dirty="0"/>
          </a:p>
        </p:txBody>
      </p:sp>
      <p:sp>
        <p:nvSpPr>
          <p:cNvPr id="11" name="Text 9"/>
          <p:cNvSpPr/>
          <p:nvPr/>
        </p:nvSpPr>
        <p:spPr>
          <a:xfrm>
            <a:off x="6492240" y="2194560"/>
            <a:ext cx="4709160" cy="1280160"/>
          </a:xfrm>
          <a:prstGeom prst="rect">
            <a:avLst/>
          </a:prstGeom>
          <a:noFill/>
          <a:ln/>
        </p:spPr>
        <p:txBody>
          <a:bodyPr wrap="square" lIns="0" tIns="0" rIns="0" bIns="0" rtlCol="0" anchor="t"/>
          <a:lstStyle/>
          <a:p>
            <a:pPr marL="0" indent="0">
              <a:lnSpc>
                <a:spcPct val="122000"/>
              </a:lnSpc>
              <a:buNone/>
            </a:pPr>
            <a:r>
              <a:rPr lang="en-US" sz="1250" dirty="0">
                <a:solidFill>
                  <a:srgbClr val="8A97AC"/>
                </a:solidFill>
                <a:latin typeface="Calibri" pitchFamily="34" charset="0"/>
                <a:ea typeface="Calibri" pitchFamily="34" charset="-122"/>
                <a:cs typeface="Calibri" pitchFamily="34" charset="-120"/>
              </a:rPr>
              <a:t>It takes years to build confidence that honest mistakes are safe to admit, and one unsympathetic manager to undo it. Just culture is fragile by construction.</a:t>
            </a:r>
            <a:endParaRPr lang="en-US" sz="1250" dirty="0"/>
          </a:p>
        </p:txBody>
      </p:sp>
      <p:sp>
        <p:nvSpPr>
          <p:cNvPr id="12" name="Shape 10"/>
          <p:cNvSpPr/>
          <p:nvPr/>
        </p:nvSpPr>
        <p:spPr>
          <a:xfrm>
            <a:off x="640080" y="3657600"/>
            <a:ext cx="5349240" cy="1783080"/>
          </a:xfrm>
          <a:prstGeom prst="roundRect">
            <a:avLst>
              <a:gd name="adj" fmla="val 3077"/>
            </a:avLst>
          </a:prstGeom>
          <a:solidFill>
            <a:srgbClr val="1A2333"/>
          </a:solidFill>
          <a:ln w="12700">
            <a:solidFill>
              <a:srgbClr val="2E3B52"/>
            </a:solidFill>
            <a:prstDash val="solid"/>
          </a:ln>
        </p:spPr>
        <p:txBody>
          <a:bodyPr/>
          <a:lstStyle/>
          <a:p>
            <a:endParaRPr lang="en-US"/>
          </a:p>
        </p:txBody>
      </p:sp>
      <p:sp>
        <p:nvSpPr>
          <p:cNvPr id="13" name="Shape 11"/>
          <p:cNvSpPr/>
          <p:nvPr/>
        </p:nvSpPr>
        <p:spPr>
          <a:xfrm>
            <a:off x="960120" y="3950208"/>
            <a:ext cx="182880" cy="182880"/>
          </a:xfrm>
          <a:prstGeom prst="ellipse">
            <a:avLst/>
          </a:prstGeom>
          <a:solidFill>
            <a:srgbClr val="E4572E"/>
          </a:solidFill>
          <a:ln/>
        </p:spPr>
        <p:txBody>
          <a:bodyPr/>
          <a:lstStyle/>
          <a:p>
            <a:endParaRPr lang="en-US"/>
          </a:p>
        </p:txBody>
      </p:sp>
      <p:sp>
        <p:nvSpPr>
          <p:cNvPr id="14" name="Text 12"/>
          <p:cNvSpPr/>
          <p:nvPr/>
        </p:nvSpPr>
        <p:spPr>
          <a:xfrm>
            <a:off x="1261872" y="3877056"/>
            <a:ext cx="4480560" cy="310896"/>
          </a:xfrm>
          <a:prstGeom prst="rect">
            <a:avLst/>
          </a:prstGeom>
          <a:noFill/>
          <a:ln/>
        </p:spPr>
        <p:txBody>
          <a:bodyPr wrap="square" lIns="0" tIns="0" rIns="0" bIns="0" rtlCol="0" anchor="ctr"/>
          <a:lstStyle/>
          <a:p>
            <a:pPr marL="0" indent="0">
              <a:buNone/>
            </a:pPr>
            <a:r>
              <a:rPr lang="en-US" sz="1500" b="1" dirty="0">
                <a:solidFill>
                  <a:srgbClr val="E8EDF5"/>
                </a:solidFill>
                <a:latin typeface="Arial" pitchFamily="34" charset="0"/>
                <a:ea typeface="Arial" pitchFamily="34" charset="-122"/>
                <a:cs typeface="Arial" pitchFamily="34" charset="-120"/>
              </a:rPr>
              <a:t>Peers judge hardest</a:t>
            </a:r>
            <a:endParaRPr lang="en-US" sz="1500" dirty="0"/>
          </a:p>
        </p:txBody>
      </p:sp>
      <p:sp>
        <p:nvSpPr>
          <p:cNvPr id="15" name="Text 13"/>
          <p:cNvSpPr/>
          <p:nvPr/>
        </p:nvSpPr>
        <p:spPr>
          <a:xfrm>
            <a:off x="960120" y="4343400"/>
            <a:ext cx="4709160" cy="1280160"/>
          </a:xfrm>
          <a:prstGeom prst="rect">
            <a:avLst/>
          </a:prstGeom>
          <a:noFill/>
          <a:ln/>
        </p:spPr>
        <p:txBody>
          <a:bodyPr wrap="square" lIns="0" tIns="0" rIns="0" bIns="0" rtlCol="0" anchor="t"/>
          <a:lstStyle/>
          <a:p>
            <a:pPr marL="0" indent="0">
              <a:lnSpc>
                <a:spcPct val="122000"/>
              </a:lnSpc>
              <a:buNone/>
            </a:pPr>
            <a:r>
              <a:rPr lang="en-US" sz="1250" dirty="0">
                <a:solidFill>
                  <a:srgbClr val="8A97AC"/>
                </a:solidFill>
                <a:latin typeface="Calibri" pitchFamily="34" charset="0"/>
                <a:ea typeface="Calibri" pitchFamily="34" charset="-122"/>
                <a:cs typeface="Calibri" pitchFamily="34" charset="-120"/>
              </a:rPr>
              <a:t>Engineers fear the judgement of other engineers more than management. Insider knowledge plus high expectations makes for the harshest critics.</a:t>
            </a:r>
            <a:endParaRPr lang="en-US" sz="1250" dirty="0"/>
          </a:p>
        </p:txBody>
      </p:sp>
      <p:sp>
        <p:nvSpPr>
          <p:cNvPr id="16" name="Shape 14"/>
          <p:cNvSpPr/>
          <p:nvPr/>
        </p:nvSpPr>
        <p:spPr>
          <a:xfrm>
            <a:off x="6172200" y="3657600"/>
            <a:ext cx="5349240" cy="1783080"/>
          </a:xfrm>
          <a:prstGeom prst="roundRect">
            <a:avLst>
              <a:gd name="adj" fmla="val 3077"/>
            </a:avLst>
          </a:prstGeom>
          <a:solidFill>
            <a:srgbClr val="232E42"/>
          </a:solidFill>
          <a:ln w="12700">
            <a:solidFill>
              <a:srgbClr val="2E3B52"/>
            </a:solidFill>
            <a:prstDash val="solid"/>
          </a:ln>
        </p:spPr>
        <p:txBody>
          <a:bodyPr/>
          <a:lstStyle/>
          <a:p>
            <a:endParaRPr lang="en-US"/>
          </a:p>
        </p:txBody>
      </p:sp>
      <p:sp>
        <p:nvSpPr>
          <p:cNvPr id="17" name="Shape 15"/>
          <p:cNvSpPr/>
          <p:nvPr/>
        </p:nvSpPr>
        <p:spPr>
          <a:xfrm>
            <a:off x="6492240" y="3950208"/>
            <a:ext cx="182880" cy="182880"/>
          </a:xfrm>
          <a:prstGeom prst="ellipse">
            <a:avLst/>
          </a:prstGeom>
          <a:solidFill>
            <a:srgbClr val="7C8CF5"/>
          </a:solidFill>
          <a:ln/>
        </p:spPr>
        <p:txBody>
          <a:bodyPr/>
          <a:lstStyle/>
          <a:p>
            <a:endParaRPr lang="en-US"/>
          </a:p>
        </p:txBody>
      </p:sp>
      <p:sp>
        <p:nvSpPr>
          <p:cNvPr id="18" name="Text 16"/>
          <p:cNvSpPr/>
          <p:nvPr/>
        </p:nvSpPr>
        <p:spPr>
          <a:xfrm>
            <a:off x="6793992" y="3877056"/>
            <a:ext cx="4480560" cy="310896"/>
          </a:xfrm>
          <a:prstGeom prst="rect">
            <a:avLst/>
          </a:prstGeom>
          <a:noFill/>
          <a:ln/>
        </p:spPr>
        <p:txBody>
          <a:bodyPr wrap="square" lIns="0" tIns="0" rIns="0" bIns="0" rtlCol="0" anchor="ctr"/>
          <a:lstStyle/>
          <a:p>
            <a:pPr marL="0" indent="0">
              <a:buNone/>
            </a:pPr>
            <a:r>
              <a:rPr lang="en-US" sz="1500" b="1" dirty="0">
                <a:solidFill>
                  <a:srgbClr val="E8EDF5"/>
                </a:solidFill>
                <a:latin typeface="Arial" pitchFamily="34" charset="0"/>
                <a:ea typeface="Arial" pitchFamily="34" charset="-122"/>
                <a:cs typeface="Arial" pitchFamily="34" charset="-120"/>
              </a:rPr>
              <a:t>Organizational memory</a:t>
            </a:r>
            <a:endParaRPr lang="en-US" sz="1500" dirty="0"/>
          </a:p>
        </p:txBody>
      </p:sp>
      <p:sp>
        <p:nvSpPr>
          <p:cNvPr id="19" name="Text 17"/>
          <p:cNvSpPr/>
          <p:nvPr/>
        </p:nvSpPr>
        <p:spPr>
          <a:xfrm>
            <a:off x="6492240" y="4343400"/>
            <a:ext cx="4709160" cy="1280160"/>
          </a:xfrm>
          <a:prstGeom prst="rect">
            <a:avLst/>
          </a:prstGeom>
          <a:noFill/>
          <a:ln/>
        </p:spPr>
        <p:txBody>
          <a:bodyPr wrap="square" lIns="0" tIns="0" rIns="0" bIns="0" rtlCol="0" anchor="t"/>
          <a:lstStyle/>
          <a:p>
            <a:pPr marL="0" indent="0">
              <a:lnSpc>
                <a:spcPct val="122000"/>
              </a:lnSpc>
              <a:buNone/>
            </a:pPr>
            <a:r>
              <a:rPr lang="en-US" sz="1250" dirty="0">
                <a:solidFill>
                  <a:srgbClr val="8A97AC"/>
                </a:solidFill>
                <a:latin typeface="Calibri" pitchFamily="34" charset="0"/>
                <a:ea typeface="Calibri" pitchFamily="34" charset="-122"/>
                <a:cs typeface="Calibri" pitchFamily="34" charset="-120"/>
              </a:rPr>
              <a:t>One person blamed for an honest mistake is “like a social oil spill.” It shapes behavior for years, including for people who joined after it happened.</a:t>
            </a:r>
            <a:endParaRPr lang="en-US" sz="1250" dirty="0"/>
          </a:p>
        </p:txBody>
      </p:sp>
      <p:sp>
        <p:nvSpPr>
          <p:cNvPr id="20" name="Text 18"/>
          <p:cNvSpPr/>
          <p:nvPr/>
        </p:nvSpPr>
        <p:spPr>
          <a:xfrm>
            <a:off x="640080" y="6245352"/>
            <a:ext cx="10881360" cy="329184"/>
          </a:xfrm>
          <a:prstGeom prst="rect">
            <a:avLst/>
          </a:prstGeom>
          <a:noFill/>
          <a:ln/>
        </p:spPr>
        <p:txBody>
          <a:bodyPr wrap="square" lIns="0" tIns="0" rIns="0" bIns="0" rtlCol="0" anchor="t"/>
          <a:lstStyle/>
          <a:p>
            <a:pPr marL="0" indent="0">
              <a:buNone/>
            </a:pPr>
            <a:r>
              <a:rPr lang="en-US" sz="950" i="1" dirty="0">
                <a:solidFill>
                  <a:srgbClr val="8A97AC"/>
                </a:solidFill>
                <a:latin typeface="Calibri" pitchFamily="34" charset="0"/>
                <a:ea typeface="Calibri" pitchFamily="34" charset="-122"/>
                <a:cs typeface="Calibri" pitchFamily="34" charset="-120"/>
              </a:rPr>
              <a:t>Source: Shorrock, HindSight 35 (2023); Edmondson, “Psychological Safety and Learning Behavior in Work Teams,” ASQ 44:2 (1999).</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420"/>
        </a:solidFill>
        <a:effectLst/>
      </p:bgPr>
    </p:bg>
    <p:spTree>
      <p:nvGrpSpPr>
        <p:cNvPr id="1" name=""/>
        <p:cNvGrpSpPr/>
        <p:nvPr/>
      </p:nvGrpSpPr>
      <p:grpSpPr>
        <a:xfrm>
          <a:off x="0" y="0"/>
          <a:ext cx="0" cy="0"/>
          <a:chOff x="0" y="0"/>
          <a:chExt cx="0" cy="0"/>
        </a:xfrm>
      </p:grpSpPr>
      <p:sp>
        <p:nvSpPr>
          <p:cNvPr id="2" name="Text 0"/>
          <p:cNvSpPr/>
          <p:nvPr/>
        </p:nvSpPr>
        <p:spPr>
          <a:xfrm>
            <a:off x="640080" y="310896"/>
            <a:ext cx="10881360" cy="256032"/>
          </a:xfrm>
          <a:prstGeom prst="rect">
            <a:avLst/>
          </a:prstGeom>
          <a:noFill/>
          <a:ln/>
        </p:spPr>
        <p:txBody>
          <a:bodyPr wrap="square" lIns="0" tIns="0" rIns="0" bIns="0" rtlCol="0" anchor="ctr"/>
          <a:lstStyle/>
          <a:p>
            <a:pPr marL="0" indent="0">
              <a:buNone/>
            </a:pPr>
            <a:r>
              <a:rPr lang="en-US" sz="1100" b="1" kern="0" spc="220" dirty="0">
                <a:solidFill>
                  <a:srgbClr val="F0A202"/>
                </a:solidFill>
                <a:latin typeface="Calibri" pitchFamily="34" charset="0"/>
                <a:ea typeface="Calibri" pitchFamily="34" charset="-122"/>
                <a:cs typeface="Calibri" pitchFamily="34" charset="-120"/>
              </a:rPr>
              <a:t>BARRIER 03 · ORGANIZATIONAL AND LEADERSHIP</a:t>
            </a:r>
            <a:endParaRPr lang="en-US" sz="1100" dirty="0"/>
          </a:p>
        </p:txBody>
      </p:sp>
      <p:sp>
        <p:nvSpPr>
          <p:cNvPr id="3" name="Text 1"/>
          <p:cNvSpPr/>
          <p:nvPr/>
        </p:nvSpPr>
        <p:spPr>
          <a:xfrm>
            <a:off x="640080" y="576072"/>
            <a:ext cx="10881360" cy="658368"/>
          </a:xfrm>
          <a:prstGeom prst="rect">
            <a:avLst/>
          </a:prstGeom>
          <a:noFill/>
          <a:ln/>
        </p:spPr>
        <p:txBody>
          <a:bodyPr wrap="square" lIns="0" tIns="0" rIns="0" bIns="0" rtlCol="0" anchor="ctr"/>
          <a:lstStyle/>
          <a:p>
            <a:pPr marL="0" indent="0">
              <a:buNone/>
            </a:pPr>
            <a:r>
              <a:rPr lang="en-US" sz="3000" b="1" dirty="0">
                <a:solidFill>
                  <a:srgbClr val="E8EDF5"/>
                </a:solidFill>
                <a:latin typeface="Arial" pitchFamily="34" charset="0"/>
                <a:ea typeface="Arial" pitchFamily="34" charset="-122"/>
                <a:cs typeface="Arial" pitchFamily="34" charset="-120"/>
              </a:rPr>
              <a:t>Someone senior still wants a name</a:t>
            </a:r>
            <a:endParaRPr lang="en-US" sz="3000" dirty="0"/>
          </a:p>
        </p:txBody>
      </p:sp>
      <p:sp>
        <p:nvSpPr>
          <p:cNvPr id="4" name="Shape 2"/>
          <p:cNvSpPr/>
          <p:nvPr/>
        </p:nvSpPr>
        <p:spPr>
          <a:xfrm>
            <a:off x="640080" y="1463040"/>
            <a:ext cx="10881360" cy="1024128"/>
          </a:xfrm>
          <a:prstGeom prst="roundRect">
            <a:avLst>
              <a:gd name="adj" fmla="val 5357"/>
            </a:avLst>
          </a:prstGeom>
          <a:solidFill>
            <a:srgbClr val="1A2333"/>
          </a:solidFill>
          <a:ln w="12700">
            <a:solidFill>
              <a:srgbClr val="2E3B52"/>
            </a:solidFill>
            <a:prstDash val="solid"/>
          </a:ln>
        </p:spPr>
        <p:txBody>
          <a:bodyPr/>
          <a:lstStyle/>
          <a:p>
            <a:endParaRPr lang="en-US"/>
          </a:p>
        </p:txBody>
      </p:sp>
      <p:sp>
        <p:nvSpPr>
          <p:cNvPr id="5" name="Shape 3"/>
          <p:cNvSpPr/>
          <p:nvPr/>
        </p:nvSpPr>
        <p:spPr>
          <a:xfrm>
            <a:off x="914400" y="1764792"/>
            <a:ext cx="420624" cy="420624"/>
          </a:xfrm>
          <a:prstGeom prst="ellipse">
            <a:avLst/>
          </a:prstGeom>
          <a:solidFill>
            <a:srgbClr val="F0A202"/>
          </a:solidFill>
          <a:ln/>
        </p:spPr>
        <p:txBody>
          <a:bodyPr/>
          <a:lstStyle/>
          <a:p>
            <a:endParaRPr lang="en-US"/>
          </a:p>
        </p:txBody>
      </p:sp>
      <p:sp>
        <p:nvSpPr>
          <p:cNvPr id="6" name="Text 4"/>
          <p:cNvSpPr/>
          <p:nvPr/>
        </p:nvSpPr>
        <p:spPr>
          <a:xfrm>
            <a:off x="914400" y="1764792"/>
            <a:ext cx="420624" cy="420624"/>
          </a:xfrm>
          <a:prstGeom prst="rect">
            <a:avLst/>
          </a:prstGeom>
          <a:noFill/>
          <a:ln/>
        </p:spPr>
        <p:txBody>
          <a:bodyPr wrap="square" lIns="0" tIns="0" rIns="0" bIns="0" rtlCol="0" anchor="ctr"/>
          <a:lstStyle/>
          <a:p>
            <a:pPr marL="0" indent="0" algn="ctr">
              <a:buNone/>
            </a:pPr>
            <a:r>
              <a:rPr lang="en-US" sz="1400" b="1" dirty="0">
                <a:solidFill>
                  <a:srgbClr val="0E1420"/>
                </a:solidFill>
                <a:latin typeface="Arial" pitchFamily="34" charset="0"/>
                <a:ea typeface="Arial" pitchFamily="34" charset="-122"/>
                <a:cs typeface="Arial" pitchFamily="34" charset="-120"/>
              </a:rPr>
              <a:t>01</a:t>
            </a:r>
            <a:endParaRPr lang="en-US" sz="1400" dirty="0"/>
          </a:p>
        </p:txBody>
      </p:sp>
      <p:sp>
        <p:nvSpPr>
          <p:cNvPr id="7" name="Text 5"/>
          <p:cNvSpPr/>
          <p:nvPr/>
        </p:nvSpPr>
        <p:spPr>
          <a:xfrm>
            <a:off x="1481328" y="1645920"/>
            <a:ext cx="3566160" cy="658368"/>
          </a:xfrm>
          <a:prstGeom prst="rect">
            <a:avLst/>
          </a:prstGeom>
          <a:noFill/>
          <a:ln/>
        </p:spPr>
        <p:txBody>
          <a:bodyPr wrap="square" lIns="0" tIns="0" rIns="0" bIns="0" rtlCol="0" anchor="ctr"/>
          <a:lstStyle/>
          <a:p>
            <a:pPr marL="0" indent="0">
              <a:buNone/>
            </a:pPr>
            <a:r>
              <a:rPr lang="en-US" sz="1400" b="1" dirty="0">
                <a:solidFill>
                  <a:srgbClr val="E8EDF5"/>
                </a:solidFill>
                <a:latin typeface="Arial" pitchFamily="34" charset="0"/>
                <a:ea typeface="Arial" pitchFamily="34" charset="-122"/>
                <a:cs typeface="Arial" pitchFamily="34" charset="-120"/>
              </a:rPr>
              <a:t>Leadership asks “who did this?”</a:t>
            </a:r>
            <a:endParaRPr lang="en-US" sz="1400" dirty="0"/>
          </a:p>
        </p:txBody>
      </p:sp>
      <p:sp>
        <p:nvSpPr>
          <p:cNvPr id="8" name="Text 6"/>
          <p:cNvSpPr/>
          <p:nvPr/>
        </p:nvSpPr>
        <p:spPr>
          <a:xfrm>
            <a:off x="5212080" y="1645920"/>
            <a:ext cx="6035040" cy="658368"/>
          </a:xfrm>
          <a:prstGeom prst="rect">
            <a:avLst/>
          </a:prstGeom>
          <a:noFill/>
          <a:ln/>
        </p:spPr>
        <p:txBody>
          <a:bodyPr wrap="square" lIns="0" tIns="0" rIns="0" bIns="0" rtlCol="0" anchor="ctr"/>
          <a:lstStyle/>
          <a:p>
            <a:pPr marL="0" indent="0">
              <a:lnSpc>
                <a:spcPct val="118000"/>
              </a:lnSpc>
              <a:buNone/>
            </a:pPr>
            <a:r>
              <a:rPr lang="en-US" sz="1250" dirty="0">
                <a:solidFill>
                  <a:srgbClr val="8A97AC"/>
                </a:solidFill>
                <a:latin typeface="Calibri" pitchFamily="34" charset="0"/>
                <a:ea typeface="Calibri" pitchFamily="34" charset="-122"/>
                <a:cs typeface="Calibri" pitchFamily="34" charset="-120"/>
              </a:rPr>
              <a:t>The hardest practical problem in running a blameless review. The facilitator has to redirect the question without dismissing the concern behind it.</a:t>
            </a:r>
            <a:endParaRPr lang="en-US" sz="1250" dirty="0"/>
          </a:p>
        </p:txBody>
      </p:sp>
      <p:sp>
        <p:nvSpPr>
          <p:cNvPr id="9" name="Shape 7"/>
          <p:cNvSpPr/>
          <p:nvPr/>
        </p:nvSpPr>
        <p:spPr>
          <a:xfrm>
            <a:off x="640080" y="2633472"/>
            <a:ext cx="10881360" cy="1024128"/>
          </a:xfrm>
          <a:prstGeom prst="roundRect">
            <a:avLst>
              <a:gd name="adj" fmla="val 5357"/>
            </a:avLst>
          </a:prstGeom>
          <a:solidFill>
            <a:srgbClr val="1A2333"/>
          </a:solidFill>
          <a:ln w="12700">
            <a:solidFill>
              <a:srgbClr val="2E3B52"/>
            </a:solidFill>
            <a:prstDash val="solid"/>
          </a:ln>
        </p:spPr>
        <p:txBody>
          <a:bodyPr/>
          <a:lstStyle/>
          <a:p>
            <a:endParaRPr lang="en-US"/>
          </a:p>
        </p:txBody>
      </p:sp>
      <p:sp>
        <p:nvSpPr>
          <p:cNvPr id="10" name="Shape 8"/>
          <p:cNvSpPr/>
          <p:nvPr/>
        </p:nvSpPr>
        <p:spPr>
          <a:xfrm>
            <a:off x="914400" y="2935224"/>
            <a:ext cx="420624" cy="420624"/>
          </a:xfrm>
          <a:prstGeom prst="ellipse">
            <a:avLst/>
          </a:prstGeom>
          <a:solidFill>
            <a:srgbClr val="F0A202"/>
          </a:solidFill>
          <a:ln/>
        </p:spPr>
        <p:txBody>
          <a:bodyPr/>
          <a:lstStyle/>
          <a:p>
            <a:endParaRPr lang="en-US"/>
          </a:p>
        </p:txBody>
      </p:sp>
      <p:sp>
        <p:nvSpPr>
          <p:cNvPr id="11" name="Text 9"/>
          <p:cNvSpPr/>
          <p:nvPr/>
        </p:nvSpPr>
        <p:spPr>
          <a:xfrm>
            <a:off x="914400" y="2935224"/>
            <a:ext cx="420624" cy="420624"/>
          </a:xfrm>
          <a:prstGeom prst="rect">
            <a:avLst/>
          </a:prstGeom>
          <a:noFill/>
          <a:ln/>
        </p:spPr>
        <p:txBody>
          <a:bodyPr wrap="square" lIns="0" tIns="0" rIns="0" bIns="0" rtlCol="0" anchor="ctr"/>
          <a:lstStyle/>
          <a:p>
            <a:pPr marL="0" indent="0" algn="ctr">
              <a:buNone/>
            </a:pPr>
            <a:r>
              <a:rPr lang="en-US" sz="1400" b="1" dirty="0">
                <a:solidFill>
                  <a:srgbClr val="0E1420"/>
                </a:solidFill>
                <a:latin typeface="Arial" pitchFamily="34" charset="0"/>
                <a:ea typeface="Arial" pitchFamily="34" charset="-122"/>
                <a:cs typeface="Arial" pitchFamily="34" charset="-120"/>
              </a:rPr>
              <a:t>02</a:t>
            </a:r>
            <a:endParaRPr lang="en-US" sz="1400" dirty="0"/>
          </a:p>
        </p:txBody>
      </p:sp>
      <p:sp>
        <p:nvSpPr>
          <p:cNvPr id="12" name="Text 10"/>
          <p:cNvSpPr/>
          <p:nvPr/>
        </p:nvSpPr>
        <p:spPr>
          <a:xfrm>
            <a:off x="1481328" y="2816352"/>
            <a:ext cx="3566160" cy="658368"/>
          </a:xfrm>
          <a:prstGeom prst="rect">
            <a:avLst/>
          </a:prstGeom>
          <a:noFill/>
          <a:ln/>
        </p:spPr>
        <p:txBody>
          <a:bodyPr wrap="square" lIns="0" tIns="0" rIns="0" bIns="0" rtlCol="0" anchor="ctr"/>
          <a:lstStyle/>
          <a:p>
            <a:pPr marL="0" indent="0">
              <a:buNone/>
            </a:pPr>
            <a:r>
              <a:rPr lang="en-US" sz="1400" b="1" dirty="0">
                <a:solidFill>
                  <a:srgbClr val="E8EDF5"/>
                </a:solidFill>
                <a:latin typeface="Arial" pitchFamily="34" charset="0"/>
                <a:ea typeface="Arial" pitchFamily="34" charset="-122"/>
                <a:cs typeface="Arial" pitchFamily="34" charset="-120"/>
              </a:rPr>
              <a:t>Inconsistent handling erodes the policy</a:t>
            </a:r>
            <a:endParaRPr lang="en-US" sz="1400" dirty="0"/>
          </a:p>
        </p:txBody>
      </p:sp>
      <p:sp>
        <p:nvSpPr>
          <p:cNvPr id="13" name="Text 11"/>
          <p:cNvSpPr/>
          <p:nvPr/>
        </p:nvSpPr>
        <p:spPr>
          <a:xfrm>
            <a:off x="5212080" y="2816352"/>
            <a:ext cx="6035040" cy="658368"/>
          </a:xfrm>
          <a:prstGeom prst="rect">
            <a:avLst/>
          </a:prstGeom>
          <a:noFill/>
          <a:ln/>
        </p:spPr>
        <p:txBody>
          <a:bodyPr wrap="square" lIns="0" tIns="0" rIns="0" bIns="0" rtlCol="0" anchor="ctr"/>
          <a:lstStyle/>
          <a:p>
            <a:pPr marL="0" indent="0">
              <a:lnSpc>
                <a:spcPct val="118000"/>
              </a:lnSpc>
              <a:buNone/>
            </a:pPr>
            <a:r>
              <a:rPr lang="en-US" sz="1250" dirty="0">
                <a:solidFill>
                  <a:srgbClr val="8A97AC"/>
                </a:solidFill>
                <a:latin typeface="Calibri" pitchFamily="34" charset="0"/>
                <a:ea typeface="Calibri" pitchFamily="34" charset="-122"/>
                <a:cs typeface="Calibri" pitchFamily="34" charset="-120"/>
              </a:rPr>
              <a:t>Two similar incidents, two different outcomes, and the written policy stops mattering. People calibrate on what happened last time, not what is documented.</a:t>
            </a:r>
            <a:endParaRPr lang="en-US" sz="1250" dirty="0"/>
          </a:p>
        </p:txBody>
      </p:sp>
      <p:sp>
        <p:nvSpPr>
          <p:cNvPr id="14" name="Shape 12"/>
          <p:cNvSpPr/>
          <p:nvPr/>
        </p:nvSpPr>
        <p:spPr>
          <a:xfrm>
            <a:off x="640080" y="3803904"/>
            <a:ext cx="10881360" cy="1024128"/>
          </a:xfrm>
          <a:prstGeom prst="roundRect">
            <a:avLst>
              <a:gd name="adj" fmla="val 5357"/>
            </a:avLst>
          </a:prstGeom>
          <a:solidFill>
            <a:srgbClr val="1A2333"/>
          </a:solidFill>
          <a:ln w="12700">
            <a:solidFill>
              <a:srgbClr val="2E3B52"/>
            </a:solidFill>
            <a:prstDash val="solid"/>
          </a:ln>
        </p:spPr>
        <p:txBody>
          <a:bodyPr/>
          <a:lstStyle/>
          <a:p>
            <a:endParaRPr lang="en-US"/>
          </a:p>
        </p:txBody>
      </p:sp>
      <p:sp>
        <p:nvSpPr>
          <p:cNvPr id="15" name="Shape 13"/>
          <p:cNvSpPr/>
          <p:nvPr/>
        </p:nvSpPr>
        <p:spPr>
          <a:xfrm>
            <a:off x="914400" y="4105656"/>
            <a:ext cx="420624" cy="420624"/>
          </a:xfrm>
          <a:prstGeom prst="ellipse">
            <a:avLst/>
          </a:prstGeom>
          <a:solidFill>
            <a:srgbClr val="2EC4B6"/>
          </a:solidFill>
          <a:ln/>
        </p:spPr>
        <p:txBody>
          <a:bodyPr/>
          <a:lstStyle/>
          <a:p>
            <a:endParaRPr lang="en-US"/>
          </a:p>
        </p:txBody>
      </p:sp>
      <p:sp>
        <p:nvSpPr>
          <p:cNvPr id="16" name="Text 14"/>
          <p:cNvSpPr/>
          <p:nvPr/>
        </p:nvSpPr>
        <p:spPr>
          <a:xfrm>
            <a:off x="914400" y="4105656"/>
            <a:ext cx="420624" cy="420624"/>
          </a:xfrm>
          <a:prstGeom prst="rect">
            <a:avLst/>
          </a:prstGeom>
          <a:noFill/>
          <a:ln/>
        </p:spPr>
        <p:txBody>
          <a:bodyPr wrap="square" lIns="0" tIns="0" rIns="0" bIns="0" rtlCol="0" anchor="ctr"/>
          <a:lstStyle/>
          <a:p>
            <a:pPr marL="0" indent="0" algn="ctr">
              <a:buNone/>
            </a:pPr>
            <a:r>
              <a:rPr lang="en-US" sz="1400" b="1" dirty="0">
                <a:solidFill>
                  <a:srgbClr val="0E1420"/>
                </a:solidFill>
                <a:latin typeface="Arial" pitchFamily="34" charset="0"/>
                <a:ea typeface="Arial" pitchFamily="34" charset="-122"/>
                <a:cs typeface="Arial" pitchFamily="34" charset="-120"/>
              </a:rPr>
              <a:t>03</a:t>
            </a:r>
            <a:endParaRPr lang="en-US" sz="1400" dirty="0"/>
          </a:p>
        </p:txBody>
      </p:sp>
      <p:sp>
        <p:nvSpPr>
          <p:cNvPr id="17" name="Text 15"/>
          <p:cNvSpPr/>
          <p:nvPr/>
        </p:nvSpPr>
        <p:spPr>
          <a:xfrm>
            <a:off x="1481328" y="3986784"/>
            <a:ext cx="3566160" cy="658368"/>
          </a:xfrm>
          <a:prstGeom prst="rect">
            <a:avLst/>
          </a:prstGeom>
          <a:noFill/>
          <a:ln/>
        </p:spPr>
        <p:txBody>
          <a:bodyPr wrap="square" lIns="0" tIns="0" rIns="0" bIns="0" rtlCol="0" anchor="ctr"/>
          <a:lstStyle/>
          <a:p>
            <a:pPr marL="0" indent="0">
              <a:buNone/>
            </a:pPr>
            <a:r>
              <a:rPr lang="en-US" sz="1400" b="1" dirty="0">
                <a:solidFill>
                  <a:srgbClr val="E8EDF5"/>
                </a:solidFill>
                <a:latin typeface="Arial" pitchFamily="34" charset="0"/>
                <a:ea typeface="Arial" pitchFamily="34" charset="-122"/>
                <a:cs typeface="Arial" pitchFamily="34" charset="-120"/>
              </a:rPr>
              <a:t>The openness / accountability tension</a:t>
            </a:r>
            <a:endParaRPr lang="en-US" sz="1400" dirty="0"/>
          </a:p>
        </p:txBody>
      </p:sp>
      <p:sp>
        <p:nvSpPr>
          <p:cNvPr id="18" name="Text 16"/>
          <p:cNvSpPr/>
          <p:nvPr/>
        </p:nvSpPr>
        <p:spPr>
          <a:xfrm>
            <a:off x="5212080" y="3986784"/>
            <a:ext cx="6035040" cy="658368"/>
          </a:xfrm>
          <a:prstGeom prst="rect">
            <a:avLst/>
          </a:prstGeom>
          <a:noFill/>
          <a:ln/>
        </p:spPr>
        <p:txBody>
          <a:bodyPr wrap="square" lIns="0" tIns="0" rIns="0" bIns="0" rtlCol="0" anchor="ctr"/>
          <a:lstStyle/>
          <a:p>
            <a:pPr marL="0" indent="0">
              <a:lnSpc>
                <a:spcPct val="118000"/>
              </a:lnSpc>
              <a:buNone/>
            </a:pPr>
            <a:r>
              <a:rPr lang="en-US" sz="1250" dirty="0">
                <a:solidFill>
                  <a:srgbClr val="8A97AC"/>
                </a:solidFill>
                <a:latin typeface="Calibri" pitchFamily="34" charset="0"/>
                <a:ea typeface="Calibri" pitchFamily="34" charset="-122"/>
                <a:cs typeface="Calibri" pitchFamily="34" charset="-120"/>
              </a:rPr>
              <a:t>Teams report real difficulty holding individuals accountable once “never blame” becomes the norm, a gap critics of just culture exploit.</a:t>
            </a:r>
            <a:endParaRPr lang="en-US" sz="1250" dirty="0"/>
          </a:p>
        </p:txBody>
      </p:sp>
      <p:sp>
        <p:nvSpPr>
          <p:cNvPr id="19" name="Shape 17"/>
          <p:cNvSpPr/>
          <p:nvPr/>
        </p:nvSpPr>
        <p:spPr>
          <a:xfrm>
            <a:off x="640080" y="4974336"/>
            <a:ext cx="10881360" cy="1024128"/>
          </a:xfrm>
          <a:prstGeom prst="roundRect">
            <a:avLst>
              <a:gd name="adj" fmla="val 5357"/>
            </a:avLst>
          </a:prstGeom>
          <a:solidFill>
            <a:srgbClr val="1A2333"/>
          </a:solidFill>
          <a:ln w="12700">
            <a:solidFill>
              <a:srgbClr val="2E3B52"/>
            </a:solidFill>
            <a:prstDash val="solid"/>
          </a:ln>
        </p:spPr>
        <p:txBody>
          <a:bodyPr/>
          <a:lstStyle/>
          <a:p>
            <a:endParaRPr lang="en-US"/>
          </a:p>
        </p:txBody>
      </p:sp>
      <p:sp>
        <p:nvSpPr>
          <p:cNvPr id="20" name="Shape 18"/>
          <p:cNvSpPr/>
          <p:nvPr/>
        </p:nvSpPr>
        <p:spPr>
          <a:xfrm>
            <a:off x="914400" y="5276088"/>
            <a:ext cx="420624" cy="420624"/>
          </a:xfrm>
          <a:prstGeom prst="ellipse">
            <a:avLst/>
          </a:prstGeom>
          <a:solidFill>
            <a:srgbClr val="2EC4B6"/>
          </a:solidFill>
          <a:ln/>
        </p:spPr>
        <p:txBody>
          <a:bodyPr/>
          <a:lstStyle/>
          <a:p>
            <a:endParaRPr lang="en-US"/>
          </a:p>
        </p:txBody>
      </p:sp>
      <p:sp>
        <p:nvSpPr>
          <p:cNvPr id="21" name="Text 19"/>
          <p:cNvSpPr/>
          <p:nvPr/>
        </p:nvSpPr>
        <p:spPr>
          <a:xfrm>
            <a:off x="914400" y="5276088"/>
            <a:ext cx="420624" cy="420624"/>
          </a:xfrm>
          <a:prstGeom prst="rect">
            <a:avLst/>
          </a:prstGeom>
          <a:noFill/>
          <a:ln/>
        </p:spPr>
        <p:txBody>
          <a:bodyPr wrap="square" lIns="0" tIns="0" rIns="0" bIns="0" rtlCol="0" anchor="ctr"/>
          <a:lstStyle/>
          <a:p>
            <a:pPr marL="0" indent="0" algn="ctr">
              <a:buNone/>
            </a:pPr>
            <a:r>
              <a:rPr lang="en-US" sz="1400" b="1" dirty="0">
                <a:solidFill>
                  <a:srgbClr val="0E1420"/>
                </a:solidFill>
                <a:latin typeface="Arial" pitchFamily="34" charset="0"/>
                <a:ea typeface="Arial" pitchFamily="34" charset="-122"/>
                <a:cs typeface="Arial" pitchFamily="34" charset="-120"/>
              </a:rPr>
              <a:t>04</a:t>
            </a:r>
            <a:endParaRPr lang="en-US" sz="1400" dirty="0"/>
          </a:p>
        </p:txBody>
      </p:sp>
      <p:sp>
        <p:nvSpPr>
          <p:cNvPr id="22" name="Text 20"/>
          <p:cNvSpPr/>
          <p:nvPr/>
        </p:nvSpPr>
        <p:spPr>
          <a:xfrm>
            <a:off x="1481328" y="5157216"/>
            <a:ext cx="3566160" cy="658368"/>
          </a:xfrm>
          <a:prstGeom prst="rect">
            <a:avLst/>
          </a:prstGeom>
          <a:noFill/>
          <a:ln/>
        </p:spPr>
        <p:txBody>
          <a:bodyPr wrap="square" lIns="0" tIns="0" rIns="0" bIns="0" rtlCol="0" anchor="ctr"/>
          <a:lstStyle/>
          <a:p>
            <a:pPr marL="0" indent="0">
              <a:buNone/>
            </a:pPr>
            <a:r>
              <a:rPr lang="en-US" sz="1400" b="1" dirty="0">
                <a:solidFill>
                  <a:srgbClr val="E8EDF5"/>
                </a:solidFill>
                <a:latin typeface="Arial" pitchFamily="34" charset="0"/>
                <a:ea typeface="Arial" pitchFamily="34" charset="-122"/>
                <a:cs typeface="Arial" pitchFamily="34" charset="-120"/>
              </a:rPr>
              <a:t>Higher layers revert under scrutiny</a:t>
            </a:r>
            <a:endParaRPr lang="en-US" sz="1400" dirty="0"/>
          </a:p>
        </p:txBody>
      </p:sp>
      <p:sp>
        <p:nvSpPr>
          <p:cNvPr id="23" name="Text 21"/>
          <p:cNvSpPr/>
          <p:nvPr/>
        </p:nvSpPr>
        <p:spPr>
          <a:xfrm>
            <a:off x="5212080" y="5157216"/>
            <a:ext cx="6035040" cy="658368"/>
          </a:xfrm>
          <a:prstGeom prst="rect">
            <a:avLst/>
          </a:prstGeom>
          <a:noFill/>
          <a:ln/>
        </p:spPr>
        <p:txBody>
          <a:bodyPr wrap="square" lIns="0" tIns="0" rIns="0" bIns="0" rtlCol="0" anchor="ctr"/>
          <a:lstStyle/>
          <a:p>
            <a:pPr marL="0" indent="0">
              <a:lnSpc>
                <a:spcPct val="118000"/>
              </a:lnSpc>
              <a:buNone/>
            </a:pPr>
            <a:r>
              <a:rPr lang="en-US" sz="1250" dirty="0">
                <a:solidFill>
                  <a:srgbClr val="8A97AC"/>
                </a:solidFill>
                <a:latin typeface="Calibri" pitchFamily="34" charset="0"/>
                <a:ea typeface="Calibri" pitchFamily="34" charset="-122"/>
                <a:cs typeface="Calibri" pitchFamily="34" charset="-120"/>
              </a:rPr>
              <a:t>Levels closest to customers, press, and regulators are the most exposed, and reach for individual accountability precisely when learning matters most.</a:t>
            </a:r>
            <a:endParaRPr lang="en-US" sz="1250" dirty="0"/>
          </a:p>
        </p:txBody>
      </p:sp>
      <p:sp>
        <p:nvSpPr>
          <p:cNvPr id="24" name="Text 22"/>
          <p:cNvSpPr/>
          <p:nvPr/>
        </p:nvSpPr>
        <p:spPr>
          <a:xfrm>
            <a:off x="640080" y="6245352"/>
            <a:ext cx="10881360" cy="329184"/>
          </a:xfrm>
          <a:prstGeom prst="rect">
            <a:avLst/>
          </a:prstGeom>
          <a:noFill/>
          <a:ln/>
        </p:spPr>
        <p:txBody>
          <a:bodyPr wrap="square" lIns="0" tIns="0" rIns="0" bIns="0" rtlCol="0" anchor="t"/>
          <a:lstStyle/>
          <a:p>
            <a:pPr marL="0" indent="0">
              <a:buNone/>
            </a:pPr>
            <a:r>
              <a:rPr lang="en-US" sz="950" i="1" dirty="0">
                <a:solidFill>
                  <a:srgbClr val="8A97AC"/>
                </a:solidFill>
                <a:latin typeface="Calibri" pitchFamily="34" charset="0"/>
                <a:ea typeface="Calibri" pitchFamily="34" charset="-122"/>
                <a:cs typeface="Calibri" pitchFamily="34" charset="-120"/>
              </a:rPr>
              <a:t>Sources: van Baarle et al., “Fostering a just culture in healthcare organizations,” BMC Health Serv Res 22 (2022); Google SRE Workbook, “Postmortem Culture.”</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420"/>
        </a:solidFill>
        <a:effectLst/>
      </p:bgPr>
    </p:bg>
    <p:spTree>
      <p:nvGrpSpPr>
        <p:cNvPr id="1" name=""/>
        <p:cNvGrpSpPr/>
        <p:nvPr/>
      </p:nvGrpSpPr>
      <p:grpSpPr>
        <a:xfrm>
          <a:off x="0" y="0"/>
          <a:ext cx="0" cy="0"/>
          <a:chOff x="0" y="0"/>
          <a:chExt cx="0" cy="0"/>
        </a:xfrm>
      </p:grpSpPr>
      <p:sp>
        <p:nvSpPr>
          <p:cNvPr id="2" name="Text 0"/>
          <p:cNvSpPr/>
          <p:nvPr/>
        </p:nvSpPr>
        <p:spPr>
          <a:xfrm>
            <a:off x="640080" y="310896"/>
            <a:ext cx="10881360" cy="256032"/>
          </a:xfrm>
          <a:prstGeom prst="rect">
            <a:avLst/>
          </a:prstGeom>
          <a:noFill/>
          <a:ln/>
        </p:spPr>
        <p:txBody>
          <a:bodyPr wrap="square" lIns="0" tIns="0" rIns="0" bIns="0" rtlCol="0" anchor="ctr"/>
          <a:lstStyle/>
          <a:p>
            <a:pPr marL="0" indent="0">
              <a:buNone/>
            </a:pPr>
            <a:r>
              <a:rPr lang="en-US" sz="1100" b="1" kern="0" spc="220" dirty="0">
                <a:solidFill>
                  <a:srgbClr val="F0A202"/>
                </a:solidFill>
                <a:latin typeface="Calibri" pitchFamily="34" charset="0"/>
                <a:ea typeface="Calibri" pitchFamily="34" charset="-122"/>
                <a:cs typeface="Calibri" pitchFamily="34" charset="-120"/>
              </a:rPr>
              <a:t>BARRIER 04 · PROCESS AND STRUCTURE</a:t>
            </a:r>
            <a:endParaRPr lang="en-US" sz="1100" dirty="0"/>
          </a:p>
        </p:txBody>
      </p:sp>
      <p:sp>
        <p:nvSpPr>
          <p:cNvPr id="3" name="Text 1"/>
          <p:cNvSpPr/>
          <p:nvPr/>
        </p:nvSpPr>
        <p:spPr>
          <a:xfrm>
            <a:off x="640080" y="576072"/>
            <a:ext cx="10881360" cy="658368"/>
          </a:xfrm>
          <a:prstGeom prst="rect">
            <a:avLst/>
          </a:prstGeom>
          <a:noFill/>
          <a:ln/>
        </p:spPr>
        <p:txBody>
          <a:bodyPr wrap="square" lIns="0" tIns="0" rIns="0" bIns="0" rtlCol="0" anchor="ctr"/>
          <a:lstStyle/>
          <a:p>
            <a:pPr marL="0" indent="0">
              <a:buNone/>
            </a:pPr>
            <a:r>
              <a:rPr lang="en-US" sz="3000" b="1" dirty="0">
                <a:solidFill>
                  <a:srgbClr val="E8EDF5"/>
                </a:solidFill>
                <a:latin typeface="Arial" pitchFamily="34" charset="0"/>
                <a:ea typeface="Arial" pitchFamily="34" charset="-122"/>
                <a:cs typeface="Arial" pitchFamily="34" charset="-120"/>
              </a:rPr>
              <a:t>The reporting loop quietly stops paying out</a:t>
            </a:r>
            <a:endParaRPr lang="en-US" sz="3000" dirty="0"/>
          </a:p>
        </p:txBody>
      </p:sp>
      <p:sp>
        <p:nvSpPr>
          <p:cNvPr id="4" name="Shape 2"/>
          <p:cNvSpPr/>
          <p:nvPr/>
        </p:nvSpPr>
        <p:spPr>
          <a:xfrm>
            <a:off x="640080" y="1481328"/>
            <a:ext cx="3520440" cy="2377440"/>
          </a:xfrm>
          <a:prstGeom prst="roundRect">
            <a:avLst>
              <a:gd name="adj" fmla="val 2308"/>
            </a:avLst>
          </a:prstGeom>
          <a:solidFill>
            <a:srgbClr val="1A2333"/>
          </a:solidFill>
          <a:ln w="12700">
            <a:solidFill>
              <a:srgbClr val="2E3B52"/>
            </a:solidFill>
            <a:prstDash val="solid"/>
          </a:ln>
        </p:spPr>
        <p:txBody>
          <a:bodyPr/>
          <a:lstStyle/>
          <a:p>
            <a:endParaRPr lang="en-US"/>
          </a:p>
        </p:txBody>
      </p:sp>
      <p:sp>
        <p:nvSpPr>
          <p:cNvPr id="5" name="Shape 3"/>
          <p:cNvSpPr/>
          <p:nvPr/>
        </p:nvSpPr>
        <p:spPr>
          <a:xfrm>
            <a:off x="932688" y="1755648"/>
            <a:ext cx="420624" cy="420624"/>
          </a:xfrm>
          <a:prstGeom prst="ellipse">
            <a:avLst/>
          </a:prstGeom>
          <a:solidFill>
            <a:srgbClr val="2EC4B6"/>
          </a:solidFill>
          <a:ln/>
        </p:spPr>
        <p:txBody>
          <a:bodyPr/>
          <a:lstStyle/>
          <a:p>
            <a:endParaRPr lang="en-US"/>
          </a:p>
        </p:txBody>
      </p:sp>
      <p:sp>
        <p:nvSpPr>
          <p:cNvPr id="6" name="Text 4"/>
          <p:cNvSpPr/>
          <p:nvPr/>
        </p:nvSpPr>
        <p:spPr>
          <a:xfrm>
            <a:off x="932688" y="1755648"/>
            <a:ext cx="420624" cy="420624"/>
          </a:xfrm>
          <a:prstGeom prst="rect">
            <a:avLst/>
          </a:prstGeom>
          <a:noFill/>
          <a:ln/>
        </p:spPr>
        <p:txBody>
          <a:bodyPr wrap="square" lIns="0" tIns="0" rIns="0" bIns="0" rtlCol="0" anchor="ctr"/>
          <a:lstStyle/>
          <a:p>
            <a:pPr marL="0" indent="0" algn="ctr">
              <a:buNone/>
            </a:pPr>
            <a:r>
              <a:rPr lang="en-US" sz="1400" b="1" dirty="0">
                <a:solidFill>
                  <a:srgbClr val="0E1420"/>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932688" y="2331720"/>
            <a:ext cx="2971800" cy="310896"/>
          </a:xfrm>
          <a:prstGeom prst="rect">
            <a:avLst/>
          </a:prstGeom>
          <a:noFill/>
          <a:ln/>
        </p:spPr>
        <p:txBody>
          <a:bodyPr wrap="square" lIns="0" tIns="0" rIns="0" bIns="0" rtlCol="0" anchor="ctr"/>
          <a:lstStyle/>
          <a:p>
            <a:pPr marL="0" indent="0">
              <a:buNone/>
            </a:pPr>
            <a:r>
              <a:rPr lang="en-US" sz="1450" b="1" dirty="0">
                <a:solidFill>
                  <a:srgbClr val="E8EDF5"/>
                </a:solidFill>
                <a:latin typeface="Arial" pitchFamily="34" charset="0"/>
                <a:ea typeface="Arial" pitchFamily="34" charset="-122"/>
                <a:cs typeface="Arial" pitchFamily="34" charset="-120"/>
              </a:rPr>
              <a:t>No visible feedback</a:t>
            </a:r>
            <a:endParaRPr lang="en-US" sz="1450" dirty="0"/>
          </a:p>
        </p:txBody>
      </p:sp>
      <p:sp>
        <p:nvSpPr>
          <p:cNvPr id="8" name="Text 6"/>
          <p:cNvSpPr/>
          <p:nvPr/>
        </p:nvSpPr>
        <p:spPr>
          <a:xfrm>
            <a:off x="932688" y="2706624"/>
            <a:ext cx="2971800" cy="1051560"/>
          </a:xfrm>
          <a:prstGeom prst="rect">
            <a:avLst/>
          </a:prstGeom>
          <a:noFill/>
          <a:ln/>
        </p:spPr>
        <p:txBody>
          <a:bodyPr wrap="square" lIns="0" tIns="0" rIns="0" bIns="0" rtlCol="0" anchor="t"/>
          <a:lstStyle/>
          <a:p>
            <a:pPr marL="0" indent="0">
              <a:lnSpc>
                <a:spcPct val="120000"/>
              </a:lnSpc>
              <a:buNone/>
            </a:pPr>
            <a:r>
              <a:rPr lang="en-US" sz="1200" dirty="0">
                <a:solidFill>
                  <a:srgbClr val="8A97AC"/>
                </a:solidFill>
                <a:latin typeface="Calibri" pitchFamily="34" charset="0"/>
                <a:ea typeface="Calibri" pitchFamily="34" charset="-122"/>
                <a:cs typeface="Calibri" pitchFamily="34" charset="-120"/>
              </a:rPr>
              <a:t>Reports go in, nothing comes back. Lack of feedback on outcomes and improvements is one of the most-cited reasons people stop reporting at all.</a:t>
            </a:r>
            <a:endParaRPr lang="en-US" sz="1200" dirty="0"/>
          </a:p>
        </p:txBody>
      </p:sp>
      <p:sp>
        <p:nvSpPr>
          <p:cNvPr id="9" name="Shape 7"/>
          <p:cNvSpPr/>
          <p:nvPr/>
        </p:nvSpPr>
        <p:spPr>
          <a:xfrm>
            <a:off x="4343400" y="1481328"/>
            <a:ext cx="3520440" cy="2377440"/>
          </a:xfrm>
          <a:prstGeom prst="roundRect">
            <a:avLst>
              <a:gd name="adj" fmla="val 2308"/>
            </a:avLst>
          </a:prstGeom>
          <a:solidFill>
            <a:srgbClr val="232E42"/>
          </a:solidFill>
          <a:ln w="12700">
            <a:solidFill>
              <a:srgbClr val="2E3B52"/>
            </a:solidFill>
            <a:prstDash val="solid"/>
          </a:ln>
        </p:spPr>
        <p:txBody>
          <a:bodyPr/>
          <a:lstStyle/>
          <a:p>
            <a:endParaRPr lang="en-US"/>
          </a:p>
        </p:txBody>
      </p:sp>
      <p:sp>
        <p:nvSpPr>
          <p:cNvPr id="10" name="Shape 8"/>
          <p:cNvSpPr/>
          <p:nvPr/>
        </p:nvSpPr>
        <p:spPr>
          <a:xfrm>
            <a:off x="4636008" y="1755648"/>
            <a:ext cx="420624" cy="420624"/>
          </a:xfrm>
          <a:prstGeom prst="ellipse">
            <a:avLst/>
          </a:prstGeom>
          <a:solidFill>
            <a:srgbClr val="2EC4B6"/>
          </a:solidFill>
          <a:ln/>
        </p:spPr>
        <p:txBody>
          <a:bodyPr/>
          <a:lstStyle/>
          <a:p>
            <a:endParaRPr lang="en-US"/>
          </a:p>
        </p:txBody>
      </p:sp>
      <p:sp>
        <p:nvSpPr>
          <p:cNvPr id="11" name="Text 9"/>
          <p:cNvSpPr/>
          <p:nvPr/>
        </p:nvSpPr>
        <p:spPr>
          <a:xfrm>
            <a:off x="4636008" y="1755648"/>
            <a:ext cx="420624" cy="420624"/>
          </a:xfrm>
          <a:prstGeom prst="rect">
            <a:avLst/>
          </a:prstGeom>
          <a:noFill/>
          <a:ln/>
        </p:spPr>
        <p:txBody>
          <a:bodyPr wrap="square" lIns="0" tIns="0" rIns="0" bIns="0" rtlCol="0" anchor="ctr"/>
          <a:lstStyle/>
          <a:p>
            <a:pPr marL="0" indent="0" algn="ctr">
              <a:buNone/>
            </a:pPr>
            <a:r>
              <a:rPr lang="en-US" sz="1400" b="1" dirty="0">
                <a:solidFill>
                  <a:srgbClr val="0E1420"/>
                </a:solidFill>
                <a:latin typeface="Arial" pitchFamily="34" charset="0"/>
                <a:ea typeface="Arial" pitchFamily="34" charset="-122"/>
                <a:cs typeface="Arial" pitchFamily="34" charset="-120"/>
              </a:rPr>
              <a:t>2</a:t>
            </a:r>
            <a:endParaRPr lang="en-US" sz="1400" dirty="0"/>
          </a:p>
        </p:txBody>
      </p:sp>
      <p:sp>
        <p:nvSpPr>
          <p:cNvPr id="12" name="Text 10"/>
          <p:cNvSpPr/>
          <p:nvPr/>
        </p:nvSpPr>
        <p:spPr>
          <a:xfrm>
            <a:off x="4636008" y="2331720"/>
            <a:ext cx="2971800" cy="310896"/>
          </a:xfrm>
          <a:prstGeom prst="rect">
            <a:avLst/>
          </a:prstGeom>
          <a:noFill/>
          <a:ln/>
        </p:spPr>
        <p:txBody>
          <a:bodyPr wrap="square" lIns="0" tIns="0" rIns="0" bIns="0" rtlCol="0" anchor="ctr"/>
          <a:lstStyle/>
          <a:p>
            <a:pPr marL="0" indent="0">
              <a:buNone/>
            </a:pPr>
            <a:r>
              <a:rPr lang="en-US" sz="1450" b="1" dirty="0">
                <a:solidFill>
                  <a:srgbClr val="E8EDF5"/>
                </a:solidFill>
                <a:latin typeface="Arial" pitchFamily="34" charset="0"/>
                <a:ea typeface="Arial" pitchFamily="34" charset="-122"/>
                <a:cs typeface="Arial" pitchFamily="34" charset="-120"/>
              </a:rPr>
              <a:t>Postmortem fatigue</a:t>
            </a:r>
            <a:endParaRPr lang="en-US" sz="1450" dirty="0"/>
          </a:p>
        </p:txBody>
      </p:sp>
      <p:sp>
        <p:nvSpPr>
          <p:cNvPr id="13" name="Text 11"/>
          <p:cNvSpPr/>
          <p:nvPr/>
        </p:nvSpPr>
        <p:spPr>
          <a:xfrm>
            <a:off x="4636008" y="2706624"/>
            <a:ext cx="2971800" cy="1051560"/>
          </a:xfrm>
          <a:prstGeom prst="rect">
            <a:avLst/>
          </a:prstGeom>
          <a:noFill/>
          <a:ln/>
        </p:spPr>
        <p:txBody>
          <a:bodyPr wrap="square" lIns="0" tIns="0" rIns="0" bIns="0" rtlCol="0" anchor="t"/>
          <a:lstStyle/>
          <a:p>
            <a:pPr marL="0" indent="0">
              <a:lnSpc>
                <a:spcPct val="120000"/>
              </a:lnSpc>
              <a:buNone/>
            </a:pPr>
            <a:r>
              <a:rPr lang="en-US" sz="1200" dirty="0">
                <a:solidFill>
                  <a:srgbClr val="8A97AC"/>
                </a:solidFill>
                <a:latin typeface="Calibri" pitchFamily="34" charset="0"/>
                <a:ea typeface="Calibri" pitchFamily="34" charset="-122"/>
                <a:cs typeface="Calibri" pitchFamily="34" charset="-120"/>
              </a:rPr>
              <a:t>Action items age out unowned, attendance thins, and the review becomes a document produced for someone else to file.</a:t>
            </a:r>
            <a:endParaRPr lang="en-US" sz="1200" dirty="0"/>
          </a:p>
        </p:txBody>
      </p:sp>
      <p:sp>
        <p:nvSpPr>
          <p:cNvPr id="14" name="Shape 12"/>
          <p:cNvSpPr/>
          <p:nvPr/>
        </p:nvSpPr>
        <p:spPr>
          <a:xfrm>
            <a:off x="8046720" y="1481328"/>
            <a:ext cx="3520440" cy="2377440"/>
          </a:xfrm>
          <a:prstGeom prst="roundRect">
            <a:avLst>
              <a:gd name="adj" fmla="val 2308"/>
            </a:avLst>
          </a:prstGeom>
          <a:solidFill>
            <a:srgbClr val="1A2333"/>
          </a:solidFill>
          <a:ln w="12700">
            <a:solidFill>
              <a:srgbClr val="2E3B52"/>
            </a:solidFill>
            <a:prstDash val="solid"/>
          </a:ln>
        </p:spPr>
        <p:txBody>
          <a:bodyPr/>
          <a:lstStyle/>
          <a:p>
            <a:endParaRPr lang="en-US"/>
          </a:p>
        </p:txBody>
      </p:sp>
      <p:sp>
        <p:nvSpPr>
          <p:cNvPr id="15" name="Shape 13"/>
          <p:cNvSpPr/>
          <p:nvPr/>
        </p:nvSpPr>
        <p:spPr>
          <a:xfrm>
            <a:off x="8339328" y="1755648"/>
            <a:ext cx="420624" cy="420624"/>
          </a:xfrm>
          <a:prstGeom prst="ellipse">
            <a:avLst/>
          </a:prstGeom>
          <a:solidFill>
            <a:srgbClr val="2EC4B6"/>
          </a:solidFill>
          <a:ln/>
        </p:spPr>
        <p:txBody>
          <a:bodyPr/>
          <a:lstStyle/>
          <a:p>
            <a:endParaRPr lang="en-US"/>
          </a:p>
        </p:txBody>
      </p:sp>
      <p:sp>
        <p:nvSpPr>
          <p:cNvPr id="16" name="Text 14"/>
          <p:cNvSpPr/>
          <p:nvPr/>
        </p:nvSpPr>
        <p:spPr>
          <a:xfrm>
            <a:off x="8339328" y="1755648"/>
            <a:ext cx="420624" cy="420624"/>
          </a:xfrm>
          <a:prstGeom prst="rect">
            <a:avLst/>
          </a:prstGeom>
          <a:noFill/>
          <a:ln/>
        </p:spPr>
        <p:txBody>
          <a:bodyPr wrap="square" lIns="0" tIns="0" rIns="0" bIns="0" rtlCol="0" anchor="ctr"/>
          <a:lstStyle/>
          <a:p>
            <a:pPr marL="0" indent="0" algn="ctr">
              <a:buNone/>
            </a:pPr>
            <a:r>
              <a:rPr lang="en-US" sz="1400" b="1" dirty="0">
                <a:solidFill>
                  <a:srgbClr val="0E1420"/>
                </a:solidFill>
                <a:latin typeface="Arial" pitchFamily="34" charset="0"/>
                <a:ea typeface="Arial" pitchFamily="34" charset="-122"/>
                <a:cs typeface="Arial" pitchFamily="34" charset="-120"/>
              </a:rPr>
              <a:t>3</a:t>
            </a:r>
            <a:endParaRPr lang="en-US" sz="1400" dirty="0"/>
          </a:p>
        </p:txBody>
      </p:sp>
      <p:sp>
        <p:nvSpPr>
          <p:cNvPr id="17" name="Text 15"/>
          <p:cNvSpPr/>
          <p:nvPr/>
        </p:nvSpPr>
        <p:spPr>
          <a:xfrm>
            <a:off x="8339328" y="2331720"/>
            <a:ext cx="2971800" cy="310896"/>
          </a:xfrm>
          <a:prstGeom prst="rect">
            <a:avLst/>
          </a:prstGeom>
          <a:noFill/>
          <a:ln/>
        </p:spPr>
        <p:txBody>
          <a:bodyPr wrap="square" lIns="0" tIns="0" rIns="0" bIns="0" rtlCol="0" anchor="ctr"/>
          <a:lstStyle/>
          <a:p>
            <a:pPr marL="0" indent="0">
              <a:buNone/>
            </a:pPr>
            <a:r>
              <a:rPr lang="en-US" sz="1450" b="1" dirty="0">
                <a:solidFill>
                  <a:srgbClr val="E8EDF5"/>
                </a:solidFill>
                <a:latin typeface="Arial" pitchFamily="34" charset="0"/>
                <a:ea typeface="Arial" pitchFamily="34" charset="-122"/>
                <a:cs typeface="Arial" pitchFamily="34" charset="-120"/>
              </a:rPr>
              <a:t>Confidentiality vs. openness</a:t>
            </a:r>
            <a:endParaRPr lang="en-US" sz="1450" dirty="0"/>
          </a:p>
        </p:txBody>
      </p:sp>
      <p:sp>
        <p:nvSpPr>
          <p:cNvPr id="18" name="Text 16"/>
          <p:cNvSpPr/>
          <p:nvPr/>
        </p:nvSpPr>
        <p:spPr>
          <a:xfrm>
            <a:off x="8339328" y="2706624"/>
            <a:ext cx="2971800" cy="1051560"/>
          </a:xfrm>
          <a:prstGeom prst="rect">
            <a:avLst/>
          </a:prstGeom>
          <a:noFill/>
          <a:ln/>
        </p:spPr>
        <p:txBody>
          <a:bodyPr wrap="square" lIns="0" tIns="0" rIns="0" bIns="0" rtlCol="0" anchor="t"/>
          <a:lstStyle/>
          <a:p>
            <a:pPr marL="0" indent="0">
              <a:lnSpc>
                <a:spcPct val="120000"/>
              </a:lnSpc>
              <a:buNone/>
            </a:pPr>
            <a:r>
              <a:rPr lang="en-US" sz="1200" dirty="0">
                <a:solidFill>
                  <a:srgbClr val="8A97AC"/>
                </a:solidFill>
                <a:latin typeface="Calibri" pitchFamily="34" charset="0"/>
                <a:ea typeface="Calibri" pitchFamily="34" charset="-122"/>
                <a:cs typeface="Calibri" pitchFamily="34" charset="-120"/>
              </a:rPr>
              <a:t>HR and privacy procedures meant to protect the individual are experienced by teams as a barrier to discussing what actually happened.</a:t>
            </a:r>
            <a:endParaRPr lang="en-US" sz="1200" dirty="0"/>
          </a:p>
        </p:txBody>
      </p:sp>
      <p:sp>
        <p:nvSpPr>
          <p:cNvPr id="19" name="Shape 17"/>
          <p:cNvSpPr/>
          <p:nvPr/>
        </p:nvSpPr>
        <p:spPr>
          <a:xfrm>
            <a:off x="640080" y="4069080"/>
            <a:ext cx="5349240" cy="1783080"/>
          </a:xfrm>
          <a:prstGeom prst="roundRect">
            <a:avLst>
              <a:gd name="adj" fmla="val 3077"/>
            </a:avLst>
          </a:prstGeom>
          <a:solidFill>
            <a:srgbClr val="232E42"/>
          </a:solidFill>
          <a:ln w="12700">
            <a:solidFill>
              <a:srgbClr val="2E3B52"/>
            </a:solidFill>
            <a:prstDash val="solid"/>
          </a:ln>
        </p:spPr>
        <p:txBody>
          <a:bodyPr/>
          <a:lstStyle/>
          <a:p>
            <a:endParaRPr lang="en-US"/>
          </a:p>
        </p:txBody>
      </p:sp>
      <p:sp>
        <p:nvSpPr>
          <p:cNvPr id="20" name="Text 18"/>
          <p:cNvSpPr/>
          <p:nvPr/>
        </p:nvSpPr>
        <p:spPr>
          <a:xfrm>
            <a:off x="914400" y="4206240"/>
            <a:ext cx="1691640" cy="777240"/>
          </a:xfrm>
          <a:prstGeom prst="rect">
            <a:avLst/>
          </a:prstGeom>
          <a:noFill/>
          <a:ln/>
        </p:spPr>
        <p:txBody>
          <a:bodyPr wrap="square" lIns="0" tIns="0" rIns="0" bIns="0" rtlCol="0" anchor="t"/>
          <a:lstStyle/>
          <a:p>
            <a:pPr marL="0" indent="0">
              <a:buNone/>
            </a:pPr>
            <a:r>
              <a:rPr lang="en-US" sz="4400" b="1" dirty="0">
                <a:solidFill>
                  <a:srgbClr val="F0A202"/>
                </a:solidFill>
                <a:latin typeface="Arial" pitchFamily="34" charset="0"/>
                <a:ea typeface="Arial" pitchFamily="34" charset="-122"/>
                <a:cs typeface="Arial" pitchFamily="34" charset="-120"/>
              </a:rPr>
              <a:t>67%</a:t>
            </a:r>
            <a:endParaRPr lang="en-US" sz="4400" dirty="0"/>
          </a:p>
        </p:txBody>
      </p:sp>
      <p:sp>
        <p:nvSpPr>
          <p:cNvPr id="21" name="Text 19"/>
          <p:cNvSpPr/>
          <p:nvPr/>
        </p:nvSpPr>
        <p:spPr>
          <a:xfrm>
            <a:off x="2697480" y="4224528"/>
            <a:ext cx="3108960" cy="1143000"/>
          </a:xfrm>
          <a:prstGeom prst="rect">
            <a:avLst/>
          </a:prstGeom>
          <a:noFill/>
          <a:ln/>
        </p:spPr>
        <p:txBody>
          <a:bodyPr wrap="square" lIns="0" tIns="0" rIns="0" bIns="0" rtlCol="0" anchor="t"/>
          <a:lstStyle/>
          <a:p>
            <a:pPr marL="0" indent="0">
              <a:lnSpc>
                <a:spcPct val="118000"/>
              </a:lnSpc>
              <a:buNone/>
            </a:pPr>
            <a:r>
              <a:rPr lang="en-US" sz="1150" dirty="0">
                <a:solidFill>
                  <a:srgbClr val="E8EDF5"/>
                </a:solidFill>
                <a:latin typeface="Calibri" pitchFamily="34" charset="0"/>
                <a:ea typeface="Calibri" pitchFamily="34" charset="-122"/>
                <a:cs typeface="Calibri" pitchFamily="34" charset="-120"/>
              </a:rPr>
              <a:t>of surveyed physicians said incident reporting felt like “the person is being written up, not the issue,” and 64% cited no feedback after changes.</a:t>
            </a:r>
            <a:endParaRPr lang="en-US" sz="1150" dirty="0"/>
          </a:p>
        </p:txBody>
      </p:sp>
      <p:sp>
        <p:nvSpPr>
          <p:cNvPr id="22" name="Text 20"/>
          <p:cNvSpPr/>
          <p:nvPr/>
        </p:nvSpPr>
        <p:spPr>
          <a:xfrm>
            <a:off x="914400" y="5413248"/>
            <a:ext cx="4800600" cy="256032"/>
          </a:xfrm>
          <a:prstGeom prst="rect">
            <a:avLst/>
          </a:prstGeom>
          <a:noFill/>
          <a:ln/>
        </p:spPr>
        <p:txBody>
          <a:bodyPr wrap="square" lIns="0" tIns="0" rIns="0" bIns="0" rtlCol="0" anchor="t"/>
          <a:lstStyle/>
          <a:p>
            <a:pPr marL="0" indent="0">
              <a:buNone/>
            </a:pPr>
            <a:r>
              <a:rPr lang="en-US" sz="1000" i="1" dirty="0">
                <a:solidFill>
                  <a:srgbClr val="8A97AC"/>
                </a:solidFill>
                <a:latin typeface="Calibri" pitchFamily="34" charset="0"/>
                <a:ea typeface="Calibri" pitchFamily="34" charset="-122"/>
                <a:cs typeface="Calibri" pitchFamily="34" charset="-120"/>
              </a:rPr>
              <a:t>Anderson et al., Cureus (2024), n=39</a:t>
            </a:r>
            <a:endParaRPr lang="en-US" sz="1000" dirty="0"/>
          </a:p>
        </p:txBody>
      </p:sp>
      <p:sp>
        <p:nvSpPr>
          <p:cNvPr id="23" name="Shape 21"/>
          <p:cNvSpPr/>
          <p:nvPr/>
        </p:nvSpPr>
        <p:spPr>
          <a:xfrm>
            <a:off x="6172200" y="4069080"/>
            <a:ext cx="5349240" cy="1783080"/>
          </a:xfrm>
          <a:prstGeom prst="roundRect">
            <a:avLst>
              <a:gd name="adj" fmla="val 3077"/>
            </a:avLst>
          </a:prstGeom>
          <a:solidFill>
            <a:srgbClr val="1A2333"/>
          </a:solidFill>
          <a:ln w="12700">
            <a:solidFill>
              <a:srgbClr val="2E3B52"/>
            </a:solidFill>
            <a:prstDash val="solid"/>
          </a:ln>
        </p:spPr>
        <p:txBody>
          <a:bodyPr/>
          <a:lstStyle/>
          <a:p>
            <a:endParaRPr lang="en-US"/>
          </a:p>
        </p:txBody>
      </p:sp>
      <p:sp>
        <p:nvSpPr>
          <p:cNvPr id="24" name="Text 22"/>
          <p:cNvSpPr/>
          <p:nvPr/>
        </p:nvSpPr>
        <p:spPr>
          <a:xfrm>
            <a:off x="6446520" y="4242816"/>
            <a:ext cx="4800600" cy="292608"/>
          </a:xfrm>
          <a:prstGeom prst="rect">
            <a:avLst/>
          </a:prstGeom>
          <a:noFill/>
          <a:ln/>
        </p:spPr>
        <p:txBody>
          <a:bodyPr wrap="square" lIns="0" tIns="0" rIns="0" bIns="0" rtlCol="0" anchor="t"/>
          <a:lstStyle/>
          <a:p>
            <a:pPr marL="0" indent="0">
              <a:buNone/>
            </a:pPr>
            <a:r>
              <a:rPr lang="en-US" sz="1500" b="1" dirty="0">
                <a:solidFill>
                  <a:srgbClr val="2EC4B6"/>
                </a:solidFill>
                <a:latin typeface="Arial" pitchFamily="34" charset="0"/>
                <a:ea typeface="Arial" pitchFamily="34" charset="-122"/>
                <a:cs typeface="Arial" pitchFamily="34" charset="-120"/>
              </a:rPr>
              <a:t>Words shape worlds</a:t>
            </a:r>
            <a:endParaRPr lang="en-US" sz="1500" dirty="0"/>
          </a:p>
        </p:txBody>
      </p:sp>
      <p:sp>
        <p:nvSpPr>
          <p:cNvPr id="25" name="Text 23"/>
          <p:cNvSpPr/>
          <p:nvPr/>
        </p:nvSpPr>
        <p:spPr>
          <a:xfrm>
            <a:off x="6446520" y="4626864"/>
            <a:ext cx="4800600" cy="1097280"/>
          </a:xfrm>
          <a:prstGeom prst="rect">
            <a:avLst/>
          </a:prstGeom>
          <a:noFill/>
          <a:ln/>
        </p:spPr>
        <p:txBody>
          <a:bodyPr wrap="square" lIns="0" tIns="0" rIns="0" bIns="0" rtlCol="0" anchor="t"/>
          <a:lstStyle/>
          <a:p>
            <a:pPr marL="0" indent="0">
              <a:lnSpc>
                <a:spcPct val="118000"/>
              </a:lnSpc>
              <a:buNone/>
            </a:pPr>
            <a:r>
              <a:rPr lang="en-US" sz="1150" dirty="0">
                <a:solidFill>
                  <a:srgbClr val="8A97AC"/>
                </a:solidFill>
                <a:latin typeface="Calibri" pitchFamily="34" charset="0"/>
                <a:ea typeface="Calibri" pitchFamily="34" charset="-122"/>
                <a:cs typeface="Calibri" pitchFamily="34" charset="-120"/>
              </a:rPr>
              <a:t>Our incident vocabulary is almost entirely deficit-based: error, failure, violation, root cause, severity, blast radius. There are far fewer words for how reliability is created. The taxonomy itself pushes toward a human-as-hazard reading.</a:t>
            </a:r>
            <a:endParaRPr lang="en-US" sz="1150" dirty="0"/>
          </a:p>
        </p:txBody>
      </p:sp>
      <p:sp>
        <p:nvSpPr>
          <p:cNvPr id="26" name="Text 24"/>
          <p:cNvSpPr/>
          <p:nvPr/>
        </p:nvSpPr>
        <p:spPr>
          <a:xfrm>
            <a:off x="640080" y="6245352"/>
            <a:ext cx="10881360" cy="329184"/>
          </a:xfrm>
          <a:prstGeom prst="rect">
            <a:avLst/>
          </a:prstGeom>
          <a:noFill/>
          <a:ln/>
        </p:spPr>
        <p:txBody>
          <a:bodyPr wrap="square" lIns="0" tIns="0" rIns="0" bIns="0" rtlCol="0" anchor="t"/>
          <a:lstStyle/>
          <a:p>
            <a:pPr marL="0" indent="0">
              <a:buNone/>
            </a:pPr>
            <a:r>
              <a:rPr lang="en-US" sz="950" i="1" dirty="0">
                <a:solidFill>
                  <a:srgbClr val="8A97AC"/>
                </a:solidFill>
                <a:latin typeface="Calibri" pitchFamily="34" charset="0"/>
                <a:ea typeface="Calibri" pitchFamily="34" charset="-122"/>
                <a:cs typeface="Calibri" pitchFamily="34" charset="-120"/>
              </a:rPr>
              <a:t>Sources: Anderson et al., “Barriers to Incident Reporting by Physicians,” Cureus 16:6 (2024); Shorrock, HindSight 35 (2023).</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420"/>
        </a:solidFill>
        <a:effectLst/>
      </p:bgPr>
    </p:bg>
    <p:spTree>
      <p:nvGrpSpPr>
        <p:cNvPr id="1" name=""/>
        <p:cNvGrpSpPr/>
        <p:nvPr/>
      </p:nvGrpSpPr>
      <p:grpSpPr>
        <a:xfrm>
          <a:off x="0" y="0"/>
          <a:ext cx="0" cy="0"/>
          <a:chOff x="0" y="0"/>
          <a:chExt cx="0" cy="0"/>
        </a:xfrm>
      </p:grpSpPr>
      <p:sp>
        <p:nvSpPr>
          <p:cNvPr id="2" name="Text 0"/>
          <p:cNvSpPr/>
          <p:nvPr/>
        </p:nvSpPr>
        <p:spPr>
          <a:xfrm>
            <a:off x="640080" y="310896"/>
            <a:ext cx="10881360" cy="256032"/>
          </a:xfrm>
          <a:prstGeom prst="rect">
            <a:avLst/>
          </a:prstGeom>
          <a:noFill/>
          <a:ln/>
        </p:spPr>
        <p:txBody>
          <a:bodyPr wrap="square" lIns="0" tIns="0" rIns="0" bIns="0" rtlCol="0" anchor="ctr"/>
          <a:lstStyle/>
          <a:p>
            <a:pPr marL="0" indent="0">
              <a:buNone/>
            </a:pPr>
            <a:r>
              <a:rPr lang="en-US" sz="1100" b="1" kern="0" spc="220" dirty="0">
                <a:solidFill>
                  <a:srgbClr val="F0A202"/>
                </a:solidFill>
                <a:latin typeface="Calibri" pitchFamily="34" charset="0"/>
                <a:ea typeface="Calibri" pitchFamily="34" charset="-122"/>
                <a:cs typeface="Calibri" pitchFamily="34" charset="-120"/>
              </a:rPr>
              <a:t>BARRIER 05 · EXTERNAL</a:t>
            </a:r>
            <a:endParaRPr lang="en-US" sz="1100" dirty="0"/>
          </a:p>
        </p:txBody>
      </p:sp>
      <p:sp>
        <p:nvSpPr>
          <p:cNvPr id="3" name="Text 1"/>
          <p:cNvSpPr/>
          <p:nvPr/>
        </p:nvSpPr>
        <p:spPr>
          <a:xfrm>
            <a:off x="640080" y="576072"/>
            <a:ext cx="10881360" cy="658368"/>
          </a:xfrm>
          <a:prstGeom prst="rect">
            <a:avLst/>
          </a:prstGeom>
          <a:noFill/>
          <a:ln/>
        </p:spPr>
        <p:txBody>
          <a:bodyPr wrap="square" lIns="0" tIns="0" rIns="0" bIns="0" rtlCol="0" anchor="ctr"/>
          <a:lstStyle/>
          <a:p>
            <a:pPr marL="0" indent="0">
              <a:buNone/>
            </a:pPr>
            <a:r>
              <a:rPr lang="en-US" sz="3000" b="1" dirty="0">
                <a:solidFill>
                  <a:srgbClr val="E8EDF5"/>
                </a:solidFill>
                <a:latin typeface="Arial" pitchFamily="34" charset="0"/>
                <a:ea typeface="Arial" pitchFamily="34" charset="-122"/>
                <a:cs typeface="Arial" pitchFamily="34" charset="-120"/>
              </a:rPr>
              <a:t>The org does not control the last word</a:t>
            </a:r>
            <a:endParaRPr lang="en-US" sz="3000" dirty="0"/>
          </a:p>
        </p:txBody>
      </p:sp>
      <p:sp>
        <p:nvSpPr>
          <p:cNvPr id="4" name="Shape 2"/>
          <p:cNvSpPr/>
          <p:nvPr/>
        </p:nvSpPr>
        <p:spPr>
          <a:xfrm>
            <a:off x="640080" y="1481328"/>
            <a:ext cx="5349240" cy="1417320"/>
          </a:xfrm>
          <a:prstGeom prst="roundRect">
            <a:avLst>
              <a:gd name="adj" fmla="val 3871"/>
            </a:avLst>
          </a:prstGeom>
          <a:solidFill>
            <a:srgbClr val="1A2333"/>
          </a:solidFill>
          <a:ln w="12700">
            <a:solidFill>
              <a:srgbClr val="2E3B52"/>
            </a:solidFill>
            <a:prstDash val="solid"/>
          </a:ln>
        </p:spPr>
        <p:txBody>
          <a:bodyPr/>
          <a:lstStyle/>
          <a:p>
            <a:endParaRPr lang="en-US"/>
          </a:p>
        </p:txBody>
      </p:sp>
      <p:sp>
        <p:nvSpPr>
          <p:cNvPr id="5" name="Shape 3"/>
          <p:cNvSpPr/>
          <p:nvPr/>
        </p:nvSpPr>
        <p:spPr>
          <a:xfrm>
            <a:off x="960120" y="1755648"/>
            <a:ext cx="182880" cy="182880"/>
          </a:xfrm>
          <a:prstGeom prst="ellipse">
            <a:avLst/>
          </a:prstGeom>
          <a:solidFill>
            <a:srgbClr val="E4572E"/>
          </a:solidFill>
          <a:ln/>
        </p:spPr>
        <p:txBody>
          <a:bodyPr/>
          <a:lstStyle/>
          <a:p>
            <a:endParaRPr lang="en-US"/>
          </a:p>
        </p:txBody>
      </p:sp>
      <p:sp>
        <p:nvSpPr>
          <p:cNvPr id="6" name="Text 4"/>
          <p:cNvSpPr/>
          <p:nvPr/>
        </p:nvSpPr>
        <p:spPr>
          <a:xfrm>
            <a:off x="1261872" y="1682496"/>
            <a:ext cx="4480560" cy="292608"/>
          </a:xfrm>
          <a:prstGeom prst="rect">
            <a:avLst/>
          </a:prstGeom>
          <a:noFill/>
          <a:ln/>
        </p:spPr>
        <p:txBody>
          <a:bodyPr wrap="square" lIns="0" tIns="0" rIns="0" bIns="0" rtlCol="0" anchor="ctr"/>
          <a:lstStyle/>
          <a:p>
            <a:pPr marL="0" indent="0">
              <a:buNone/>
            </a:pPr>
            <a:r>
              <a:rPr lang="en-US" sz="1400" b="1" dirty="0">
                <a:solidFill>
                  <a:srgbClr val="E8EDF5"/>
                </a:solidFill>
                <a:latin typeface="Arial" pitchFamily="34" charset="0"/>
                <a:ea typeface="Arial" pitchFamily="34" charset="-122"/>
                <a:cs typeface="Arial" pitchFamily="34" charset="-120"/>
              </a:rPr>
              <a:t>Legal exposure</a:t>
            </a:r>
            <a:endParaRPr lang="en-US" sz="1400" dirty="0"/>
          </a:p>
        </p:txBody>
      </p:sp>
      <p:sp>
        <p:nvSpPr>
          <p:cNvPr id="7" name="Text 5"/>
          <p:cNvSpPr/>
          <p:nvPr/>
        </p:nvSpPr>
        <p:spPr>
          <a:xfrm>
            <a:off x="960120" y="2103120"/>
            <a:ext cx="4709160" cy="713232"/>
          </a:xfrm>
          <a:prstGeom prst="rect">
            <a:avLst/>
          </a:prstGeom>
          <a:noFill/>
          <a:ln/>
        </p:spPr>
        <p:txBody>
          <a:bodyPr wrap="square" lIns="0" tIns="0" rIns="0" bIns="0" rtlCol="0" anchor="t"/>
          <a:lstStyle/>
          <a:p>
            <a:pPr marL="0" indent="0">
              <a:lnSpc>
                <a:spcPct val="118000"/>
              </a:lnSpc>
              <a:buNone/>
            </a:pPr>
            <a:r>
              <a:rPr lang="en-US" sz="1200" dirty="0">
                <a:solidFill>
                  <a:srgbClr val="8A97AC"/>
                </a:solidFill>
                <a:latin typeface="Calibri" pitchFamily="34" charset="0"/>
                <a:ea typeface="Calibri" pitchFamily="34" charset="-122"/>
                <a:cs typeface="Calibri" pitchFamily="34" charset="-120"/>
              </a:rPr>
              <a:t>In many jurisdictions prosecutors have no discretion to decline a case. Internal promises about honest mistakes do not bind a court.</a:t>
            </a:r>
            <a:endParaRPr lang="en-US" sz="1200" dirty="0"/>
          </a:p>
        </p:txBody>
      </p:sp>
      <p:sp>
        <p:nvSpPr>
          <p:cNvPr id="8" name="Shape 6"/>
          <p:cNvSpPr/>
          <p:nvPr/>
        </p:nvSpPr>
        <p:spPr>
          <a:xfrm>
            <a:off x="640080" y="3054096"/>
            <a:ext cx="5349240" cy="1417320"/>
          </a:xfrm>
          <a:prstGeom prst="roundRect">
            <a:avLst>
              <a:gd name="adj" fmla="val 3871"/>
            </a:avLst>
          </a:prstGeom>
          <a:solidFill>
            <a:srgbClr val="1A2333"/>
          </a:solidFill>
          <a:ln w="12700">
            <a:solidFill>
              <a:srgbClr val="2E3B52"/>
            </a:solidFill>
            <a:prstDash val="solid"/>
          </a:ln>
        </p:spPr>
        <p:txBody>
          <a:bodyPr/>
          <a:lstStyle/>
          <a:p>
            <a:endParaRPr lang="en-US"/>
          </a:p>
        </p:txBody>
      </p:sp>
      <p:sp>
        <p:nvSpPr>
          <p:cNvPr id="9" name="Shape 7"/>
          <p:cNvSpPr/>
          <p:nvPr/>
        </p:nvSpPr>
        <p:spPr>
          <a:xfrm>
            <a:off x="960120" y="3328416"/>
            <a:ext cx="182880" cy="182880"/>
          </a:xfrm>
          <a:prstGeom prst="ellipse">
            <a:avLst/>
          </a:prstGeom>
          <a:solidFill>
            <a:srgbClr val="E4572E"/>
          </a:solidFill>
          <a:ln/>
        </p:spPr>
        <p:txBody>
          <a:bodyPr/>
          <a:lstStyle/>
          <a:p>
            <a:endParaRPr lang="en-US"/>
          </a:p>
        </p:txBody>
      </p:sp>
      <p:sp>
        <p:nvSpPr>
          <p:cNvPr id="10" name="Text 8"/>
          <p:cNvSpPr/>
          <p:nvPr/>
        </p:nvSpPr>
        <p:spPr>
          <a:xfrm>
            <a:off x="1261872" y="3255264"/>
            <a:ext cx="4480560" cy="292608"/>
          </a:xfrm>
          <a:prstGeom prst="rect">
            <a:avLst/>
          </a:prstGeom>
          <a:noFill/>
          <a:ln/>
        </p:spPr>
        <p:txBody>
          <a:bodyPr wrap="square" lIns="0" tIns="0" rIns="0" bIns="0" rtlCol="0" anchor="ctr"/>
          <a:lstStyle/>
          <a:p>
            <a:pPr marL="0" indent="0">
              <a:buNone/>
            </a:pPr>
            <a:r>
              <a:rPr lang="en-US" sz="1400" b="1" dirty="0">
                <a:solidFill>
                  <a:srgbClr val="E8EDF5"/>
                </a:solidFill>
                <a:latin typeface="Arial" pitchFamily="34" charset="0"/>
                <a:ea typeface="Arial" pitchFamily="34" charset="-122"/>
                <a:cs typeface="Arial" pitchFamily="34" charset="-120"/>
              </a:rPr>
              <a:t>Regulatory ambiguity</a:t>
            </a:r>
            <a:endParaRPr lang="en-US" sz="1400" dirty="0"/>
          </a:p>
        </p:txBody>
      </p:sp>
      <p:sp>
        <p:nvSpPr>
          <p:cNvPr id="11" name="Text 9"/>
          <p:cNvSpPr/>
          <p:nvPr/>
        </p:nvSpPr>
        <p:spPr>
          <a:xfrm>
            <a:off x="960120" y="3675888"/>
            <a:ext cx="4709160" cy="713232"/>
          </a:xfrm>
          <a:prstGeom prst="rect">
            <a:avLst/>
          </a:prstGeom>
          <a:noFill/>
          <a:ln/>
        </p:spPr>
        <p:txBody>
          <a:bodyPr wrap="square" lIns="0" tIns="0" rIns="0" bIns="0" rtlCol="0" anchor="t"/>
          <a:lstStyle/>
          <a:p>
            <a:pPr marL="0" indent="0">
              <a:lnSpc>
                <a:spcPct val="118000"/>
              </a:lnSpc>
              <a:buNone/>
            </a:pPr>
            <a:r>
              <a:rPr lang="en-US" sz="1200" dirty="0">
                <a:solidFill>
                  <a:srgbClr val="8A97AC"/>
                </a:solidFill>
                <a:latin typeface="Calibri" pitchFamily="34" charset="0"/>
                <a:ea typeface="Calibri" pitchFamily="34" charset="-122"/>
                <a:cs typeface="Calibri" pitchFamily="34" charset="-120"/>
              </a:rPr>
              <a:t>EU 376/2014 mandates just culture but leaves “gross negligence” and “wilful violation” undefined, so each org draws its own line.</a:t>
            </a:r>
            <a:endParaRPr lang="en-US" sz="1200" dirty="0"/>
          </a:p>
        </p:txBody>
      </p:sp>
      <p:sp>
        <p:nvSpPr>
          <p:cNvPr id="12" name="Shape 10"/>
          <p:cNvSpPr/>
          <p:nvPr/>
        </p:nvSpPr>
        <p:spPr>
          <a:xfrm>
            <a:off x="6172200" y="1481328"/>
            <a:ext cx="5349240" cy="1417320"/>
          </a:xfrm>
          <a:prstGeom prst="roundRect">
            <a:avLst>
              <a:gd name="adj" fmla="val 3871"/>
            </a:avLst>
          </a:prstGeom>
          <a:solidFill>
            <a:srgbClr val="232E42"/>
          </a:solidFill>
          <a:ln w="12700">
            <a:solidFill>
              <a:srgbClr val="2E3B52"/>
            </a:solidFill>
            <a:prstDash val="solid"/>
          </a:ln>
        </p:spPr>
        <p:txBody>
          <a:bodyPr/>
          <a:lstStyle/>
          <a:p>
            <a:endParaRPr lang="en-US"/>
          </a:p>
        </p:txBody>
      </p:sp>
      <p:sp>
        <p:nvSpPr>
          <p:cNvPr id="13" name="Shape 11"/>
          <p:cNvSpPr/>
          <p:nvPr/>
        </p:nvSpPr>
        <p:spPr>
          <a:xfrm>
            <a:off x="6492240" y="1755648"/>
            <a:ext cx="182880" cy="182880"/>
          </a:xfrm>
          <a:prstGeom prst="ellipse">
            <a:avLst/>
          </a:prstGeom>
          <a:solidFill>
            <a:srgbClr val="F0A202"/>
          </a:solidFill>
          <a:ln/>
        </p:spPr>
        <p:txBody>
          <a:bodyPr/>
          <a:lstStyle/>
          <a:p>
            <a:endParaRPr lang="en-US"/>
          </a:p>
        </p:txBody>
      </p:sp>
      <p:sp>
        <p:nvSpPr>
          <p:cNvPr id="14" name="Text 12"/>
          <p:cNvSpPr/>
          <p:nvPr/>
        </p:nvSpPr>
        <p:spPr>
          <a:xfrm>
            <a:off x="6793992" y="1682496"/>
            <a:ext cx="4480560" cy="292608"/>
          </a:xfrm>
          <a:prstGeom prst="rect">
            <a:avLst/>
          </a:prstGeom>
          <a:noFill/>
          <a:ln/>
        </p:spPr>
        <p:txBody>
          <a:bodyPr wrap="square" lIns="0" tIns="0" rIns="0" bIns="0" rtlCol="0" anchor="ctr"/>
          <a:lstStyle/>
          <a:p>
            <a:pPr marL="0" indent="0">
              <a:buNone/>
            </a:pPr>
            <a:r>
              <a:rPr lang="en-US" sz="1400" b="1" dirty="0">
                <a:solidFill>
                  <a:srgbClr val="E8EDF5"/>
                </a:solidFill>
                <a:latin typeface="Arial" pitchFamily="34" charset="0"/>
                <a:ea typeface="Arial" pitchFamily="34" charset="-122"/>
                <a:cs typeface="Arial" pitchFamily="34" charset="-120"/>
              </a:rPr>
              <a:t>Customer and contractual pressure</a:t>
            </a:r>
            <a:endParaRPr lang="en-US" sz="1400" dirty="0"/>
          </a:p>
        </p:txBody>
      </p:sp>
      <p:sp>
        <p:nvSpPr>
          <p:cNvPr id="15" name="Text 13"/>
          <p:cNvSpPr/>
          <p:nvPr/>
        </p:nvSpPr>
        <p:spPr>
          <a:xfrm>
            <a:off x="6492240" y="2103120"/>
            <a:ext cx="4709160" cy="713232"/>
          </a:xfrm>
          <a:prstGeom prst="rect">
            <a:avLst/>
          </a:prstGeom>
          <a:noFill/>
          <a:ln/>
        </p:spPr>
        <p:txBody>
          <a:bodyPr wrap="square" lIns="0" tIns="0" rIns="0" bIns="0" rtlCol="0" anchor="t"/>
          <a:lstStyle/>
          <a:p>
            <a:pPr marL="0" indent="0">
              <a:lnSpc>
                <a:spcPct val="118000"/>
              </a:lnSpc>
              <a:buNone/>
            </a:pPr>
            <a:r>
              <a:rPr lang="en-US" sz="1200" dirty="0">
                <a:solidFill>
                  <a:srgbClr val="8A97AC"/>
                </a:solidFill>
                <a:latin typeface="Calibri" pitchFamily="34" charset="0"/>
                <a:ea typeface="Calibri" pitchFamily="34" charset="-122"/>
                <a:cs typeface="Calibri" pitchFamily="34" charset="-120"/>
              </a:rPr>
              <a:t>Enterprise RCA templates and SLA disputes routinely ask which individual acted and whether they were disciplined.</a:t>
            </a:r>
            <a:endParaRPr lang="en-US" sz="1200" dirty="0"/>
          </a:p>
        </p:txBody>
      </p:sp>
      <p:sp>
        <p:nvSpPr>
          <p:cNvPr id="16" name="Shape 14"/>
          <p:cNvSpPr/>
          <p:nvPr/>
        </p:nvSpPr>
        <p:spPr>
          <a:xfrm>
            <a:off x="6172200" y="3054096"/>
            <a:ext cx="5349240" cy="1417320"/>
          </a:xfrm>
          <a:prstGeom prst="roundRect">
            <a:avLst>
              <a:gd name="adj" fmla="val 3871"/>
            </a:avLst>
          </a:prstGeom>
          <a:solidFill>
            <a:srgbClr val="232E42"/>
          </a:solidFill>
          <a:ln w="12700">
            <a:solidFill>
              <a:srgbClr val="2E3B52"/>
            </a:solidFill>
            <a:prstDash val="solid"/>
          </a:ln>
        </p:spPr>
        <p:txBody>
          <a:bodyPr/>
          <a:lstStyle/>
          <a:p>
            <a:endParaRPr lang="en-US"/>
          </a:p>
        </p:txBody>
      </p:sp>
      <p:sp>
        <p:nvSpPr>
          <p:cNvPr id="17" name="Shape 15"/>
          <p:cNvSpPr/>
          <p:nvPr/>
        </p:nvSpPr>
        <p:spPr>
          <a:xfrm>
            <a:off x="6492240" y="3328416"/>
            <a:ext cx="182880" cy="182880"/>
          </a:xfrm>
          <a:prstGeom prst="ellipse">
            <a:avLst/>
          </a:prstGeom>
          <a:solidFill>
            <a:srgbClr val="F0A202"/>
          </a:solidFill>
          <a:ln/>
        </p:spPr>
        <p:txBody>
          <a:bodyPr/>
          <a:lstStyle/>
          <a:p>
            <a:endParaRPr lang="en-US"/>
          </a:p>
        </p:txBody>
      </p:sp>
      <p:sp>
        <p:nvSpPr>
          <p:cNvPr id="18" name="Text 16"/>
          <p:cNvSpPr/>
          <p:nvPr/>
        </p:nvSpPr>
        <p:spPr>
          <a:xfrm>
            <a:off x="6793992" y="3255264"/>
            <a:ext cx="4480560" cy="292608"/>
          </a:xfrm>
          <a:prstGeom prst="rect">
            <a:avLst/>
          </a:prstGeom>
          <a:noFill/>
          <a:ln/>
        </p:spPr>
        <p:txBody>
          <a:bodyPr wrap="square" lIns="0" tIns="0" rIns="0" bIns="0" rtlCol="0" anchor="ctr"/>
          <a:lstStyle/>
          <a:p>
            <a:pPr marL="0" indent="0">
              <a:buNone/>
            </a:pPr>
            <a:r>
              <a:rPr lang="en-US" sz="1400" b="1" dirty="0">
                <a:solidFill>
                  <a:srgbClr val="E8EDF5"/>
                </a:solidFill>
                <a:latin typeface="Arial" pitchFamily="34" charset="0"/>
                <a:ea typeface="Arial" pitchFamily="34" charset="-122"/>
                <a:cs typeface="Arial" pitchFamily="34" charset="-120"/>
              </a:rPr>
              <a:t>Public appetite for a scapegoat</a:t>
            </a:r>
            <a:endParaRPr lang="en-US" sz="1400" dirty="0"/>
          </a:p>
        </p:txBody>
      </p:sp>
      <p:sp>
        <p:nvSpPr>
          <p:cNvPr id="19" name="Text 17"/>
          <p:cNvSpPr/>
          <p:nvPr/>
        </p:nvSpPr>
        <p:spPr>
          <a:xfrm>
            <a:off x="6492240" y="3675888"/>
            <a:ext cx="4709160" cy="713232"/>
          </a:xfrm>
          <a:prstGeom prst="rect">
            <a:avLst/>
          </a:prstGeom>
          <a:noFill/>
          <a:ln/>
        </p:spPr>
        <p:txBody>
          <a:bodyPr wrap="square" lIns="0" tIns="0" rIns="0" bIns="0" rtlCol="0" anchor="t"/>
          <a:lstStyle/>
          <a:p>
            <a:pPr marL="0" indent="0">
              <a:lnSpc>
                <a:spcPct val="118000"/>
              </a:lnSpc>
              <a:buNone/>
            </a:pPr>
            <a:r>
              <a:rPr lang="en-US" sz="1200" dirty="0">
                <a:solidFill>
                  <a:srgbClr val="8A97AC"/>
                </a:solidFill>
                <a:latin typeface="Calibri" pitchFamily="34" charset="0"/>
                <a:ea typeface="Calibri" pitchFamily="34" charset="-122"/>
                <a:cs typeface="Calibri" pitchFamily="34" charset="-120"/>
              </a:rPr>
              <a:t>“Human error caused the outage” is a satisfying, low-complexity story. Displacement of anger onto the nearest operator is the default social response.</a:t>
            </a:r>
            <a:endParaRPr lang="en-US" sz="1200" dirty="0"/>
          </a:p>
        </p:txBody>
      </p:sp>
      <p:sp>
        <p:nvSpPr>
          <p:cNvPr id="20" name="Shape 18"/>
          <p:cNvSpPr/>
          <p:nvPr/>
        </p:nvSpPr>
        <p:spPr>
          <a:xfrm>
            <a:off x="640080" y="4709160"/>
            <a:ext cx="10881360" cy="1234440"/>
          </a:xfrm>
          <a:prstGeom prst="roundRect">
            <a:avLst>
              <a:gd name="adj" fmla="val 4444"/>
            </a:avLst>
          </a:prstGeom>
          <a:solidFill>
            <a:srgbClr val="232E42"/>
          </a:solidFill>
          <a:ln w="12700">
            <a:solidFill>
              <a:srgbClr val="2E3B52"/>
            </a:solidFill>
            <a:prstDash val="solid"/>
          </a:ln>
        </p:spPr>
        <p:txBody>
          <a:bodyPr/>
          <a:lstStyle/>
          <a:p>
            <a:endParaRPr lang="en-US"/>
          </a:p>
        </p:txBody>
      </p:sp>
      <p:sp>
        <p:nvSpPr>
          <p:cNvPr id="21" name="Text 19"/>
          <p:cNvSpPr/>
          <p:nvPr/>
        </p:nvSpPr>
        <p:spPr>
          <a:xfrm>
            <a:off x="914400" y="4937760"/>
            <a:ext cx="10332720" cy="822960"/>
          </a:xfrm>
          <a:prstGeom prst="rect">
            <a:avLst/>
          </a:prstGeom>
          <a:noFill/>
          <a:ln/>
        </p:spPr>
        <p:txBody>
          <a:bodyPr wrap="square" lIns="0" tIns="0" rIns="0" bIns="0" rtlCol="0" anchor="t"/>
          <a:lstStyle/>
          <a:p>
            <a:pPr marL="0" indent="0">
              <a:lnSpc>
                <a:spcPct val="120000"/>
              </a:lnSpc>
              <a:buNone/>
            </a:pPr>
            <a:r>
              <a:rPr lang="en-US" sz="1300" b="1" dirty="0">
                <a:solidFill>
                  <a:srgbClr val="2EC4B6"/>
                </a:solidFill>
                <a:latin typeface="Calibri" pitchFamily="34" charset="0"/>
                <a:ea typeface="Calibri" pitchFamily="34" charset="-122"/>
                <a:cs typeface="Calibri" pitchFamily="34" charset="-120"/>
              </a:rPr>
              <a:t>The practical consequence:  </a:t>
            </a:r>
            <a:r>
              <a:rPr lang="en-US" sz="1300" dirty="0">
                <a:solidFill>
                  <a:srgbClr val="E8EDF5"/>
                </a:solidFill>
                <a:latin typeface="Calibri" pitchFamily="34" charset="0"/>
                <a:ea typeface="Calibri" pitchFamily="34" charset="-122"/>
                <a:cs typeface="Calibri" pitchFamily="34" charset="-120"/>
              </a:rPr>
              <a:t>an internal just culture commitment can only be honest about its own limits. Telling engineers “you will never face consequences” is a promise the organization cannot keep once regulators, customers, or courts are involved, and the first time it breaks, the whole agreement breaks with it.</a:t>
            </a:r>
            <a:endParaRPr lang="en-US" sz="1300" dirty="0"/>
          </a:p>
        </p:txBody>
      </p:sp>
      <p:sp>
        <p:nvSpPr>
          <p:cNvPr id="22" name="Text 20"/>
          <p:cNvSpPr/>
          <p:nvPr/>
        </p:nvSpPr>
        <p:spPr>
          <a:xfrm>
            <a:off x="640080" y="6245352"/>
            <a:ext cx="10881360" cy="329184"/>
          </a:xfrm>
          <a:prstGeom prst="rect">
            <a:avLst/>
          </a:prstGeom>
          <a:noFill/>
          <a:ln/>
        </p:spPr>
        <p:txBody>
          <a:bodyPr wrap="square" lIns="0" tIns="0" rIns="0" bIns="0" rtlCol="0" anchor="t"/>
          <a:lstStyle/>
          <a:p>
            <a:pPr marL="0" indent="0">
              <a:buNone/>
            </a:pPr>
            <a:r>
              <a:rPr lang="en-US" sz="950" i="1" dirty="0">
                <a:solidFill>
                  <a:srgbClr val="8A97AC"/>
                </a:solidFill>
                <a:latin typeface="Calibri" pitchFamily="34" charset="0"/>
                <a:ea typeface="Calibri" pitchFamily="34" charset="-122"/>
                <a:cs typeface="Calibri" pitchFamily="34" charset="-120"/>
              </a:rPr>
              <a:t>Source: Shorrock, HindSight 35 (2023); Regulation (EU) No 376/2014, Art. 2(12).</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420"/>
        </a:solidFill>
        <a:effectLst/>
      </p:bgPr>
    </p:bg>
    <p:spTree>
      <p:nvGrpSpPr>
        <p:cNvPr id="1" name=""/>
        <p:cNvGrpSpPr/>
        <p:nvPr/>
      </p:nvGrpSpPr>
      <p:grpSpPr>
        <a:xfrm>
          <a:off x="0" y="0"/>
          <a:ext cx="0" cy="0"/>
          <a:chOff x="0" y="0"/>
          <a:chExt cx="0" cy="0"/>
        </a:xfrm>
      </p:grpSpPr>
      <p:sp>
        <p:nvSpPr>
          <p:cNvPr id="2" name="Text 0"/>
          <p:cNvSpPr/>
          <p:nvPr/>
        </p:nvSpPr>
        <p:spPr>
          <a:xfrm>
            <a:off x="640080" y="310896"/>
            <a:ext cx="10881360" cy="256032"/>
          </a:xfrm>
          <a:prstGeom prst="rect">
            <a:avLst/>
          </a:prstGeom>
          <a:noFill/>
          <a:ln/>
        </p:spPr>
        <p:txBody>
          <a:bodyPr wrap="square" lIns="0" tIns="0" rIns="0" bIns="0" rtlCol="0" anchor="ctr"/>
          <a:lstStyle/>
          <a:p>
            <a:pPr marL="0" indent="0">
              <a:buNone/>
            </a:pPr>
            <a:r>
              <a:rPr lang="en-US" sz="1100" b="1" kern="0" spc="220" dirty="0">
                <a:solidFill>
                  <a:srgbClr val="F0A202"/>
                </a:solidFill>
                <a:latin typeface="Calibri" pitchFamily="34" charset="0"/>
                <a:ea typeface="Calibri" pitchFamily="34" charset="-122"/>
                <a:cs typeface="Calibri" pitchFamily="34" charset="-120"/>
              </a:rPr>
              <a:t>GRAPHIC · SYNTHESIS</a:t>
            </a:r>
            <a:endParaRPr lang="en-US" sz="1100" dirty="0"/>
          </a:p>
        </p:txBody>
      </p:sp>
      <p:sp>
        <p:nvSpPr>
          <p:cNvPr id="3" name="Text 1"/>
          <p:cNvSpPr/>
          <p:nvPr/>
        </p:nvSpPr>
        <p:spPr>
          <a:xfrm>
            <a:off x="640080" y="576072"/>
            <a:ext cx="10881360" cy="658368"/>
          </a:xfrm>
          <a:prstGeom prst="rect">
            <a:avLst/>
          </a:prstGeom>
          <a:noFill/>
          <a:ln/>
        </p:spPr>
        <p:txBody>
          <a:bodyPr wrap="square" lIns="0" tIns="0" rIns="0" bIns="0" rtlCol="0" anchor="ctr"/>
          <a:lstStyle/>
          <a:p>
            <a:pPr marL="0" indent="0">
              <a:buNone/>
            </a:pPr>
            <a:r>
              <a:rPr lang="en-US" sz="3000" b="1" dirty="0">
                <a:solidFill>
                  <a:srgbClr val="E8EDF5"/>
                </a:solidFill>
                <a:latin typeface="Arial" pitchFamily="34" charset="0"/>
                <a:ea typeface="Arial" pitchFamily="34" charset="-122"/>
                <a:cs typeface="Arial" pitchFamily="34" charset="-120"/>
              </a:rPr>
              <a:t>Blame pressure rises as you move outward</a:t>
            </a:r>
            <a:endParaRPr lang="en-US" sz="3000" dirty="0"/>
          </a:p>
        </p:txBody>
      </p:sp>
      <p:sp>
        <p:nvSpPr>
          <p:cNvPr id="4" name="Shape 2"/>
          <p:cNvSpPr/>
          <p:nvPr/>
        </p:nvSpPr>
        <p:spPr>
          <a:xfrm>
            <a:off x="685800" y="1463040"/>
            <a:ext cx="6035040" cy="4206240"/>
          </a:xfrm>
          <a:prstGeom prst="roundRect">
            <a:avLst>
              <a:gd name="adj" fmla="val 1087"/>
            </a:avLst>
          </a:prstGeom>
          <a:solidFill>
            <a:srgbClr val="1A2333"/>
          </a:solidFill>
          <a:ln w="19050">
            <a:solidFill>
              <a:srgbClr val="E4572E"/>
            </a:solidFill>
            <a:prstDash val="solid"/>
          </a:ln>
        </p:spPr>
        <p:txBody>
          <a:bodyPr/>
          <a:lstStyle/>
          <a:p>
            <a:endParaRPr lang="en-US"/>
          </a:p>
        </p:txBody>
      </p:sp>
      <p:sp>
        <p:nvSpPr>
          <p:cNvPr id="5" name="Text 3"/>
          <p:cNvSpPr/>
          <p:nvPr/>
        </p:nvSpPr>
        <p:spPr>
          <a:xfrm>
            <a:off x="685800" y="1591056"/>
            <a:ext cx="6035040" cy="310896"/>
          </a:xfrm>
          <a:prstGeom prst="rect">
            <a:avLst/>
          </a:prstGeom>
          <a:noFill/>
          <a:ln/>
        </p:spPr>
        <p:txBody>
          <a:bodyPr wrap="square" lIns="0" tIns="0" rIns="0" bIns="0" rtlCol="0" anchor="ctr"/>
          <a:lstStyle/>
          <a:p>
            <a:pPr marL="0" indent="0" algn="ctr">
              <a:buNone/>
            </a:pPr>
            <a:r>
              <a:rPr lang="en-US" sz="1200" b="1" kern="0" spc="160" dirty="0">
                <a:solidFill>
                  <a:srgbClr val="E4572E"/>
                </a:solidFill>
                <a:latin typeface="Arial" pitchFamily="34" charset="0"/>
                <a:ea typeface="Arial" pitchFamily="34" charset="-122"/>
                <a:cs typeface="Arial" pitchFamily="34" charset="-120"/>
              </a:rPr>
              <a:t>EXTERNAL</a:t>
            </a:r>
            <a:endParaRPr lang="en-US" sz="1200" dirty="0"/>
          </a:p>
        </p:txBody>
      </p:sp>
      <p:sp>
        <p:nvSpPr>
          <p:cNvPr id="6" name="Shape 4"/>
          <p:cNvSpPr/>
          <p:nvPr/>
        </p:nvSpPr>
        <p:spPr>
          <a:xfrm>
            <a:off x="1188720" y="2011680"/>
            <a:ext cx="5029200" cy="3108960"/>
          </a:xfrm>
          <a:prstGeom prst="roundRect">
            <a:avLst>
              <a:gd name="adj" fmla="val 1471"/>
            </a:avLst>
          </a:prstGeom>
          <a:solidFill>
            <a:srgbClr val="232E42"/>
          </a:solidFill>
          <a:ln w="19050">
            <a:solidFill>
              <a:srgbClr val="F0A202"/>
            </a:solidFill>
            <a:prstDash val="solid"/>
          </a:ln>
        </p:spPr>
        <p:txBody>
          <a:bodyPr/>
          <a:lstStyle/>
          <a:p>
            <a:endParaRPr lang="en-US"/>
          </a:p>
        </p:txBody>
      </p:sp>
      <p:sp>
        <p:nvSpPr>
          <p:cNvPr id="7" name="Text 5"/>
          <p:cNvSpPr/>
          <p:nvPr/>
        </p:nvSpPr>
        <p:spPr>
          <a:xfrm>
            <a:off x="1188720" y="2139696"/>
            <a:ext cx="5029200" cy="310896"/>
          </a:xfrm>
          <a:prstGeom prst="rect">
            <a:avLst/>
          </a:prstGeom>
          <a:noFill/>
          <a:ln/>
        </p:spPr>
        <p:txBody>
          <a:bodyPr wrap="square" lIns="0" tIns="0" rIns="0" bIns="0" rtlCol="0" anchor="ctr"/>
          <a:lstStyle/>
          <a:p>
            <a:pPr marL="0" indent="0" algn="ctr">
              <a:buNone/>
            </a:pPr>
            <a:r>
              <a:rPr lang="en-US" sz="1200" b="1" kern="0" spc="160" dirty="0">
                <a:solidFill>
                  <a:srgbClr val="F0A202"/>
                </a:solidFill>
                <a:latin typeface="Arial" pitchFamily="34" charset="0"/>
                <a:ea typeface="Arial" pitchFamily="34" charset="-122"/>
                <a:cs typeface="Arial" pitchFamily="34" charset="-120"/>
              </a:rPr>
              <a:t>ORGANIZATION</a:t>
            </a:r>
            <a:endParaRPr lang="en-US" sz="1200" dirty="0"/>
          </a:p>
        </p:txBody>
      </p:sp>
      <p:sp>
        <p:nvSpPr>
          <p:cNvPr id="8" name="Shape 6"/>
          <p:cNvSpPr/>
          <p:nvPr/>
        </p:nvSpPr>
        <p:spPr>
          <a:xfrm>
            <a:off x="1691640" y="2560320"/>
            <a:ext cx="4023360" cy="2011680"/>
          </a:xfrm>
          <a:prstGeom prst="roundRect">
            <a:avLst>
              <a:gd name="adj" fmla="val 2273"/>
            </a:avLst>
          </a:prstGeom>
          <a:solidFill>
            <a:srgbClr val="2A3852"/>
          </a:solidFill>
          <a:ln w="19050">
            <a:solidFill>
              <a:srgbClr val="2EC4B6"/>
            </a:solidFill>
            <a:prstDash val="solid"/>
          </a:ln>
        </p:spPr>
        <p:txBody>
          <a:bodyPr/>
          <a:lstStyle/>
          <a:p>
            <a:endParaRPr lang="en-US"/>
          </a:p>
        </p:txBody>
      </p:sp>
      <p:sp>
        <p:nvSpPr>
          <p:cNvPr id="9" name="Text 7"/>
          <p:cNvSpPr/>
          <p:nvPr/>
        </p:nvSpPr>
        <p:spPr>
          <a:xfrm>
            <a:off x="1691640" y="2688336"/>
            <a:ext cx="4023360" cy="310896"/>
          </a:xfrm>
          <a:prstGeom prst="rect">
            <a:avLst/>
          </a:prstGeom>
          <a:noFill/>
          <a:ln/>
        </p:spPr>
        <p:txBody>
          <a:bodyPr wrap="square" lIns="0" tIns="0" rIns="0" bIns="0" rtlCol="0" anchor="ctr"/>
          <a:lstStyle/>
          <a:p>
            <a:pPr marL="0" indent="0" algn="ctr">
              <a:buNone/>
            </a:pPr>
            <a:r>
              <a:rPr lang="en-US" sz="1200" b="1" kern="0" spc="160" dirty="0">
                <a:solidFill>
                  <a:srgbClr val="2EC4B6"/>
                </a:solidFill>
                <a:latin typeface="Arial" pitchFamily="34" charset="0"/>
                <a:ea typeface="Arial" pitchFamily="34" charset="-122"/>
                <a:cs typeface="Arial" pitchFamily="34" charset="-120"/>
              </a:rPr>
              <a:t>TEAM</a:t>
            </a:r>
            <a:endParaRPr lang="en-US" sz="1200" dirty="0"/>
          </a:p>
        </p:txBody>
      </p:sp>
      <p:sp>
        <p:nvSpPr>
          <p:cNvPr id="10" name="Shape 8"/>
          <p:cNvSpPr/>
          <p:nvPr/>
        </p:nvSpPr>
        <p:spPr>
          <a:xfrm>
            <a:off x="2194560" y="3108960"/>
            <a:ext cx="3017520" cy="914400"/>
          </a:xfrm>
          <a:prstGeom prst="roundRect">
            <a:avLst>
              <a:gd name="adj" fmla="val 5000"/>
            </a:avLst>
          </a:prstGeom>
          <a:solidFill>
            <a:srgbClr val="2EC4B6"/>
          </a:solidFill>
          <a:ln w="12700">
            <a:solidFill>
              <a:srgbClr val="2EC4B6"/>
            </a:solidFill>
            <a:prstDash val="solid"/>
          </a:ln>
        </p:spPr>
        <p:txBody>
          <a:bodyPr/>
          <a:lstStyle/>
          <a:p>
            <a:endParaRPr lang="en-US"/>
          </a:p>
        </p:txBody>
      </p:sp>
      <p:sp>
        <p:nvSpPr>
          <p:cNvPr id="11" name="Text 9"/>
          <p:cNvSpPr/>
          <p:nvPr/>
        </p:nvSpPr>
        <p:spPr>
          <a:xfrm>
            <a:off x="2194560" y="3383280"/>
            <a:ext cx="3017520" cy="310896"/>
          </a:xfrm>
          <a:prstGeom prst="rect">
            <a:avLst/>
          </a:prstGeom>
          <a:noFill/>
          <a:ln/>
        </p:spPr>
        <p:txBody>
          <a:bodyPr wrap="square" lIns="0" tIns="0" rIns="0" bIns="0" rtlCol="0" anchor="ctr"/>
          <a:lstStyle/>
          <a:p>
            <a:pPr marL="0" indent="0" algn="ctr">
              <a:buNone/>
            </a:pPr>
            <a:r>
              <a:rPr lang="en-US" sz="1300" b="1" kern="0" spc="160" dirty="0">
                <a:solidFill>
                  <a:srgbClr val="0E1420"/>
                </a:solidFill>
                <a:latin typeface="Arial" pitchFamily="34" charset="0"/>
                <a:ea typeface="Arial" pitchFamily="34" charset="-122"/>
                <a:cs typeface="Arial" pitchFamily="34" charset="-120"/>
              </a:rPr>
              <a:t>INDIVIDUAL</a:t>
            </a:r>
            <a:endParaRPr lang="en-US" sz="1300" dirty="0"/>
          </a:p>
        </p:txBody>
      </p:sp>
      <p:sp>
        <p:nvSpPr>
          <p:cNvPr id="12" name="Text 10"/>
          <p:cNvSpPr/>
          <p:nvPr/>
        </p:nvSpPr>
        <p:spPr>
          <a:xfrm>
            <a:off x="2194560" y="4160520"/>
            <a:ext cx="3017520" cy="274320"/>
          </a:xfrm>
          <a:prstGeom prst="rect">
            <a:avLst/>
          </a:prstGeom>
          <a:noFill/>
          <a:ln/>
        </p:spPr>
        <p:txBody>
          <a:bodyPr wrap="square" lIns="0" tIns="0" rIns="0" bIns="0" rtlCol="0" anchor="ctr"/>
          <a:lstStyle/>
          <a:p>
            <a:pPr marL="0" indent="0" algn="ctr">
              <a:buNone/>
            </a:pPr>
            <a:r>
              <a:rPr lang="en-US" sz="1150" i="1" dirty="0">
                <a:solidFill>
                  <a:srgbClr val="8A97AC"/>
                </a:solidFill>
                <a:latin typeface="Calibri" pitchFamily="34" charset="0"/>
                <a:ea typeface="Calibri" pitchFamily="34" charset="-122"/>
                <a:cs typeface="Calibri" pitchFamily="34" charset="-120"/>
              </a:rPr>
              <a:t>Learning happens here</a:t>
            </a:r>
            <a:endParaRPr lang="en-US" sz="1150" dirty="0"/>
          </a:p>
        </p:txBody>
      </p:sp>
      <p:sp>
        <p:nvSpPr>
          <p:cNvPr id="13" name="Shape 11"/>
          <p:cNvSpPr/>
          <p:nvPr/>
        </p:nvSpPr>
        <p:spPr>
          <a:xfrm>
            <a:off x="7086600" y="1508760"/>
            <a:ext cx="182880" cy="182880"/>
          </a:xfrm>
          <a:prstGeom prst="ellipse">
            <a:avLst/>
          </a:prstGeom>
          <a:solidFill>
            <a:srgbClr val="E4572E"/>
          </a:solidFill>
          <a:ln/>
        </p:spPr>
        <p:txBody>
          <a:bodyPr/>
          <a:lstStyle/>
          <a:p>
            <a:endParaRPr lang="en-US"/>
          </a:p>
        </p:txBody>
      </p:sp>
      <p:sp>
        <p:nvSpPr>
          <p:cNvPr id="14" name="Text 12"/>
          <p:cNvSpPr/>
          <p:nvPr/>
        </p:nvSpPr>
        <p:spPr>
          <a:xfrm>
            <a:off x="7388352" y="1435608"/>
            <a:ext cx="4114800" cy="292608"/>
          </a:xfrm>
          <a:prstGeom prst="rect">
            <a:avLst/>
          </a:prstGeom>
          <a:noFill/>
          <a:ln/>
        </p:spPr>
        <p:txBody>
          <a:bodyPr wrap="square" lIns="0" tIns="0" rIns="0" bIns="0" rtlCol="0" anchor="ctr"/>
          <a:lstStyle/>
          <a:p>
            <a:pPr marL="0" indent="0">
              <a:buNone/>
            </a:pPr>
            <a:r>
              <a:rPr lang="en-US" sz="1400" b="1" dirty="0">
                <a:solidFill>
                  <a:srgbClr val="E8EDF5"/>
                </a:solidFill>
                <a:latin typeface="Arial" pitchFamily="34" charset="0"/>
                <a:ea typeface="Arial" pitchFamily="34" charset="-122"/>
                <a:cs typeface="Arial" pitchFamily="34" charset="-120"/>
              </a:rPr>
              <a:t>External</a:t>
            </a:r>
            <a:endParaRPr lang="en-US" sz="1400" dirty="0"/>
          </a:p>
        </p:txBody>
      </p:sp>
      <p:sp>
        <p:nvSpPr>
          <p:cNvPr id="15" name="Text 13"/>
          <p:cNvSpPr/>
          <p:nvPr/>
        </p:nvSpPr>
        <p:spPr>
          <a:xfrm>
            <a:off x="7388352" y="1764792"/>
            <a:ext cx="4114800" cy="713232"/>
          </a:xfrm>
          <a:prstGeom prst="rect">
            <a:avLst/>
          </a:prstGeom>
          <a:noFill/>
          <a:ln/>
        </p:spPr>
        <p:txBody>
          <a:bodyPr wrap="square" lIns="0" tIns="0" rIns="0" bIns="0" rtlCol="0" anchor="t"/>
          <a:lstStyle/>
          <a:p>
            <a:pPr marL="0" indent="0">
              <a:lnSpc>
                <a:spcPct val="118000"/>
              </a:lnSpc>
              <a:buNone/>
            </a:pPr>
            <a:r>
              <a:rPr lang="en-US" sz="1200" dirty="0">
                <a:solidFill>
                  <a:srgbClr val="8A97AC"/>
                </a:solidFill>
                <a:latin typeface="Calibri" pitchFamily="34" charset="0"/>
                <a:ea typeface="Calibri" pitchFamily="34" charset="-122"/>
                <a:cs typeface="Calibri" pitchFamily="34" charset="-120"/>
              </a:rPr>
              <a:t>Courts, regulators, customers, press. No discretion, no shared context, maximum appetite for a name.</a:t>
            </a:r>
            <a:endParaRPr lang="en-US" sz="1200" dirty="0"/>
          </a:p>
        </p:txBody>
      </p:sp>
      <p:sp>
        <p:nvSpPr>
          <p:cNvPr id="16" name="Shape 14"/>
          <p:cNvSpPr/>
          <p:nvPr/>
        </p:nvSpPr>
        <p:spPr>
          <a:xfrm>
            <a:off x="7086600" y="2615184"/>
            <a:ext cx="182880" cy="182880"/>
          </a:xfrm>
          <a:prstGeom prst="ellipse">
            <a:avLst/>
          </a:prstGeom>
          <a:solidFill>
            <a:srgbClr val="F0A202"/>
          </a:solidFill>
          <a:ln/>
        </p:spPr>
        <p:txBody>
          <a:bodyPr/>
          <a:lstStyle/>
          <a:p>
            <a:endParaRPr lang="en-US"/>
          </a:p>
        </p:txBody>
      </p:sp>
      <p:sp>
        <p:nvSpPr>
          <p:cNvPr id="17" name="Text 15"/>
          <p:cNvSpPr/>
          <p:nvPr/>
        </p:nvSpPr>
        <p:spPr>
          <a:xfrm>
            <a:off x="7388352" y="2542032"/>
            <a:ext cx="4114800" cy="292608"/>
          </a:xfrm>
          <a:prstGeom prst="rect">
            <a:avLst/>
          </a:prstGeom>
          <a:noFill/>
          <a:ln/>
        </p:spPr>
        <p:txBody>
          <a:bodyPr wrap="square" lIns="0" tIns="0" rIns="0" bIns="0" rtlCol="0" anchor="ctr"/>
          <a:lstStyle/>
          <a:p>
            <a:pPr marL="0" indent="0">
              <a:buNone/>
            </a:pPr>
            <a:r>
              <a:rPr lang="en-US" sz="1400" b="1" dirty="0">
                <a:solidFill>
                  <a:srgbClr val="E8EDF5"/>
                </a:solidFill>
                <a:latin typeface="Arial" pitchFamily="34" charset="0"/>
                <a:ea typeface="Arial" pitchFamily="34" charset="-122"/>
                <a:cs typeface="Arial" pitchFamily="34" charset="-120"/>
              </a:rPr>
              <a:t>Organization</a:t>
            </a:r>
            <a:endParaRPr lang="en-US" sz="1400" dirty="0"/>
          </a:p>
        </p:txBody>
      </p:sp>
      <p:sp>
        <p:nvSpPr>
          <p:cNvPr id="18" name="Text 16"/>
          <p:cNvSpPr/>
          <p:nvPr/>
        </p:nvSpPr>
        <p:spPr>
          <a:xfrm>
            <a:off x="7388352" y="2871216"/>
            <a:ext cx="4114800" cy="713232"/>
          </a:xfrm>
          <a:prstGeom prst="rect">
            <a:avLst/>
          </a:prstGeom>
          <a:noFill/>
          <a:ln/>
        </p:spPr>
        <p:txBody>
          <a:bodyPr wrap="square" lIns="0" tIns="0" rIns="0" bIns="0" rtlCol="0" anchor="t"/>
          <a:lstStyle/>
          <a:p>
            <a:pPr marL="0" indent="0">
              <a:lnSpc>
                <a:spcPct val="118000"/>
              </a:lnSpc>
              <a:buNone/>
            </a:pPr>
            <a:r>
              <a:rPr lang="en-US" sz="1200" dirty="0">
                <a:solidFill>
                  <a:srgbClr val="8A97AC"/>
                </a:solidFill>
                <a:latin typeface="Calibri" pitchFamily="34" charset="0"/>
                <a:ea typeface="Calibri" pitchFamily="34" charset="-122"/>
                <a:cs typeface="Calibri" pitchFamily="34" charset="-120"/>
              </a:rPr>
              <a:t>Leadership asks who; policy applied inconsistently; reputational exposure inverts the incentive to learn.</a:t>
            </a:r>
            <a:endParaRPr lang="en-US" sz="1200" dirty="0"/>
          </a:p>
        </p:txBody>
      </p:sp>
      <p:sp>
        <p:nvSpPr>
          <p:cNvPr id="19" name="Shape 17"/>
          <p:cNvSpPr/>
          <p:nvPr/>
        </p:nvSpPr>
        <p:spPr>
          <a:xfrm>
            <a:off x="7086600" y="3721608"/>
            <a:ext cx="182880" cy="182880"/>
          </a:xfrm>
          <a:prstGeom prst="ellipse">
            <a:avLst/>
          </a:prstGeom>
          <a:solidFill>
            <a:srgbClr val="2EC4B6"/>
          </a:solidFill>
          <a:ln/>
        </p:spPr>
        <p:txBody>
          <a:bodyPr/>
          <a:lstStyle/>
          <a:p>
            <a:endParaRPr lang="en-US"/>
          </a:p>
        </p:txBody>
      </p:sp>
      <p:sp>
        <p:nvSpPr>
          <p:cNvPr id="20" name="Text 18"/>
          <p:cNvSpPr/>
          <p:nvPr/>
        </p:nvSpPr>
        <p:spPr>
          <a:xfrm>
            <a:off x="7388352" y="3648456"/>
            <a:ext cx="4114800" cy="292608"/>
          </a:xfrm>
          <a:prstGeom prst="rect">
            <a:avLst/>
          </a:prstGeom>
          <a:noFill/>
          <a:ln/>
        </p:spPr>
        <p:txBody>
          <a:bodyPr wrap="square" lIns="0" tIns="0" rIns="0" bIns="0" rtlCol="0" anchor="ctr"/>
          <a:lstStyle/>
          <a:p>
            <a:pPr marL="0" indent="0">
              <a:buNone/>
            </a:pPr>
            <a:r>
              <a:rPr lang="en-US" sz="1400" b="1" dirty="0">
                <a:solidFill>
                  <a:srgbClr val="E8EDF5"/>
                </a:solidFill>
                <a:latin typeface="Arial" pitchFamily="34" charset="0"/>
                <a:ea typeface="Arial" pitchFamily="34" charset="-122"/>
                <a:cs typeface="Arial" pitchFamily="34" charset="-120"/>
              </a:rPr>
              <a:t>Team</a:t>
            </a:r>
            <a:endParaRPr lang="en-US" sz="1400" dirty="0"/>
          </a:p>
        </p:txBody>
      </p:sp>
      <p:sp>
        <p:nvSpPr>
          <p:cNvPr id="21" name="Text 19"/>
          <p:cNvSpPr/>
          <p:nvPr/>
        </p:nvSpPr>
        <p:spPr>
          <a:xfrm>
            <a:off x="7388352" y="3977640"/>
            <a:ext cx="4114800" cy="713232"/>
          </a:xfrm>
          <a:prstGeom prst="rect">
            <a:avLst/>
          </a:prstGeom>
          <a:noFill/>
          <a:ln/>
        </p:spPr>
        <p:txBody>
          <a:bodyPr wrap="square" lIns="0" tIns="0" rIns="0" bIns="0" rtlCol="0" anchor="t"/>
          <a:lstStyle/>
          <a:p>
            <a:pPr marL="0" indent="0">
              <a:lnSpc>
                <a:spcPct val="118000"/>
              </a:lnSpc>
              <a:buNone/>
            </a:pPr>
            <a:r>
              <a:rPr lang="en-US" sz="1200" dirty="0">
                <a:solidFill>
                  <a:srgbClr val="8A97AC"/>
                </a:solidFill>
                <a:latin typeface="Calibri" pitchFamily="34" charset="0"/>
                <a:ea typeface="Calibri" pitchFamily="34" charset="-122"/>
                <a:cs typeface="Calibri" pitchFamily="34" charset="-120"/>
              </a:rPr>
              <a:t>Peer judgement, organizational memory of past blame, and a reporting loop that stopped giving feedback.</a:t>
            </a:r>
            <a:endParaRPr lang="en-US" sz="1200" dirty="0"/>
          </a:p>
        </p:txBody>
      </p:sp>
      <p:sp>
        <p:nvSpPr>
          <p:cNvPr id="22" name="Shape 20"/>
          <p:cNvSpPr/>
          <p:nvPr/>
        </p:nvSpPr>
        <p:spPr>
          <a:xfrm>
            <a:off x="7086600" y="4828032"/>
            <a:ext cx="182880" cy="182880"/>
          </a:xfrm>
          <a:prstGeom prst="ellipse">
            <a:avLst/>
          </a:prstGeom>
          <a:solidFill>
            <a:srgbClr val="7C8CF5"/>
          </a:solidFill>
          <a:ln/>
        </p:spPr>
        <p:txBody>
          <a:bodyPr/>
          <a:lstStyle/>
          <a:p>
            <a:endParaRPr lang="en-US"/>
          </a:p>
        </p:txBody>
      </p:sp>
      <p:sp>
        <p:nvSpPr>
          <p:cNvPr id="23" name="Text 21"/>
          <p:cNvSpPr/>
          <p:nvPr/>
        </p:nvSpPr>
        <p:spPr>
          <a:xfrm>
            <a:off x="7388352" y="4754880"/>
            <a:ext cx="4114800" cy="292608"/>
          </a:xfrm>
          <a:prstGeom prst="rect">
            <a:avLst/>
          </a:prstGeom>
          <a:noFill/>
          <a:ln/>
        </p:spPr>
        <p:txBody>
          <a:bodyPr wrap="square" lIns="0" tIns="0" rIns="0" bIns="0" rtlCol="0" anchor="ctr"/>
          <a:lstStyle/>
          <a:p>
            <a:pPr marL="0" indent="0">
              <a:buNone/>
            </a:pPr>
            <a:r>
              <a:rPr lang="en-US" sz="1400" b="1" dirty="0">
                <a:solidFill>
                  <a:srgbClr val="E8EDF5"/>
                </a:solidFill>
                <a:latin typeface="Arial" pitchFamily="34" charset="0"/>
                <a:ea typeface="Arial" pitchFamily="34" charset="-122"/>
                <a:cs typeface="Arial" pitchFamily="34" charset="-120"/>
              </a:rPr>
              <a:t>Individual</a:t>
            </a:r>
            <a:endParaRPr lang="en-US" sz="1400" dirty="0"/>
          </a:p>
        </p:txBody>
      </p:sp>
      <p:sp>
        <p:nvSpPr>
          <p:cNvPr id="24" name="Text 22"/>
          <p:cNvSpPr/>
          <p:nvPr/>
        </p:nvSpPr>
        <p:spPr>
          <a:xfrm>
            <a:off x="7388352" y="5084064"/>
            <a:ext cx="4114800" cy="713232"/>
          </a:xfrm>
          <a:prstGeom prst="rect">
            <a:avLst/>
          </a:prstGeom>
          <a:noFill/>
          <a:ln/>
        </p:spPr>
        <p:txBody>
          <a:bodyPr wrap="square" lIns="0" tIns="0" rIns="0" bIns="0" rtlCol="0" anchor="t"/>
          <a:lstStyle/>
          <a:p>
            <a:pPr marL="0" indent="0">
              <a:lnSpc>
                <a:spcPct val="118000"/>
              </a:lnSpc>
              <a:buNone/>
            </a:pPr>
            <a:r>
              <a:rPr lang="en-US" sz="1200" dirty="0">
                <a:solidFill>
                  <a:srgbClr val="8A97AC"/>
                </a:solidFill>
                <a:latin typeface="Calibri" pitchFamily="34" charset="0"/>
                <a:ea typeface="Calibri" pitchFamily="34" charset="-122"/>
                <a:cs typeface="Calibri" pitchFamily="34" charset="-120"/>
              </a:rPr>
              <a:t>Hindsight bias against oneself, second-victim distress, and a rational calculation about what to disclose.</a:t>
            </a:r>
            <a:endParaRPr lang="en-US" sz="1200" dirty="0"/>
          </a:p>
        </p:txBody>
      </p:sp>
      <p:sp>
        <p:nvSpPr>
          <p:cNvPr id="25" name="Text 23"/>
          <p:cNvSpPr/>
          <p:nvPr/>
        </p:nvSpPr>
        <p:spPr>
          <a:xfrm>
            <a:off x="7086600" y="5925312"/>
            <a:ext cx="4434840" cy="548640"/>
          </a:xfrm>
          <a:prstGeom prst="rect">
            <a:avLst/>
          </a:prstGeom>
          <a:noFill/>
          <a:ln/>
        </p:spPr>
        <p:txBody>
          <a:bodyPr wrap="square" lIns="0" tIns="0" rIns="0" bIns="0" rtlCol="0" anchor="ctr"/>
          <a:lstStyle/>
          <a:p>
            <a:pPr marL="0" indent="0">
              <a:lnSpc>
                <a:spcPct val="115000"/>
              </a:lnSpc>
              <a:buNone/>
            </a:pPr>
            <a:r>
              <a:rPr lang="en-US" sz="1200" i="1" dirty="0">
                <a:solidFill>
                  <a:srgbClr val="2EC4B6"/>
                </a:solidFill>
                <a:latin typeface="Calibri" pitchFamily="34" charset="0"/>
                <a:ea typeface="Calibri" pitchFamily="34" charset="-122"/>
                <a:cs typeface="Calibri" pitchFamily="34" charset="-120"/>
              </a:rPr>
              <a:t>Every layer outward adds pressure to convert a systems question into a personnel question.</a:t>
            </a:r>
            <a:endParaRPr lang="en-US" sz="1200" dirty="0"/>
          </a:p>
        </p:txBody>
      </p:sp>
      <p:sp>
        <p:nvSpPr>
          <p:cNvPr id="26" name="Text 24"/>
          <p:cNvSpPr/>
          <p:nvPr/>
        </p:nvSpPr>
        <p:spPr>
          <a:xfrm>
            <a:off x="640080" y="6245352"/>
            <a:ext cx="10881360" cy="329184"/>
          </a:xfrm>
          <a:prstGeom prst="rect">
            <a:avLst/>
          </a:prstGeom>
          <a:noFill/>
          <a:ln/>
        </p:spPr>
        <p:txBody>
          <a:bodyPr wrap="square" lIns="0" tIns="0" rIns="0" bIns="0" rtlCol="0" anchor="t"/>
          <a:lstStyle/>
          <a:p>
            <a:pPr marL="0" indent="0">
              <a:buNone/>
            </a:pP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420"/>
        </a:solidFill>
        <a:effectLst/>
      </p:bgPr>
    </p:bg>
    <p:spTree>
      <p:nvGrpSpPr>
        <p:cNvPr id="1" name=""/>
        <p:cNvGrpSpPr/>
        <p:nvPr/>
      </p:nvGrpSpPr>
      <p:grpSpPr>
        <a:xfrm>
          <a:off x="0" y="0"/>
          <a:ext cx="0" cy="0"/>
          <a:chOff x="0" y="0"/>
          <a:chExt cx="0" cy="0"/>
        </a:xfrm>
      </p:grpSpPr>
      <p:sp>
        <p:nvSpPr>
          <p:cNvPr id="2" name="Text 0"/>
          <p:cNvSpPr/>
          <p:nvPr/>
        </p:nvSpPr>
        <p:spPr>
          <a:xfrm>
            <a:off x="640080" y="310896"/>
            <a:ext cx="10881360" cy="256032"/>
          </a:xfrm>
          <a:prstGeom prst="rect">
            <a:avLst/>
          </a:prstGeom>
          <a:noFill/>
          <a:ln/>
        </p:spPr>
        <p:txBody>
          <a:bodyPr wrap="square" lIns="0" tIns="0" rIns="0" bIns="0" rtlCol="0" anchor="ctr"/>
          <a:lstStyle/>
          <a:p>
            <a:pPr marL="0" indent="0">
              <a:buNone/>
            </a:pPr>
            <a:r>
              <a:rPr lang="en-US" sz="1100" b="1" kern="0" spc="220" dirty="0">
                <a:solidFill>
                  <a:srgbClr val="F0A202"/>
                </a:solidFill>
                <a:latin typeface="Calibri" pitchFamily="34" charset="0"/>
                <a:ea typeface="Calibri" pitchFamily="34" charset="-122"/>
                <a:cs typeface="Calibri" pitchFamily="34" charset="-120"/>
              </a:rPr>
              <a:t>TAKEAWAYS</a:t>
            </a:r>
            <a:endParaRPr lang="en-US" sz="1100" dirty="0"/>
          </a:p>
        </p:txBody>
      </p:sp>
      <p:sp>
        <p:nvSpPr>
          <p:cNvPr id="3" name="Text 1"/>
          <p:cNvSpPr/>
          <p:nvPr/>
        </p:nvSpPr>
        <p:spPr>
          <a:xfrm>
            <a:off x="640080" y="576072"/>
            <a:ext cx="10881360" cy="658368"/>
          </a:xfrm>
          <a:prstGeom prst="rect">
            <a:avLst/>
          </a:prstGeom>
          <a:noFill/>
          <a:ln/>
        </p:spPr>
        <p:txBody>
          <a:bodyPr wrap="square" lIns="0" tIns="0" rIns="0" bIns="0" rtlCol="0" anchor="ctr"/>
          <a:lstStyle/>
          <a:p>
            <a:pPr marL="0" indent="0">
              <a:buNone/>
            </a:pPr>
            <a:r>
              <a:rPr lang="en-US" sz="3000" b="1" dirty="0">
                <a:solidFill>
                  <a:srgbClr val="E8EDF5"/>
                </a:solidFill>
                <a:latin typeface="Arial" pitchFamily="34" charset="0"/>
                <a:ea typeface="Arial" pitchFamily="34" charset="-122"/>
                <a:cs typeface="Arial" pitchFamily="34" charset="-120"/>
              </a:rPr>
              <a:t>What actually moves the needle</a:t>
            </a:r>
            <a:endParaRPr lang="en-US" sz="3000" dirty="0"/>
          </a:p>
        </p:txBody>
      </p:sp>
      <p:sp>
        <p:nvSpPr>
          <p:cNvPr id="4" name="Shape 2"/>
          <p:cNvSpPr/>
          <p:nvPr/>
        </p:nvSpPr>
        <p:spPr>
          <a:xfrm>
            <a:off x="640080" y="1463040"/>
            <a:ext cx="7452360" cy="822960"/>
          </a:xfrm>
          <a:prstGeom prst="roundRect">
            <a:avLst>
              <a:gd name="adj" fmla="val 6667"/>
            </a:avLst>
          </a:prstGeom>
          <a:solidFill>
            <a:srgbClr val="1A2333"/>
          </a:solidFill>
          <a:ln w="12700">
            <a:solidFill>
              <a:srgbClr val="2E3B52"/>
            </a:solidFill>
            <a:prstDash val="solid"/>
          </a:ln>
        </p:spPr>
        <p:txBody>
          <a:bodyPr/>
          <a:lstStyle/>
          <a:p>
            <a:endParaRPr lang="en-US"/>
          </a:p>
        </p:txBody>
      </p:sp>
      <p:sp>
        <p:nvSpPr>
          <p:cNvPr id="5" name="Shape 3"/>
          <p:cNvSpPr/>
          <p:nvPr/>
        </p:nvSpPr>
        <p:spPr>
          <a:xfrm>
            <a:off x="896112" y="1664208"/>
            <a:ext cx="420624" cy="420624"/>
          </a:xfrm>
          <a:prstGeom prst="ellipse">
            <a:avLst/>
          </a:prstGeom>
          <a:solidFill>
            <a:srgbClr val="2EC4B6"/>
          </a:solidFill>
          <a:ln/>
        </p:spPr>
        <p:txBody>
          <a:bodyPr/>
          <a:lstStyle/>
          <a:p>
            <a:endParaRPr lang="en-US"/>
          </a:p>
        </p:txBody>
      </p:sp>
      <p:sp>
        <p:nvSpPr>
          <p:cNvPr id="6" name="Text 4"/>
          <p:cNvSpPr/>
          <p:nvPr/>
        </p:nvSpPr>
        <p:spPr>
          <a:xfrm>
            <a:off x="896112" y="1664208"/>
            <a:ext cx="420624" cy="420624"/>
          </a:xfrm>
          <a:prstGeom prst="rect">
            <a:avLst/>
          </a:prstGeom>
          <a:noFill/>
          <a:ln/>
        </p:spPr>
        <p:txBody>
          <a:bodyPr wrap="square" lIns="0" tIns="0" rIns="0" bIns="0" rtlCol="0" anchor="ctr"/>
          <a:lstStyle/>
          <a:p>
            <a:pPr marL="0" indent="0" algn="ctr">
              <a:buNone/>
            </a:pPr>
            <a:r>
              <a:rPr lang="en-US" sz="1400" b="1" dirty="0">
                <a:solidFill>
                  <a:srgbClr val="0E1420"/>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1463040" y="1554480"/>
            <a:ext cx="2743200" cy="640080"/>
          </a:xfrm>
          <a:prstGeom prst="rect">
            <a:avLst/>
          </a:prstGeom>
          <a:noFill/>
          <a:ln/>
        </p:spPr>
        <p:txBody>
          <a:bodyPr wrap="square" lIns="0" tIns="0" rIns="0" bIns="0" rtlCol="0" anchor="ctr"/>
          <a:lstStyle/>
          <a:p>
            <a:pPr marL="0" indent="0">
              <a:buNone/>
            </a:pPr>
            <a:r>
              <a:rPr lang="en-US" sz="1250" b="1" dirty="0">
                <a:solidFill>
                  <a:srgbClr val="E8EDF5"/>
                </a:solidFill>
                <a:latin typeface="Arial" pitchFamily="34" charset="0"/>
                <a:ea typeface="Arial" pitchFamily="34" charset="-122"/>
                <a:cs typeface="Arial" pitchFamily="34" charset="-120"/>
              </a:rPr>
              <a:t>Change behavior first, not beliefs</a:t>
            </a:r>
            <a:endParaRPr lang="en-US" sz="1250" dirty="0"/>
          </a:p>
        </p:txBody>
      </p:sp>
      <p:sp>
        <p:nvSpPr>
          <p:cNvPr id="8" name="Text 6"/>
          <p:cNvSpPr/>
          <p:nvPr/>
        </p:nvSpPr>
        <p:spPr>
          <a:xfrm>
            <a:off x="4279392" y="1545336"/>
            <a:ext cx="3584448" cy="658368"/>
          </a:xfrm>
          <a:prstGeom prst="rect">
            <a:avLst/>
          </a:prstGeom>
          <a:noFill/>
          <a:ln/>
        </p:spPr>
        <p:txBody>
          <a:bodyPr wrap="square" lIns="0" tIns="0" rIns="0" bIns="0" rtlCol="0" anchor="ctr"/>
          <a:lstStyle/>
          <a:p>
            <a:pPr marL="0" indent="0">
              <a:lnSpc>
                <a:spcPct val="112000"/>
              </a:lnSpc>
              <a:buNone/>
            </a:pPr>
            <a:r>
              <a:rPr lang="en-US" sz="1000" dirty="0">
                <a:solidFill>
                  <a:srgbClr val="8A97AC"/>
                </a:solidFill>
                <a:latin typeface="Calibri" pitchFamily="34" charset="0"/>
                <a:ea typeface="Calibri" pitchFamily="34" charset="-122"/>
                <a:cs typeface="Calibri" pitchFamily="34" charset="-120"/>
              </a:rPr>
              <a:t>Culture follows practice. Blameless reviews, shared on-call, and cross-functional ownership shift the culture; workshops about culture do not.</a:t>
            </a:r>
            <a:endParaRPr lang="en-US" sz="1000" dirty="0"/>
          </a:p>
        </p:txBody>
      </p:sp>
      <p:sp>
        <p:nvSpPr>
          <p:cNvPr id="9" name="Shape 7"/>
          <p:cNvSpPr/>
          <p:nvPr/>
        </p:nvSpPr>
        <p:spPr>
          <a:xfrm>
            <a:off x="640080" y="2404872"/>
            <a:ext cx="7452360" cy="822960"/>
          </a:xfrm>
          <a:prstGeom prst="roundRect">
            <a:avLst>
              <a:gd name="adj" fmla="val 6667"/>
            </a:avLst>
          </a:prstGeom>
          <a:solidFill>
            <a:srgbClr val="1A2333"/>
          </a:solidFill>
          <a:ln w="12700">
            <a:solidFill>
              <a:srgbClr val="2E3B52"/>
            </a:solidFill>
            <a:prstDash val="solid"/>
          </a:ln>
        </p:spPr>
        <p:txBody>
          <a:bodyPr/>
          <a:lstStyle/>
          <a:p>
            <a:endParaRPr lang="en-US"/>
          </a:p>
        </p:txBody>
      </p:sp>
      <p:sp>
        <p:nvSpPr>
          <p:cNvPr id="10" name="Shape 8"/>
          <p:cNvSpPr/>
          <p:nvPr/>
        </p:nvSpPr>
        <p:spPr>
          <a:xfrm>
            <a:off x="896112" y="2606040"/>
            <a:ext cx="420624" cy="420624"/>
          </a:xfrm>
          <a:prstGeom prst="ellipse">
            <a:avLst/>
          </a:prstGeom>
          <a:solidFill>
            <a:srgbClr val="2EC4B6"/>
          </a:solidFill>
          <a:ln/>
        </p:spPr>
        <p:txBody>
          <a:bodyPr/>
          <a:lstStyle/>
          <a:p>
            <a:endParaRPr lang="en-US"/>
          </a:p>
        </p:txBody>
      </p:sp>
      <p:sp>
        <p:nvSpPr>
          <p:cNvPr id="11" name="Text 9"/>
          <p:cNvSpPr/>
          <p:nvPr/>
        </p:nvSpPr>
        <p:spPr>
          <a:xfrm>
            <a:off x="896112" y="2606040"/>
            <a:ext cx="420624" cy="420624"/>
          </a:xfrm>
          <a:prstGeom prst="rect">
            <a:avLst/>
          </a:prstGeom>
          <a:noFill/>
          <a:ln/>
        </p:spPr>
        <p:txBody>
          <a:bodyPr wrap="square" lIns="0" tIns="0" rIns="0" bIns="0" rtlCol="0" anchor="ctr"/>
          <a:lstStyle/>
          <a:p>
            <a:pPr marL="0" indent="0" algn="ctr">
              <a:buNone/>
            </a:pPr>
            <a:r>
              <a:rPr lang="en-US" sz="1400" b="1" dirty="0">
                <a:solidFill>
                  <a:srgbClr val="0E1420"/>
                </a:solidFill>
                <a:latin typeface="Arial" pitchFamily="34" charset="0"/>
                <a:ea typeface="Arial" pitchFamily="34" charset="-122"/>
                <a:cs typeface="Arial" pitchFamily="34" charset="-120"/>
              </a:rPr>
              <a:t>2</a:t>
            </a:r>
            <a:endParaRPr lang="en-US" sz="1400" dirty="0"/>
          </a:p>
        </p:txBody>
      </p:sp>
      <p:sp>
        <p:nvSpPr>
          <p:cNvPr id="12" name="Text 10"/>
          <p:cNvSpPr/>
          <p:nvPr/>
        </p:nvSpPr>
        <p:spPr>
          <a:xfrm>
            <a:off x="1463040" y="2496312"/>
            <a:ext cx="2743200" cy="640080"/>
          </a:xfrm>
          <a:prstGeom prst="rect">
            <a:avLst/>
          </a:prstGeom>
          <a:noFill/>
          <a:ln/>
        </p:spPr>
        <p:txBody>
          <a:bodyPr wrap="square" lIns="0" tIns="0" rIns="0" bIns="0" rtlCol="0" anchor="ctr"/>
          <a:lstStyle/>
          <a:p>
            <a:pPr marL="0" indent="0">
              <a:buNone/>
            </a:pPr>
            <a:r>
              <a:rPr lang="en-US" sz="1250" b="1" dirty="0">
                <a:solidFill>
                  <a:srgbClr val="E8EDF5"/>
                </a:solidFill>
                <a:latin typeface="Arial" pitchFamily="34" charset="0"/>
                <a:ea typeface="Arial" pitchFamily="34" charset="-122"/>
                <a:cs typeface="Arial" pitchFamily="34" charset="-120"/>
              </a:rPr>
              <a:t>Publish the line before you need it</a:t>
            </a:r>
            <a:endParaRPr lang="en-US" sz="1250" dirty="0"/>
          </a:p>
        </p:txBody>
      </p:sp>
      <p:sp>
        <p:nvSpPr>
          <p:cNvPr id="13" name="Text 11"/>
          <p:cNvSpPr/>
          <p:nvPr/>
        </p:nvSpPr>
        <p:spPr>
          <a:xfrm>
            <a:off x="4279392" y="2487168"/>
            <a:ext cx="3584448" cy="658368"/>
          </a:xfrm>
          <a:prstGeom prst="rect">
            <a:avLst/>
          </a:prstGeom>
          <a:noFill/>
          <a:ln/>
        </p:spPr>
        <p:txBody>
          <a:bodyPr wrap="square" lIns="0" tIns="0" rIns="0" bIns="0" rtlCol="0" anchor="ctr"/>
          <a:lstStyle/>
          <a:p>
            <a:pPr marL="0" indent="0">
              <a:lnSpc>
                <a:spcPct val="112000"/>
              </a:lnSpc>
              <a:buNone/>
            </a:pPr>
            <a:r>
              <a:rPr lang="en-US" sz="1000" dirty="0">
                <a:solidFill>
                  <a:srgbClr val="8A97AC"/>
                </a:solidFill>
                <a:latin typeface="Calibri" pitchFamily="34" charset="0"/>
                <a:ea typeface="Calibri" pitchFamily="34" charset="-122"/>
                <a:cs typeface="Calibri" pitchFamily="34" charset="-120"/>
              </a:rPr>
              <a:t>Decide and document what is genuinely unacceptable, and be equally explicit about what the organization will absorb. Ambiguity is what people fear.</a:t>
            </a:r>
            <a:endParaRPr lang="en-US" sz="1000" dirty="0"/>
          </a:p>
        </p:txBody>
      </p:sp>
      <p:sp>
        <p:nvSpPr>
          <p:cNvPr id="14" name="Shape 12"/>
          <p:cNvSpPr/>
          <p:nvPr/>
        </p:nvSpPr>
        <p:spPr>
          <a:xfrm>
            <a:off x="640080" y="3346704"/>
            <a:ext cx="7452360" cy="822960"/>
          </a:xfrm>
          <a:prstGeom prst="roundRect">
            <a:avLst>
              <a:gd name="adj" fmla="val 6667"/>
            </a:avLst>
          </a:prstGeom>
          <a:solidFill>
            <a:srgbClr val="1A2333"/>
          </a:solidFill>
          <a:ln w="12700">
            <a:solidFill>
              <a:srgbClr val="2E3B52"/>
            </a:solidFill>
            <a:prstDash val="solid"/>
          </a:ln>
        </p:spPr>
        <p:txBody>
          <a:bodyPr/>
          <a:lstStyle/>
          <a:p>
            <a:endParaRPr lang="en-US"/>
          </a:p>
        </p:txBody>
      </p:sp>
      <p:sp>
        <p:nvSpPr>
          <p:cNvPr id="15" name="Shape 13"/>
          <p:cNvSpPr/>
          <p:nvPr/>
        </p:nvSpPr>
        <p:spPr>
          <a:xfrm>
            <a:off x="896112" y="3547872"/>
            <a:ext cx="420624" cy="420624"/>
          </a:xfrm>
          <a:prstGeom prst="ellipse">
            <a:avLst/>
          </a:prstGeom>
          <a:solidFill>
            <a:srgbClr val="2EC4B6"/>
          </a:solidFill>
          <a:ln/>
        </p:spPr>
        <p:txBody>
          <a:bodyPr/>
          <a:lstStyle/>
          <a:p>
            <a:endParaRPr lang="en-US"/>
          </a:p>
        </p:txBody>
      </p:sp>
      <p:sp>
        <p:nvSpPr>
          <p:cNvPr id="16" name="Text 14"/>
          <p:cNvSpPr/>
          <p:nvPr/>
        </p:nvSpPr>
        <p:spPr>
          <a:xfrm>
            <a:off x="896112" y="3547872"/>
            <a:ext cx="420624" cy="420624"/>
          </a:xfrm>
          <a:prstGeom prst="rect">
            <a:avLst/>
          </a:prstGeom>
          <a:noFill/>
          <a:ln/>
        </p:spPr>
        <p:txBody>
          <a:bodyPr wrap="square" lIns="0" tIns="0" rIns="0" bIns="0" rtlCol="0" anchor="ctr"/>
          <a:lstStyle/>
          <a:p>
            <a:pPr marL="0" indent="0" algn="ctr">
              <a:buNone/>
            </a:pPr>
            <a:r>
              <a:rPr lang="en-US" sz="1400" b="1" dirty="0">
                <a:solidFill>
                  <a:srgbClr val="0E1420"/>
                </a:solidFill>
                <a:latin typeface="Arial" pitchFamily="34" charset="0"/>
                <a:ea typeface="Arial" pitchFamily="34" charset="-122"/>
                <a:cs typeface="Arial" pitchFamily="34" charset="-120"/>
              </a:rPr>
              <a:t>3</a:t>
            </a:r>
            <a:endParaRPr lang="en-US" sz="1400" dirty="0"/>
          </a:p>
        </p:txBody>
      </p:sp>
      <p:sp>
        <p:nvSpPr>
          <p:cNvPr id="17" name="Text 15"/>
          <p:cNvSpPr/>
          <p:nvPr/>
        </p:nvSpPr>
        <p:spPr>
          <a:xfrm>
            <a:off x="1463040" y="3438144"/>
            <a:ext cx="2743200" cy="640080"/>
          </a:xfrm>
          <a:prstGeom prst="rect">
            <a:avLst/>
          </a:prstGeom>
          <a:noFill/>
          <a:ln/>
        </p:spPr>
        <p:txBody>
          <a:bodyPr wrap="square" lIns="0" tIns="0" rIns="0" bIns="0" rtlCol="0" anchor="ctr"/>
          <a:lstStyle/>
          <a:p>
            <a:pPr marL="0" indent="0">
              <a:buNone/>
            </a:pPr>
            <a:r>
              <a:rPr lang="en-US" sz="1250" b="1" dirty="0">
                <a:solidFill>
                  <a:srgbClr val="E8EDF5"/>
                </a:solidFill>
                <a:latin typeface="Arial" pitchFamily="34" charset="0"/>
                <a:ea typeface="Arial" pitchFamily="34" charset="-122"/>
                <a:cs typeface="Arial" pitchFamily="34" charset="-120"/>
              </a:rPr>
              <a:t>Close the reporting loop visibly</a:t>
            </a:r>
            <a:endParaRPr lang="en-US" sz="1250" dirty="0"/>
          </a:p>
        </p:txBody>
      </p:sp>
      <p:sp>
        <p:nvSpPr>
          <p:cNvPr id="18" name="Text 16"/>
          <p:cNvSpPr/>
          <p:nvPr/>
        </p:nvSpPr>
        <p:spPr>
          <a:xfrm>
            <a:off x="4279392" y="3429000"/>
            <a:ext cx="3584448" cy="658368"/>
          </a:xfrm>
          <a:prstGeom prst="rect">
            <a:avLst/>
          </a:prstGeom>
          <a:noFill/>
          <a:ln/>
        </p:spPr>
        <p:txBody>
          <a:bodyPr wrap="square" lIns="0" tIns="0" rIns="0" bIns="0" rtlCol="0" anchor="ctr"/>
          <a:lstStyle/>
          <a:p>
            <a:pPr marL="0" indent="0">
              <a:lnSpc>
                <a:spcPct val="112000"/>
              </a:lnSpc>
              <a:buNone/>
            </a:pPr>
            <a:r>
              <a:rPr lang="en-US" sz="1000" dirty="0">
                <a:solidFill>
                  <a:srgbClr val="8A97AC"/>
                </a:solidFill>
                <a:latin typeface="Calibri" pitchFamily="34" charset="0"/>
                <a:ea typeface="Calibri" pitchFamily="34" charset="-122"/>
                <a:cs typeface="Calibri" pitchFamily="34" charset="-120"/>
              </a:rPr>
              <a:t>Report what changed because someone spoke up. Unrewarded reporting decays fast; that decay is the leading indicator of a failing just culture.</a:t>
            </a:r>
            <a:endParaRPr lang="en-US" sz="1000" dirty="0"/>
          </a:p>
        </p:txBody>
      </p:sp>
      <p:sp>
        <p:nvSpPr>
          <p:cNvPr id="19" name="Shape 17"/>
          <p:cNvSpPr/>
          <p:nvPr/>
        </p:nvSpPr>
        <p:spPr>
          <a:xfrm>
            <a:off x="640080" y="4288536"/>
            <a:ext cx="7452360" cy="822960"/>
          </a:xfrm>
          <a:prstGeom prst="roundRect">
            <a:avLst>
              <a:gd name="adj" fmla="val 6667"/>
            </a:avLst>
          </a:prstGeom>
          <a:solidFill>
            <a:srgbClr val="1A2333"/>
          </a:solidFill>
          <a:ln w="12700">
            <a:solidFill>
              <a:srgbClr val="2E3B52"/>
            </a:solidFill>
            <a:prstDash val="solid"/>
          </a:ln>
        </p:spPr>
        <p:txBody>
          <a:bodyPr/>
          <a:lstStyle/>
          <a:p>
            <a:endParaRPr lang="en-US"/>
          </a:p>
        </p:txBody>
      </p:sp>
      <p:sp>
        <p:nvSpPr>
          <p:cNvPr id="20" name="Shape 18"/>
          <p:cNvSpPr/>
          <p:nvPr/>
        </p:nvSpPr>
        <p:spPr>
          <a:xfrm>
            <a:off x="896112" y="4489704"/>
            <a:ext cx="420624" cy="420624"/>
          </a:xfrm>
          <a:prstGeom prst="ellipse">
            <a:avLst/>
          </a:prstGeom>
          <a:solidFill>
            <a:srgbClr val="F0A202"/>
          </a:solidFill>
          <a:ln/>
        </p:spPr>
        <p:txBody>
          <a:bodyPr/>
          <a:lstStyle/>
          <a:p>
            <a:endParaRPr lang="en-US"/>
          </a:p>
        </p:txBody>
      </p:sp>
      <p:sp>
        <p:nvSpPr>
          <p:cNvPr id="21" name="Text 19"/>
          <p:cNvSpPr/>
          <p:nvPr/>
        </p:nvSpPr>
        <p:spPr>
          <a:xfrm>
            <a:off x="896112" y="4489704"/>
            <a:ext cx="420624" cy="420624"/>
          </a:xfrm>
          <a:prstGeom prst="rect">
            <a:avLst/>
          </a:prstGeom>
          <a:noFill/>
          <a:ln/>
        </p:spPr>
        <p:txBody>
          <a:bodyPr wrap="square" lIns="0" tIns="0" rIns="0" bIns="0" rtlCol="0" anchor="ctr"/>
          <a:lstStyle/>
          <a:p>
            <a:pPr marL="0" indent="0" algn="ctr">
              <a:buNone/>
            </a:pPr>
            <a:r>
              <a:rPr lang="en-US" sz="1400" b="1" dirty="0">
                <a:solidFill>
                  <a:srgbClr val="0E1420"/>
                </a:solidFill>
                <a:latin typeface="Arial" pitchFamily="34" charset="0"/>
                <a:ea typeface="Arial" pitchFamily="34" charset="-122"/>
                <a:cs typeface="Arial" pitchFamily="34" charset="-120"/>
              </a:rPr>
              <a:t>4</a:t>
            </a:r>
            <a:endParaRPr lang="en-US" sz="1400" dirty="0"/>
          </a:p>
        </p:txBody>
      </p:sp>
      <p:sp>
        <p:nvSpPr>
          <p:cNvPr id="22" name="Text 20"/>
          <p:cNvSpPr/>
          <p:nvPr/>
        </p:nvSpPr>
        <p:spPr>
          <a:xfrm>
            <a:off x="1463040" y="4379976"/>
            <a:ext cx="2743200" cy="640080"/>
          </a:xfrm>
          <a:prstGeom prst="rect">
            <a:avLst/>
          </a:prstGeom>
          <a:noFill/>
          <a:ln/>
        </p:spPr>
        <p:txBody>
          <a:bodyPr wrap="square" lIns="0" tIns="0" rIns="0" bIns="0" rtlCol="0" anchor="ctr"/>
          <a:lstStyle/>
          <a:p>
            <a:pPr marL="0" indent="0">
              <a:buNone/>
            </a:pPr>
            <a:r>
              <a:rPr lang="en-US" sz="1250" b="1" dirty="0">
                <a:solidFill>
                  <a:srgbClr val="E8EDF5"/>
                </a:solidFill>
                <a:latin typeface="Arial" pitchFamily="34" charset="0"/>
                <a:ea typeface="Arial" pitchFamily="34" charset="-122"/>
                <a:cs typeface="Arial" pitchFamily="34" charset="-120"/>
              </a:rPr>
              <a:t>Protect the first hard case loudly</a:t>
            </a:r>
            <a:endParaRPr lang="en-US" sz="1250" dirty="0"/>
          </a:p>
        </p:txBody>
      </p:sp>
      <p:sp>
        <p:nvSpPr>
          <p:cNvPr id="23" name="Text 21"/>
          <p:cNvSpPr/>
          <p:nvPr/>
        </p:nvSpPr>
        <p:spPr>
          <a:xfrm>
            <a:off x="4279392" y="4370832"/>
            <a:ext cx="3584448" cy="658368"/>
          </a:xfrm>
          <a:prstGeom prst="rect">
            <a:avLst/>
          </a:prstGeom>
          <a:noFill/>
          <a:ln/>
        </p:spPr>
        <p:txBody>
          <a:bodyPr wrap="square" lIns="0" tIns="0" rIns="0" bIns="0" rtlCol="0" anchor="ctr"/>
          <a:lstStyle/>
          <a:p>
            <a:pPr marL="0" indent="0">
              <a:lnSpc>
                <a:spcPct val="112000"/>
              </a:lnSpc>
              <a:buNone/>
            </a:pPr>
            <a:r>
              <a:rPr lang="en-US" sz="1000" dirty="0">
                <a:solidFill>
                  <a:srgbClr val="8A97AC"/>
                </a:solidFill>
                <a:latin typeface="Calibri" pitchFamily="34" charset="0"/>
                <a:ea typeface="Calibri" pitchFamily="34" charset="-122"/>
                <a:cs typeface="Calibri" pitchFamily="34" charset="-120"/>
              </a:rPr>
              <a:t>The precedent set by one high-severity incident outweighs any policy document. Everyone is watching what happens to that engineer.</a:t>
            </a:r>
            <a:endParaRPr lang="en-US" sz="1000" dirty="0"/>
          </a:p>
        </p:txBody>
      </p:sp>
      <p:sp>
        <p:nvSpPr>
          <p:cNvPr id="24" name="Shape 22"/>
          <p:cNvSpPr/>
          <p:nvPr/>
        </p:nvSpPr>
        <p:spPr>
          <a:xfrm>
            <a:off x="640080" y="5230368"/>
            <a:ext cx="7452360" cy="822960"/>
          </a:xfrm>
          <a:prstGeom prst="roundRect">
            <a:avLst>
              <a:gd name="adj" fmla="val 6667"/>
            </a:avLst>
          </a:prstGeom>
          <a:solidFill>
            <a:srgbClr val="1A2333"/>
          </a:solidFill>
          <a:ln w="12700">
            <a:solidFill>
              <a:srgbClr val="2E3B52"/>
            </a:solidFill>
            <a:prstDash val="solid"/>
          </a:ln>
        </p:spPr>
        <p:txBody>
          <a:bodyPr/>
          <a:lstStyle/>
          <a:p>
            <a:endParaRPr lang="en-US"/>
          </a:p>
        </p:txBody>
      </p:sp>
      <p:sp>
        <p:nvSpPr>
          <p:cNvPr id="25" name="Shape 23"/>
          <p:cNvSpPr/>
          <p:nvPr/>
        </p:nvSpPr>
        <p:spPr>
          <a:xfrm>
            <a:off x="896112" y="5431536"/>
            <a:ext cx="420624" cy="420624"/>
          </a:xfrm>
          <a:prstGeom prst="ellipse">
            <a:avLst/>
          </a:prstGeom>
          <a:solidFill>
            <a:srgbClr val="2EC4B6"/>
          </a:solidFill>
          <a:ln/>
        </p:spPr>
        <p:txBody>
          <a:bodyPr/>
          <a:lstStyle/>
          <a:p>
            <a:endParaRPr lang="en-US"/>
          </a:p>
        </p:txBody>
      </p:sp>
      <p:sp>
        <p:nvSpPr>
          <p:cNvPr id="26" name="Text 24"/>
          <p:cNvSpPr/>
          <p:nvPr/>
        </p:nvSpPr>
        <p:spPr>
          <a:xfrm>
            <a:off x="896112" y="5431536"/>
            <a:ext cx="420624" cy="420624"/>
          </a:xfrm>
          <a:prstGeom prst="rect">
            <a:avLst/>
          </a:prstGeom>
          <a:noFill/>
          <a:ln/>
        </p:spPr>
        <p:txBody>
          <a:bodyPr wrap="square" lIns="0" tIns="0" rIns="0" bIns="0" rtlCol="0" anchor="ctr"/>
          <a:lstStyle/>
          <a:p>
            <a:pPr marL="0" indent="0" algn="ctr">
              <a:buNone/>
            </a:pPr>
            <a:r>
              <a:rPr lang="en-US" sz="1400" b="1" dirty="0">
                <a:solidFill>
                  <a:srgbClr val="0E1420"/>
                </a:solidFill>
                <a:latin typeface="Arial" pitchFamily="34" charset="0"/>
                <a:ea typeface="Arial" pitchFamily="34" charset="-122"/>
                <a:cs typeface="Arial" pitchFamily="34" charset="-120"/>
              </a:rPr>
              <a:t>5</a:t>
            </a:r>
            <a:endParaRPr lang="en-US" sz="1400" dirty="0"/>
          </a:p>
        </p:txBody>
      </p:sp>
      <p:sp>
        <p:nvSpPr>
          <p:cNvPr id="27" name="Text 25"/>
          <p:cNvSpPr/>
          <p:nvPr/>
        </p:nvSpPr>
        <p:spPr>
          <a:xfrm>
            <a:off x="1463040" y="5321808"/>
            <a:ext cx="2743200" cy="640080"/>
          </a:xfrm>
          <a:prstGeom prst="rect">
            <a:avLst/>
          </a:prstGeom>
          <a:noFill/>
          <a:ln/>
        </p:spPr>
        <p:txBody>
          <a:bodyPr wrap="square" lIns="0" tIns="0" rIns="0" bIns="0" rtlCol="0" anchor="ctr"/>
          <a:lstStyle/>
          <a:p>
            <a:pPr marL="0" indent="0">
              <a:buNone/>
            </a:pPr>
            <a:r>
              <a:rPr lang="en-US" sz="1250" b="1" dirty="0">
                <a:solidFill>
                  <a:srgbClr val="E8EDF5"/>
                </a:solidFill>
                <a:latin typeface="Arial" pitchFamily="34" charset="0"/>
                <a:ea typeface="Arial" pitchFamily="34" charset="-122"/>
                <a:cs typeface="Arial" pitchFamily="34" charset="-120"/>
              </a:rPr>
              <a:t>Measure it, don’t assume it</a:t>
            </a:r>
            <a:endParaRPr lang="en-US" sz="1250" dirty="0"/>
          </a:p>
        </p:txBody>
      </p:sp>
      <p:sp>
        <p:nvSpPr>
          <p:cNvPr id="28" name="Text 26"/>
          <p:cNvSpPr/>
          <p:nvPr/>
        </p:nvSpPr>
        <p:spPr>
          <a:xfrm>
            <a:off x="4279392" y="5312664"/>
            <a:ext cx="3584448" cy="658368"/>
          </a:xfrm>
          <a:prstGeom prst="rect">
            <a:avLst/>
          </a:prstGeom>
          <a:noFill/>
          <a:ln/>
        </p:spPr>
        <p:txBody>
          <a:bodyPr wrap="square" lIns="0" tIns="0" rIns="0" bIns="0" rtlCol="0" anchor="ctr"/>
          <a:lstStyle/>
          <a:p>
            <a:pPr marL="0" indent="0">
              <a:lnSpc>
                <a:spcPct val="112000"/>
              </a:lnSpc>
              <a:buNone/>
            </a:pPr>
            <a:r>
              <a:rPr lang="en-US" sz="1000" dirty="0">
                <a:solidFill>
                  <a:srgbClr val="8A97AC"/>
                </a:solidFill>
                <a:latin typeface="Calibri" pitchFamily="34" charset="0"/>
                <a:ea typeface="Calibri" pitchFamily="34" charset="-122"/>
                <a:cs typeface="Calibri" pitchFamily="34" charset="-120"/>
              </a:rPr>
              <a:t>The Westrum six-item survey is short, validated, and will tell you where you actually are rather than where leadership believes you are.</a:t>
            </a:r>
            <a:endParaRPr lang="en-US" sz="1000" dirty="0"/>
          </a:p>
        </p:txBody>
      </p:sp>
      <p:sp>
        <p:nvSpPr>
          <p:cNvPr id="29" name="Shape 27"/>
          <p:cNvSpPr/>
          <p:nvPr/>
        </p:nvSpPr>
        <p:spPr>
          <a:xfrm>
            <a:off x="8366760" y="1463040"/>
            <a:ext cx="3154680" cy="4690872"/>
          </a:xfrm>
          <a:prstGeom prst="roundRect">
            <a:avLst>
              <a:gd name="adj" fmla="val 1739"/>
            </a:avLst>
          </a:prstGeom>
          <a:solidFill>
            <a:srgbClr val="232E42"/>
          </a:solidFill>
          <a:ln w="12700">
            <a:solidFill>
              <a:srgbClr val="2E3B52"/>
            </a:solidFill>
            <a:prstDash val="solid"/>
          </a:ln>
        </p:spPr>
        <p:txBody>
          <a:bodyPr/>
          <a:lstStyle/>
          <a:p>
            <a:endParaRPr lang="en-US"/>
          </a:p>
        </p:txBody>
      </p:sp>
      <p:sp>
        <p:nvSpPr>
          <p:cNvPr id="30" name="Text 28"/>
          <p:cNvSpPr/>
          <p:nvPr/>
        </p:nvSpPr>
        <p:spPr>
          <a:xfrm>
            <a:off x="8641080" y="1664208"/>
            <a:ext cx="2651760" cy="292608"/>
          </a:xfrm>
          <a:prstGeom prst="rect">
            <a:avLst/>
          </a:prstGeom>
          <a:noFill/>
          <a:ln/>
        </p:spPr>
        <p:txBody>
          <a:bodyPr wrap="square" lIns="0" tIns="0" rIns="0" bIns="0" rtlCol="0" anchor="ctr"/>
          <a:lstStyle/>
          <a:p>
            <a:pPr marL="0" indent="0">
              <a:buNone/>
            </a:pPr>
            <a:r>
              <a:rPr lang="en-US" sz="1400" b="1" dirty="0">
                <a:solidFill>
                  <a:srgbClr val="F0A202"/>
                </a:solidFill>
                <a:latin typeface="Arial" pitchFamily="34" charset="0"/>
                <a:ea typeface="Arial" pitchFamily="34" charset="-122"/>
                <a:cs typeface="Arial" pitchFamily="34" charset="-120"/>
              </a:rPr>
              <a:t>References</a:t>
            </a:r>
            <a:endParaRPr lang="en-US" sz="1400" dirty="0"/>
          </a:p>
        </p:txBody>
      </p:sp>
      <p:sp>
        <p:nvSpPr>
          <p:cNvPr id="31" name="Text 29"/>
          <p:cNvSpPr/>
          <p:nvPr/>
        </p:nvSpPr>
        <p:spPr>
          <a:xfrm>
            <a:off x="8641080" y="2057400"/>
            <a:ext cx="2651760" cy="3931920"/>
          </a:xfrm>
          <a:prstGeom prst="rect">
            <a:avLst/>
          </a:prstGeom>
          <a:noFill/>
          <a:ln/>
        </p:spPr>
        <p:txBody>
          <a:bodyPr wrap="square" lIns="0" tIns="0" rIns="0" bIns="0" rtlCol="0" anchor="t"/>
          <a:lstStyle/>
          <a:p>
            <a:pPr marL="0" indent="0">
              <a:lnSpc>
                <a:spcPct val="110000"/>
              </a:lnSpc>
              <a:spcAft>
                <a:spcPts val="700"/>
              </a:spcAft>
              <a:buNone/>
            </a:pPr>
            <a:r>
              <a:rPr lang="en-US" sz="950" dirty="0">
                <a:solidFill>
                  <a:srgbClr val="8A97AC"/>
                </a:solidFill>
                <a:latin typeface="Calibri" pitchFamily="34" charset="0"/>
                <a:ea typeface="Calibri" pitchFamily="34" charset="-122"/>
                <a:cs typeface="Calibri" pitchFamily="34" charset="-120"/>
              </a:rPr>
              <a:t>Shorrock, S. “Why Is It Just So Difficult? Barriers to ‘Just Culture’ in the Real World.” HindSight 35, EUROCONTROL, 2023.</a:t>
            </a:r>
            <a:endParaRPr lang="en-US" sz="950" dirty="0"/>
          </a:p>
          <a:p>
            <a:pPr marL="0" indent="0">
              <a:lnSpc>
                <a:spcPct val="110000"/>
              </a:lnSpc>
              <a:spcAft>
                <a:spcPts val="700"/>
              </a:spcAft>
              <a:buNone/>
            </a:pPr>
            <a:r>
              <a:rPr lang="en-US" sz="950" dirty="0">
                <a:solidFill>
                  <a:srgbClr val="8A97AC"/>
                </a:solidFill>
                <a:latin typeface="Calibri" pitchFamily="34" charset="0"/>
                <a:ea typeface="Calibri" pitchFamily="34" charset="-122"/>
                <a:cs typeface="Calibri" pitchFamily="34" charset="-120"/>
              </a:rPr>
              <a:t>van Baarle, E. et al. “Fostering a just culture in healthcare organizations.” BMC Health Serv Res 22, 1035 (2022).</a:t>
            </a:r>
            <a:endParaRPr lang="en-US" sz="950" dirty="0"/>
          </a:p>
          <a:p>
            <a:pPr marL="0" indent="0">
              <a:lnSpc>
                <a:spcPct val="110000"/>
              </a:lnSpc>
              <a:spcAft>
                <a:spcPts val="700"/>
              </a:spcAft>
              <a:buNone/>
            </a:pPr>
            <a:r>
              <a:rPr lang="en-US" sz="950" dirty="0">
                <a:solidFill>
                  <a:srgbClr val="8A97AC"/>
                </a:solidFill>
                <a:latin typeface="Calibri" pitchFamily="34" charset="0"/>
                <a:ea typeface="Calibri" pitchFamily="34" charset="-122"/>
                <a:cs typeface="Calibri" pitchFamily="34" charset="-120"/>
              </a:rPr>
              <a:t>Dekker, S. Just Culture: Balancing Safety and Accountability. CRC Press, 2016.</a:t>
            </a:r>
            <a:endParaRPr lang="en-US" sz="950" dirty="0"/>
          </a:p>
          <a:p>
            <a:pPr marL="0" indent="0">
              <a:lnSpc>
                <a:spcPct val="110000"/>
              </a:lnSpc>
              <a:spcAft>
                <a:spcPts val="700"/>
              </a:spcAft>
              <a:buNone/>
            </a:pPr>
            <a:r>
              <a:rPr lang="en-US" sz="950" dirty="0">
                <a:solidFill>
                  <a:srgbClr val="8A97AC"/>
                </a:solidFill>
                <a:latin typeface="Calibri" pitchFamily="34" charset="0"/>
                <a:ea typeface="Calibri" pitchFamily="34" charset="-122"/>
                <a:cs typeface="Calibri" pitchFamily="34" charset="-120"/>
              </a:rPr>
              <a:t>Westrum, R. “A typology of organisational culture.” BMJ Qual Saf 13 (2004).</a:t>
            </a:r>
            <a:endParaRPr lang="en-US" sz="950" dirty="0"/>
          </a:p>
          <a:p>
            <a:pPr marL="0" indent="0">
              <a:lnSpc>
                <a:spcPct val="110000"/>
              </a:lnSpc>
              <a:spcAft>
                <a:spcPts val="700"/>
              </a:spcAft>
              <a:buNone/>
            </a:pPr>
            <a:r>
              <a:rPr lang="en-US" sz="950" dirty="0">
                <a:solidFill>
                  <a:srgbClr val="8A97AC"/>
                </a:solidFill>
                <a:latin typeface="Calibri" pitchFamily="34" charset="0"/>
                <a:ea typeface="Calibri" pitchFamily="34" charset="-122"/>
                <a:cs typeface="Calibri" pitchFamily="34" charset="-120"/>
              </a:rPr>
              <a:t>DORA. “Capabilities: Generative organizational culture.” dora.dev.</a:t>
            </a:r>
            <a:endParaRPr lang="en-US" sz="950" dirty="0"/>
          </a:p>
          <a:p>
            <a:pPr marL="0" indent="0">
              <a:lnSpc>
                <a:spcPct val="110000"/>
              </a:lnSpc>
              <a:spcAft>
                <a:spcPts val="700"/>
              </a:spcAft>
              <a:buNone/>
            </a:pPr>
            <a:r>
              <a:rPr lang="en-US" sz="950" dirty="0">
                <a:solidFill>
                  <a:srgbClr val="8A97AC"/>
                </a:solidFill>
                <a:latin typeface="Calibri" pitchFamily="34" charset="0"/>
                <a:ea typeface="Calibri" pitchFamily="34" charset="-122"/>
                <a:cs typeface="Calibri" pitchFamily="34" charset="-120"/>
              </a:rPr>
              <a:t>Google. Site Reliability Workbook, ch. 10, “Postmortem Culture.”</a:t>
            </a:r>
            <a:endParaRPr lang="en-US" sz="950" dirty="0"/>
          </a:p>
          <a:p>
            <a:pPr marL="0" indent="0">
              <a:lnSpc>
                <a:spcPct val="110000"/>
              </a:lnSpc>
              <a:spcAft>
                <a:spcPts val="700"/>
              </a:spcAft>
              <a:buNone/>
            </a:pPr>
            <a:r>
              <a:rPr lang="en-US" sz="950" dirty="0">
                <a:solidFill>
                  <a:srgbClr val="8A97AC"/>
                </a:solidFill>
                <a:latin typeface="Calibri" pitchFamily="34" charset="0"/>
                <a:ea typeface="Calibri" pitchFamily="34" charset="-122"/>
                <a:cs typeface="Calibri" pitchFamily="34" charset="-120"/>
              </a:rPr>
              <a:t>Anderson, C. et al. “Barriers to Incident Reporting by Physicians.” Cureus 16:6 (2024).</a:t>
            </a:r>
            <a:endParaRPr lang="en-US" sz="950" dirty="0"/>
          </a:p>
          <a:p>
            <a:pPr marL="0" indent="0">
              <a:lnSpc>
                <a:spcPct val="110000"/>
              </a:lnSpc>
              <a:spcAft>
                <a:spcPts val="700"/>
              </a:spcAft>
              <a:buNone/>
            </a:pPr>
            <a:r>
              <a:rPr lang="en-US" sz="950" dirty="0">
                <a:solidFill>
                  <a:srgbClr val="8A97AC"/>
                </a:solidFill>
                <a:latin typeface="Calibri" pitchFamily="34" charset="0"/>
                <a:ea typeface="Calibri" pitchFamily="34" charset="-122"/>
                <a:cs typeface="Calibri" pitchFamily="34" charset="-120"/>
              </a:rPr>
              <a:t>Regulation (EU) No 376/2014, Art. 2(12).</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TotalTime>
  <Words>2042</Words>
  <Application>Microsoft Office PowerPoint</Application>
  <PresentationFormat>Widescreen</PresentationFormat>
  <Paragraphs>180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Barriers to Implementing a Just Culture</dc:title>
  <dc:subject>PptxGenJS Presentation</dc:subject>
  <dc:creator>Caleb Schumacher</dc:creator>
  <cp:lastModifiedBy>Caleb Schumacher</cp:lastModifiedBy>
  <cp:revision>3</cp:revision>
  <dcterms:created xsi:type="dcterms:W3CDTF">2026-08-02T19:46:44Z</dcterms:created>
  <dcterms:modified xsi:type="dcterms:W3CDTF">2026-08-02T20:13:00Z</dcterms:modified>
</cp:coreProperties>
</file>