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262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7498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Technology Value Stream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822960" y="2880360"/>
            <a:ext cx="7498080" cy="0"/>
          </a:xfrm>
          <a:prstGeom prst="line">
            <a:avLst/>
          </a:prstGeom>
          <a:noFill/>
          <a:ln w="1905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30175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Caleb Schumacher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CSD-380  ·  June 14,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Technology Value Stream?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80467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where a business decision is turned into a technological product, service, or feature which delivers value to a customer.</a:t>
            </a:r>
          </a:p>
        </p:txBody>
      </p:sp>
      <p:sp>
        <p:nvSpPr>
          <p:cNvPr id="7" name="Shape 5"/>
          <p:cNvSpPr/>
          <p:nvPr/>
        </p:nvSpPr>
        <p:spPr>
          <a:xfrm>
            <a:off x="4754880" y="1417320"/>
            <a:ext cx="3840480" cy="3291840"/>
          </a:xfrm>
          <a:prstGeom prst="roundRect">
            <a:avLst>
              <a:gd name="adj" fmla="val 2778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37760" y="16002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vs Technology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201168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Value Stream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01968" y="2057400"/>
            <a:ext cx="0" cy="36576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675120" y="20116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Value Stream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2670048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goods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01968" y="2715768"/>
            <a:ext cx="0" cy="36576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675120" y="267004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/ Features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3328416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floor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01968" y="3374136"/>
            <a:ext cx="0" cy="36576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675120" y="3328416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pipeline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3986784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materials → Product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601968" y="4032504"/>
            <a:ext cx="0" cy="36576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675120" y="3986784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idea → Deployed code</a:t>
            </a:r>
            <a:endParaRPr 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456B43-B19C-8C9D-FC59-5A0F76B16171}"/>
              </a:ext>
            </a:extLst>
          </p:cNvPr>
          <p:cNvSpPr txBox="1"/>
          <p:nvPr/>
        </p:nvSpPr>
        <p:spPr>
          <a:xfrm>
            <a:off x="548640" y="3509730"/>
            <a:ext cx="37490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The technology value stream is essentially the same as the manufacturing value stream, but it is simply directed towards software instead of physical products.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 vs. Processing Time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80467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4023360" cy="2377440"/>
          </a:xfrm>
          <a:prstGeom prst="roundRect">
            <a:avLst>
              <a:gd name="adj" fmla="val 3846"/>
            </a:avLst>
          </a:prstGeom>
          <a:solidFill>
            <a:srgbClr val="D8F3D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057400"/>
            <a:ext cx="36576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total duration from the initial project request through to project completion. 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463040"/>
            <a:ext cx="4023360" cy="2377440"/>
          </a:xfrm>
          <a:prstGeom prst="roundRect">
            <a:avLst>
              <a:gd name="adj" fmla="val 3846"/>
            </a:avLst>
          </a:prstGeom>
          <a:solidFill>
            <a:srgbClr val="DBEAFE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0" y="1645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Time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029200" y="2057400"/>
            <a:ext cx="36576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subset of Lead Time. It measures only the active work period from when work begins to when it is complete. Waiting time before the work starts is not accounted for.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160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distinction: Lead Time includes everything; Processing Time includes only active work.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Tangled Systems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80467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8288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691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of lead time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234440" y="201168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organizations accumulate total lead times measured in months due to the disorganized nature of different processes and systems within the company.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92040" y="155448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82880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77840" y="1691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Disorganized processes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577840" y="201168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systems and unclear workflows are a result of poor planning and engineering resulting in constant hiccups throughout the production process.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315468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42900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34440" y="3291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Monolithic architecture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234440" y="361188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planning leads to tightly coupled systems with long test cycles and cumbersome approval chains.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892040" y="315468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3429000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577840" y="3291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on heroic effort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5577840" y="361188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systems only function because key individuals perform extraordinary work at critical junctures. If any one of these people cannot contribute, the entire process falls apart.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INFOGRAPHIC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Typical 3-Month Lead Time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80467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17320"/>
            <a:ext cx="822960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Months to Minutes: The DevOps Ideal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2651760" cy="2606040"/>
          </a:xfrm>
          <a:prstGeom prst="roundRect">
            <a:avLst>
              <a:gd name="adj" fmla="val 3509"/>
            </a:avLst>
          </a:prstGeom>
          <a:solidFill>
            <a:srgbClr val="252525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916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2402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Loosely Coupled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2651760"/>
            <a:ext cx="23317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interaction points between components to reduce potential failures. Less connections mean less opportunities for cascading errors.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29000" y="1508760"/>
            <a:ext cx="2651760" cy="2606040"/>
          </a:xfrm>
          <a:prstGeom prst="roundRect">
            <a:avLst>
              <a:gd name="adj" fmla="val 3509"/>
            </a:avLst>
          </a:prstGeom>
          <a:solidFill>
            <a:srgbClr val="252525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169164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11880" y="22402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611880" y="2651760"/>
            <a:ext cx="23317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self-contained units that can be built, tested, and deployed independently of the full system. This is opposed to having a monolithic structure that is slow and complicated to work on.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309360" y="1508760"/>
            <a:ext cx="2651760" cy="2606040"/>
          </a:xfrm>
          <a:prstGeom prst="roundRect">
            <a:avLst>
              <a:gd name="adj" fmla="val 3509"/>
            </a:avLst>
          </a:prstGeom>
          <a:solidFill>
            <a:srgbClr val="252525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169164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92240" y="22402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Encapsulated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492240" y="2651760"/>
            <a:ext cx="23317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within one module do not produce ripple effects in other modules. Boundaries are respected.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48640" y="4251960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1A3328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731520" y="4315968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Continuous integrations measured in minutes with worst cases in hours.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INFOGRAPHIC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Value Stream In Minutes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80467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17320"/>
            <a:ext cx="8229600" cy="35661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397</Words>
  <Application>Microsoft Office PowerPoint</Application>
  <PresentationFormat>On-screen Show (16:9)</PresentationFormat>
  <Paragraphs>54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Technology Value Stream</dc:title>
  <dc:subject>PptxGenJS Presentation</dc:subject>
  <dc:creator>Caleb Schumacher</dc:creator>
  <cp:lastModifiedBy>Caleb Schumacher</cp:lastModifiedBy>
  <cp:revision>3</cp:revision>
  <dcterms:created xsi:type="dcterms:W3CDTF">2026-06-15T01:05:15Z</dcterms:created>
  <dcterms:modified xsi:type="dcterms:W3CDTF">2026-06-15T01:23:30Z</dcterms:modified>
</cp:coreProperties>
</file>