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19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0304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Pager rotation is the human side of operating production systems. The research base for this deck is the Google SRE literature, PagerDuty's open ops guides, and Atlassian's incident management documentation.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'you build it, you run it' ethos comes from Amazon and is now standard DevOps guidance. Atlassian frames rotation as a shared duty rather than a specialized role.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notes that multi site follow the sun rotations avoid night shifts, which carry documented health effects, but add communication and coordination overhead.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25 percent cap is the origin of the eight person rotation figure. Two people on call at all times across week long shifts means each engineer is on call one week in four.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Pager load is driven by three inputs: bugs in production, alerting configuration, and human process. Misconfigured monitoring is the most common cause of overload.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runbooks are a shared knowledge base, not paperwork. Atlassian calls them especially important for rotations where a system expert may not be immediately available.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psychological point from Google: stress pushes responders toward fast intuitive heuristics, which produce confirmation bias. Formal incident management protocols exist to counteract that.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PagerDuty's stated purpose for the on-call review is to understand load, identify sources of pain, transfer knowledge, and plan improvements.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Underload is the counterintuitive risk. Google warns that being out of touch with production produces both overconfidence and underconfidence, and that gaps surface only during a real incident.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sources were retrieved in July 2026. The Google materials supply the quantitative targets, PagerDuty supplies the operational checklist, and Atlassian supplies the DevOps framing.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a:effectLst/>
      </p:bgPr>
    </p:bg>
    <p:spTree>
      <p:nvGrpSpPr>
        <p:cNvPr id="1" name=""/>
        <p:cNvGrpSpPr/>
        <p:nvPr/>
      </p:nvGrpSpPr>
      <p:grpSpPr>
        <a:xfrm>
          <a:off x="0" y="0"/>
          <a:ext cx="0" cy="0"/>
          <a:chOff x="0" y="0"/>
          <a:chExt cx="0" cy="0"/>
        </a:xfrm>
      </p:grpSpPr>
      <p:sp>
        <p:nvSpPr>
          <p:cNvPr id="2" name="Shape 0"/>
          <p:cNvSpPr/>
          <p:nvPr/>
        </p:nvSpPr>
        <p:spPr>
          <a:xfrm>
            <a:off x="9326880" y="-1280160"/>
            <a:ext cx="4754880" cy="4754880"/>
          </a:xfrm>
          <a:prstGeom prst="ellipse">
            <a:avLst/>
          </a:prstGeom>
          <a:solidFill>
            <a:srgbClr val="24365E"/>
          </a:solidFill>
          <a:ln/>
        </p:spPr>
        <p:txBody>
          <a:bodyPr/>
          <a:lstStyle/>
          <a:p>
            <a:endParaRPr lang="en-US"/>
          </a:p>
        </p:txBody>
      </p:sp>
      <p:sp>
        <p:nvSpPr>
          <p:cNvPr id="3" name="Shape 1"/>
          <p:cNvSpPr/>
          <p:nvPr/>
        </p:nvSpPr>
        <p:spPr>
          <a:xfrm>
            <a:off x="10881360" y="4480560"/>
            <a:ext cx="2194560" cy="2194560"/>
          </a:xfrm>
          <a:prstGeom prst="ellipse">
            <a:avLst/>
          </a:prstGeom>
          <a:solidFill>
            <a:srgbClr val="E8A33D">
              <a:alpha val="45000"/>
            </a:srgbClr>
          </a:solidFill>
          <a:ln/>
        </p:spPr>
        <p:txBody>
          <a:bodyPr/>
          <a:lstStyle/>
          <a:p>
            <a:endParaRPr lang="en-US"/>
          </a:p>
        </p:txBody>
      </p:sp>
      <p:sp>
        <p:nvSpPr>
          <p:cNvPr id="4" name="Text 2"/>
          <p:cNvSpPr/>
          <p:nvPr/>
        </p:nvSpPr>
        <p:spPr>
          <a:xfrm>
            <a:off x="640080" y="1417320"/>
            <a:ext cx="8229600" cy="274320"/>
          </a:xfrm>
          <a:prstGeom prst="rect">
            <a:avLst/>
          </a:prstGeom>
          <a:noFill/>
          <a:ln/>
        </p:spPr>
        <p:txBody>
          <a:bodyPr wrap="square" lIns="0" tIns="0" rIns="0" bIns="0" rtlCol="0" anchor="ctr"/>
          <a:lstStyle/>
          <a:p>
            <a:pPr marL="0" indent="0">
              <a:buNone/>
            </a:pPr>
            <a:r>
              <a:rPr lang="en-US" sz="1200" b="1" kern="0" spc="300" dirty="0">
                <a:solidFill>
                  <a:srgbClr val="E8A33D"/>
                </a:solidFill>
                <a:latin typeface="Calibri" pitchFamily="34" charset="0"/>
                <a:ea typeface="Calibri" pitchFamily="34" charset="-122"/>
                <a:cs typeface="Calibri" pitchFamily="34" charset="-120"/>
              </a:rPr>
              <a:t>INDUSTRY BEST PRACTICES REVIEW</a:t>
            </a:r>
            <a:endParaRPr lang="en-US" sz="1200" dirty="0"/>
          </a:p>
        </p:txBody>
      </p:sp>
      <p:sp>
        <p:nvSpPr>
          <p:cNvPr id="5" name="Text 3"/>
          <p:cNvSpPr/>
          <p:nvPr/>
        </p:nvSpPr>
        <p:spPr>
          <a:xfrm>
            <a:off x="640080" y="1874520"/>
            <a:ext cx="8412480" cy="17373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Pager Rotation Duties in the DevOps Model</a:t>
            </a:r>
            <a:endParaRPr lang="en-US" sz="4400" dirty="0"/>
          </a:p>
        </p:txBody>
      </p:sp>
      <p:sp>
        <p:nvSpPr>
          <p:cNvPr id="6" name="Text 4"/>
          <p:cNvSpPr/>
          <p:nvPr/>
        </p:nvSpPr>
        <p:spPr>
          <a:xfrm>
            <a:off x="640080" y="3703320"/>
            <a:ext cx="7680960" cy="868680"/>
          </a:xfrm>
          <a:prstGeom prst="rect">
            <a:avLst/>
          </a:prstGeom>
          <a:noFill/>
          <a:ln/>
        </p:spPr>
        <p:txBody>
          <a:bodyPr wrap="square" lIns="0" tIns="0" rIns="0" bIns="0" rtlCol="0" anchor="ctr"/>
          <a:lstStyle/>
          <a:p>
            <a:pPr marL="0" indent="0">
              <a:lnSpc>
                <a:spcPts val="2200"/>
              </a:lnSpc>
              <a:buNone/>
            </a:pPr>
            <a:r>
              <a:rPr lang="en-US" sz="1500" dirty="0">
                <a:solidFill>
                  <a:srgbClr val="CADCFC"/>
                </a:solidFill>
                <a:latin typeface="Calibri" pitchFamily="34" charset="0"/>
                <a:ea typeface="Calibri" pitchFamily="34" charset="-122"/>
                <a:cs typeface="Calibri" pitchFamily="34" charset="-120"/>
              </a:rPr>
              <a:t>How high performing engineering organizations structure on-call rotations, control pager load, and protect the people who carry the pager.</a:t>
            </a:r>
            <a:endParaRPr lang="en-US" sz="1500" dirty="0"/>
          </a:p>
        </p:txBody>
      </p:sp>
      <p:sp>
        <p:nvSpPr>
          <p:cNvPr id="7" name="Shape 5"/>
          <p:cNvSpPr/>
          <p:nvPr/>
        </p:nvSpPr>
        <p:spPr>
          <a:xfrm>
            <a:off x="640080" y="4800600"/>
            <a:ext cx="2011680" cy="27432"/>
          </a:xfrm>
          <a:prstGeom prst="rect">
            <a:avLst/>
          </a:prstGeom>
          <a:solidFill>
            <a:srgbClr val="E8A33D"/>
          </a:solidFill>
          <a:ln/>
        </p:spPr>
        <p:txBody>
          <a:bodyPr/>
          <a:lstStyle/>
          <a:p>
            <a:endParaRPr lang="en-US"/>
          </a:p>
        </p:txBody>
      </p:sp>
      <p:sp>
        <p:nvSpPr>
          <p:cNvPr id="8" name="Text 6"/>
          <p:cNvSpPr/>
          <p:nvPr/>
        </p:nvSpPr>
        <p:spPr>
          <a:xfrm>
            <a:off x="640080" y="4983480"/>
            <a:ext cx="548640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Caleb Schumacher</a:t>
            </a:r>
            <a:endParaRPr lang="en-US" sz="1400" dirty="0"/>
          </a:p>
        </p:txBody>
      </p:sp>
      <p:sp>
        <p:nvSpPr>
          <p:cNvPr id="9" name="Text 7"/>
          <p:cNvSpPr/>
          <p:nvPr/>
        </p:nvSpPr>
        <p:spPr>
          <a:xfrm>
            <a:off x="640080" y="5303520"/>
            <a:ext cx="5486400" cy="292608"/>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July 26,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FRAMING</a:t>
            </a:r>
            <a:endParaRPr lang="en-US" sz="1100" dirty="0"/>
          </a:p>
        </p:txBody>
      </p:sp>
      <p:sp>
        <p:nvSpPr>
          <p:cNvPr id="3" name="Text 1"/>
          <p:cNvSpPr/>
          <p:nvPr/>
        </p:nvSpPr>
        <p:spPr>
          <a:xfrm>
            <a:off x="640080" y="658368"/>
            <a:ext cx="10911535" cy="685800"/>
          </a:xfrm>
          <a:prstGeom prst="rect">
            <a:avLst/>
          </a:prstGeom>
          <a:noFill/>
          <a:ln/>
        </p:spPr>
        <p:txBody>
          <a:bodyPr wrap="square" lIns="0" tIns="0" rIns="0" bIns="0" rtlCol="0" anchor="ctr"/>
          <a:lstStyle/>
          <a:p>
            <a:pPr marL="0" indent="0">
              <a:buNone/>
            </a:pPr>
            <a:r>
              <a:rPr lang="en-US" sz="3400" b="1" dirty="0">
                <a:solidFill>
                  <a:srgbClr val="16233F"/>
                </a:solidFill>
                <a:latin typeface="Cambria" pitchFamily="34" charset="0"/>
                <a:ea typeface="Cambria" pitchFamily="34" charset="-122"/>
                <a:cs typeface="Cambria" pitchFamily="34" charset="-120"/>
              </a:rPr>
              <a:t>Why Pager Rotation Is a DevOps Concern</a:t>
            </a:r>
            <a:endParaRPr lang="en-US" sz="3400" dirty="0"/>
          </a:p>
        </p:txBody>
      </p:sp>
      <p:sp>
        <p:nvSpPr>
          <p:cNvPr id="4" name="Text 2"/>
          <p:cNvSpPr/>
          <p:nvPr/>
        </p:nvSpPr>
        <p:spPr>
          <a:xfrm>
            <a:off x="640080" y="1463040"/>
            <a:ext cx="10911535" cy="548640"/>
          </a:xfrm>
          <a:prstGeom prst="rect">
            <a:avLst/>
          </a:prstGeom>
          <a:noFill/>
          <a:ln/>
        </p:spPr>
        <p:txBody>
          <a:bodyPr wrap="square" lIns="0" tIns="0" rIns="0" bIns="0" rtlCol="0" anchor="ctr"/>
          <a:lstStyle/>
          <a:p>
            <a:pPr marL="0" indent="0">
              <a:lnSpc>
                <a:spcPts val="2200"/>
              </a:lnSpc>
              <a:buNone/>
            </a:pPr>
            <a:r>
              <a:rPr lang="en-US" sz="1500" dirty="0">
                <a:solidFill>
                  <a:srgbClr val="2A3550"/>
                </a:solidFill>
                <a:latin typeface="Calibri" pitchFamily="34" charset="0"/>
                <a:ea typeface="Calibri" pitchFamily="34" charset="-122"/>
                <a:cs typeface="Calibri" pitchFamily="34" charset="-120"/>
              </a:rPr>
              <a:t>DevOps dissolves the wall between the team that writes software and the team that operates it. The on-call rotation is where that principle becomes a concrete, scheduled duty.</a:t>
            </a:r>
            <a:endParaRPr lang="en-US" sz="1500" dirty="0"/>
          </a:p>
        </p:txBody>
      </p:sp>
      <p:sp>
        <p:nvSpPr>
          <p:cNvPr id="5" name="Shape 3"/>
          <p:cNvSpPr/>
          <p:nvPr/>
        </p:nvSpPr>
        <p:spPr>
          <a:xfrm>
            <a:off x="640080" y="2240280"/>
            <a:ext cx="3511296" cy="3246120"/>
          </a:xfrm>
          <a:prstGeom prst="roundRect">
            <a:avLst>
              <a:gd name="adj" fmla="val 3380"/>
            </a:avLst>
          </a:prstGeom>
          <a:solidFill>
            <a:srgbClr val="F1F4FA"/>
          </a:solidFill>
          <a:ln w="12700">
            <a:solidFill>
              <a:srgbClr val="F1F4FA"/>
            </a:solidFill>
            <a:prstDash val="solid"/>
          </a:ln>
        </p:spPr>
        <p:txBody>
          <a:bodyPr/>
          <a:lstStyle/>
          <a:p>
            <a:endParaRPr lang="en-US"/>
          </a:p>
        </p:txBody>
      </p:sp>
      <p:sp>
        <p:nvSpPr>
          <p:cNvPr id="6" name="Shape 4"/>
          <p:cNvSpPr/>
          <p:nvPr/>
        </p:nvSpPr>
        <p:spPr>
          <a:xfrm>
            <a:off x="960120" y="2560320"/>
            <a:ext cx="475488" cy="475488"/>
          </a:xfrm>
          <a:prstGeom prst="ellipse">
            <a:avLst/>
          </a:prstGeom>
          <a:solidFill>
            <a:srgbClr val="E8A33D"/>
          </a:solidFill>
          <a:ln/>
        </p:spPr>
        <p:txBody>
          <a:bodyPr/>
          <a:lstStyle/>
          <a:p>
            <a:endParaRPr lang="en-US"/>
          </a:p>
        </p:txBody>
      </p:sp>
      <p:sp>
        <p:nvSpPr>
          <p:cNvPr id="7" name="Text 5"/>
          <p:cNvSpPr/>
          <p:nvPr/>
        </p:nvSpPr>
        <p:spPr>
          <a:xfrm>
            <a:off x="960120" y="2560320"/>
            <a:ext cx="475488" cy="475488"/>
          </a:xfrm>
          <a:prstGeom prst="rect">
            <a:avLst/>
          </a:prstGeom>
          <a:noFill/>
          <a:ln/>
        </p:spPr>
        <p:txBody>
          <a:bodyPr wrap="square" lIns="0" tIns="0" rIns="0" bIns="0" rtlCol="0" anchor="ctr"/>
          <a:lstStyle/>
          <a:p>
            <a:pPr marL="0" indent="0" algn="ctr">
              <a:buNone/>
            </a:pPr>
            <a:r>
              <a:rPr lang="en-US" sz="1600" b="1" dirty="0">
                <a:solidFill>
                  <a:srgbClr val="16233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960120" y="3200400"/>
            <a:ext cx="2871216" cy="640080"/>
          </a:xfrm>
          <a:prstGeom prst="rect">
            <a:avLst/>
          </a:prstGeom>
          <a:noFill/>
          <a:ln/>
        </p:spPr>
        <p:txBody>
          <a:bodyPr wrap="square" lIns="0" tIns="0" rIns="0" bIns="0" rtlCol="0" anchor="ctr"/>
          <a:lstStyle/>
          <a:p>
            <a:pPr marL="0" indent="0">
              <a:buNone/>
            </a:pPr>
            <a:r>
              <a:rPr lang="en-US" sz="1800" b="1" dirty="0">
                <a:solidFill>
                  <a:srgbClr val="16233F"/>
                </a:solidFill>
                <a:latin typeface="Cambria" pitchFamily="34" charset="0"/>
                <a:ea typeface="Cambria" pitchFamily="34" charset="-122"/>
                <a:cs typeface="Cambria" pitchFamily="34" charset="-120"/>
              </a:rPr>
              <a:t>Taking Ownership</a:t>
            </a:r>
            <a:endParaRPr lang="en-US" sz="1800" dirty="0"/>
          </a:p>
        </p:txBody>
      </p:sp>
      <p:sp>
        <p:nvSpPr>
          <p:cNvPr id="9" name="Text 7"/>
          <p:cNvSpPr/>
          <p:nvPr/>
        </p:nvSpPr>
        <p:spPr>
          <a:xfrm>
            <a:off x="960120" y="3886200"/>
            <a:ext cx="2871216" cy="146304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The engineers closest to a service are best equipped to diagnose and repair it, which shortens response time and feeds operational reality back into design decisions.</a:t>
            </a:r>
            <a:endParaRPr lang="en-US" sz="1300" dirty="0"/>
          </a:p>
        </p:txBody>
      </p:sp>
      <p:sp>
        <p:nvSpPr>
          <p:cNvPr id="10" name="Shape 8"/>
          <p:cNvSpPr/>
          <p:nvPr/>
        </p:nvSpPr>
        <p:spPr>
          <a:xfrm>
            <a:off x="4517136" y="2240280"/>
            <a:ext cx="3511296" cy="3246120"/>
          </a:xfrm>
          <a:prstGeom prst="roundRect">
            <a:avLst>
              <a:gd name="adj" fmla="val 3380"/>
            </a:avLst>
          </a:prstGeom>
          <a:solidFill>
            <a:srgbClr val="F1F4FA"/>
          </a:solidFill>
          <a:ln w="12700">
            <a:solidFill>
              <a:srgbClr val="F1F4FA"/>
            </a:solidFill>
            <a:prstDash val="solid"/>
          </a:ln>
        </p:spPr>
        <p:txBody>
          <a:bodyPr/>
          <a:lstStyle/>
          <a:p>
            <a:endParaRPr lang="en-US"/>
          </a:p>
        </p:txBody>
      </p:sp>
      <p:sp>
        <p:nvSpPr>
          <p:cNvPr id="11" name="Shape 9"/>
          <p:cNvSpPr/>
          <p:nvPr/>
        </p:nvSpPr>
        <p:spPr>
          <a:xfrm>
            <a:off x="4837176" y="2560320"/>
            <a:ext cx="475488" cy="475488"/>
          </a:xfrm>
          <a:prstGeom prst="ellipse">
            <a:avLst/>
          </a:prstGeom>
          <a:solidFill>
            <a:srgbClr val="E8A33D"/>
          </a:solidFill>
          <a:ln/>
        </p:spPr>
        <p:txBody>
          <a:bodyPr/>
          <a:lstStyle/>
          <a:p>
            <a:endParaRPr lang="en-US"/>
          </a:p>
        </p:txBody>
      </p:sp>
      <p:sp>
        <p:nvSpPr>
          <p:cNvPr id="12" name="Text 10"/>
          <p:cNvSpPr/>
          <p:nvPr/>
        </p:nvSpPr>
        <p:spPr>
          <a:xfrm>
            <a:off x="4837176" y="2560320"/>
            <a:ext cx="475488" cy="475488"/>
          </a:xfrm>
          <a:prstGeom prst="rect">
            <a:avLst/>
          </a:prstGeom>
          <a:noFill/>
          <a:ln/>
        </p:spPr>
        <p:txBody>
          <a:bodyPr wrap="square" lIns="0" tIns="0" rIns="0" bIns="0" rtlCol="0" anchor="ctr"/>
          <a:lstStyle/>
          <a:p>
            <a:pPr marL="0" indent="0" algn="ctr">
              <a:buNone/>
            </a:pPr>
            <a:r>
              <a:rPr lang="en-US" sz="1600" b="1" dirty="0">
                <a:solidFill>
                  <a:srgbClr val="16233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837176" y="3200400"/>
            <a:ext cx="2871216" cy="640080"/>
          </a:xfrm>
          <a:prstGeom prst="rect">
            <a:avLst/>
          </a:prstGeom>
          <a:noFill/>
          <a:ln/>
        </p:spPr>
        <p:txBody>
          <a:bodyPr wrap="square" lIns="0" tIns="0" rIns="0" bIns="0" rtlCol="0" anchor="ctr"/>
          <a:lstStyle/>
          <a:p>
            <a:pPr marL="0" indent="0">
              <a:buNone/>
            </a:pPr>
            <a:r>
              <a:rPr lang="en-US" sz="1800" b="1" dirty="0">
                <a:solidFill>
                  <a:srgbClr val="16233F"/>
                </a:solidFill>
                <a:latin typeface="Cambria" pitchFamily="34" charset="0"/>
                <a:ea typeface="Cambria" pitchFamily="34" charset="-122"/>
                <a:cs typeface="Cambria" pitchFamily="34" charset="-120"/>
              </a:rPr>
              <a:t>Equally Shared Responsibility </a:t>
            </a:r>
            <a:endParaRPr lang="en-US" sz="1800" dirty="0"/>
          </a:p>
        </p:txBody>
      </p:sp>
      <p:sp>
        <p:nvSpPr>
          <p:cNvPr id="14" name="Text 12"/>
          <p:cNvSpPr/>
          <p:nvPr/>
        </p:nvSpPr>
        <p:spPr>
          <a:xfrm>
            <a:off x="4837176" y="3886200"/>
            <a:ext cx="2871216" cy="146304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DevOps teams rotate every member through the schedule rather than assigning a permanent operations tier, so the burden and the knowledge are distributed.</a:t>
            </a:r>
            <a:endParaRPr lang="en-US" sz="1300" dirty="0"/>
          </a:p>
        </p:txBody>
      </p:sp>
      <p:sp>
        <p:nvSpPr>
          <p:cNvPr id="15" name="Shape 13"/>
          <p:cNvSpPr/>
          <p:nvPr/>
        </p:nvSpPr>
        <p:spPr>
          <a:xfrm>
            <a:off x="8394192" y="2240280"/>
            <a:ext cx="3511296" cy="3246120"/>
          </a:xfrm>
          <a:prstGeom prst="roundRect">
            <a:avLst>
              <a:gd name="adj" fmla="val 3380"/>
            </a:avLst>
          </a:prstGeom>
          <a:solidFill>
            <a:srgbClr val="F1F4FA"/>
          </a:solidFill>
          <a:ln w="12700">
            <a:solidFill>
              <a:srgbClr val="F1F4FA"/>
            </a:solidFill>
            <a:prstDash val="solid"/>
          </a:ln>
        </p:spPr>
        <p:txBody>
          <a:bodyPr/>
          <a:lstStyle/>
          <a:p>
            <a:endParaRPr lang="en-US"/>
          </a:p>
        </p:txBody>
      </p:sp>
      <p:sp>
        <p:nvSpPr>
          <p:cNvPr id="16" name="Shape 14"/>
          <p:cNvSpPr/>
          <p:nvPr/>
        </p:nvSpPr>
        <p:spPr>
          <a:xfrm>
            <a:off x="8714232" y="2560320"/>
            <a:ext cx="475488" cy="475488"/>
          </a:xfrm>
          <a:prstGeom prst="ellipse">
            <a:avLst/>
          </a:prstGeom>
          <a:solidFill>
            <a:srgbClr val="E8A33D"/>
          </a:solidFill>
          <a:ln/>
        </p:spPr>
        <p:txBody>
          <a:bodyPr/>
          <a:lstStyle/>
          <a:p>
            <a:endParaRPr lang="en-US"/>
          </a:p>
        </p:txBody>
      </p:sp>
      <p:sp>
        <p:nvSpPr>
          <p:cNvPr id="17" name="Text 15"/>
          <p:cNvSpPr/>
          <p:nvPr/>
        </p:nvSpPr>
        <p:spPr>
          <a:xfrm>
            <a:off x="8714232" y="2560320"/>
            <a:ext cx="475488" cy="475488"/>
          </a:xfrm>
          <a:prstGeom prst="rect">
            <a:avLst/>
          </a:prstGeom>
          <a:noFill/>
          <a:ln/>
        </p:spPr>
        <p:txBody>
          <a:bodyPr wrap="square" lIns="0" tIns="0" rIns="0" bIns="0" rtlCol="0" anchor="ctr"/>
          <a:lstStyle/>
          <a:p>
            <a:pPr marL="0" indent="0" algn="ctr">
              <a:buNone/>
            </a:pPr>
            <a:r>
              <a:rPr lang="en-US" sz="1600" b="1" dirty="0">
                <a:solidFill>
                  <a:srgbClr val="16233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8714232" y="3200400"/>
            <a:ext cx="2871216" cy="640080"/>
          </a:xfrm>
          <a:prstGeom prst="rect">
            <a:avLst/>
          </a:prstGeom>
          <a:noFill/>
          <a:ln/>
        </p:spPr>
        <p:txBody>
          <a:bodyPr wrap="square" lIns="0" tIns="0" rIns="0" bIns="0" rtlCol="0" anchor="ctr"/>
          <a:lstStyle/>
          <a:p>
            <a:pPr marL="0" indent="0">
              <a:buNone/>
            </a:pPr>
            <a:r>
              <a:rPr lang="en-US" sz="1800" b="1" dirty="0">
                <a:solidFill>
                  <a:srgbClr val="16233F"/>
                </a:solidFill>
                <a:latin typeface="Cambria" pitchFamily="34" charset="0"/>
                <a:ea typeface="Cambria" pitchFamily="34" charset="-122"/>
                <a:cs typeface="Cambria" pitchFamily="34" charset="-120"/>
              </a:rPr>
              <a:t>Balance is Key</a:t>
            </a:r>
            <a:endParaRPr lang="en-US" sz="1800" dirty="0"/>
          </a:p>
        </p:txBody>
      </p:sp>
      <p:sp>
        <p:nvSpPr>
          <p:cNvPr id="19" name="Text 17"/>
          <p:cNvSpPr/>
          <p:nvPr/>
        </p:nvSpPr>
        <p:spPr>
          <a:xfrm>
            <a:off x="8714232" y="3886200"/>
            <a:ext cx="2871216" cy="146304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The goal is to reduce the volume of pages through automation and reliability work, not to reward individuals who absorb an unsustainable alert load.</a:t>
            </a:r>
            <a:endParaRPr lang="en-US" sz="1300" dirty="0"/>
          </a:p>
        </p:txBody>
      </p:sp>
      <p:sp>
        <p:nvSpPr>
          <p:cNvPr id="20" name="Text 18"/>
          <p:cNvSpPr/>
          <p:nvPr/>
        </p:nvSpPr>
        <p:spPr>
          <a:xfrm>
            <a:off x="640080" y="6236208"/>
            <a:ext cx="10911535" cy="292608"/>
          </a:xfrm>
          <a:prstGeom prst="rect">
            <a:avLst/>
          </a:prstGeom>
          <a:noFill/>
          <a:ln/>
        </p:spPr>
        <p:txBody>
          <a:bodyPr wrap="square" lIns="0" tIns="0" rIns="0" bIns="0" rtlCol="0" anchor="ctr"/>
          <a:lstStyle/>
          <a:p>
            <a:pPr marL="0" indent="0">
              <a:buNone/>
            </a:pPr>
            <a:r>
              <a:rPr lang="en-US" sz="1000" i="1" dirty="0">
                <a:solidFill>
                  <a:srgbClr val="6B7794"/>
                </a:solidFill>
                <a:latin typeface="Calibri" pitchFamily="34" charset="0"/>
                <a:ea typeface="Calibri" pitchFamily="34" charset="-122"/>
                <a:cs typeface="Calibri" pitchFamily="34" charset="-120"/>
              </a:rPr>
              <a:t>Sources: Atlassian, A Manager's Guide to Improving On-Call; Google SRE Workbook, Chapter 8, On-Call (2018).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PRACTICE 1</a:t>
            </a:r>
            <a:endParaRPr lang="en-US" sz="1100" dirty="0"/>
          </a:p>
        </p:txBody>
      </p:sp>
      <p:sp>
        <p:nvSpPr>
          <p:cNvPr id="3" name="Text 1"/>
          <p:cNvSpPr/>
          <p:nvPr/>
        </p:nvSpPr>
        <p:spPr>
          <a:xfrm>
            <a:off x="640080" y="658368"/>
            <a:ext cx="10911535" cy="685800"/>
          </a:xfrm>
          <a:prstGeom prst="rect">
            <a:avLst/>
          </a:prstGeom>
          <a:noFill/>
          <a:ln/>
        </p:spPr>
        <p:txBody>
          <a:bodyPr wrap="square" lIns="0" tIns="0" rIns="0" bIns="0" rtlCol="0" anchor="ctr"/>
          <a:lstStyle/>
          <a:p>
            <a:pPr marL="0" indent="0">
              <a:buNone/>
            </a:pPr>
            <a:r>
              <a:rPr lang="en-US" sz="3400" b="1" dirty="0">
                <a:solidFill>
                  <a:srgbClr val="16233F"/>
                </a:solidFill>
                <a:latin typeface="Cambria" pitchFamily="34" charset="0"/>
                <a:ea typeface="Cambria" pitchFamily="34" charset="-122"/>
                <a:cs typeface="Cambria" pitchFamily="34" charset="-120"/>
              </a:rPr>
              <a:t>Structuring the Rotation</a:t>
            </a:r>
            <a:endParaRPr lang="en-US" sz="3400" dirty="0"/>
          </a:p>
        </p:txBody>
      </p:sp>
      <p:sp>
        <p:nvSpPr>
          <p:cNvPr id="4" name="Shape 2"/>
          <p:cNvSpPr/>
          <p:nvPr/>
        </p:nvSpPr>
        <p:spPr>
          <a:xfrm>
            <a:off x="640080" y="1627632"/>
            <a:ext cx="420624" cy="420624"/>
          </a:xfrm>
          <a:prstGeom prst="ellipse">
            <a:avLst/>
          </a:prstGeom>
          <a:solidFill>
            <a:srgbClr val="16233F"/>
          </a:solidFill>
          <a:ln/>
        </p:spPr>
        <p:txBody>
          <a:bodyPr/>
          <a:lstStyle/>
          <a:p>
            <a:endParaRPr lang="en-US"/>
          </a:p>
        </p:txBody>
      </p:sp>
      <p:sp>
        <p:nvSpPr>
          <p:cNvPr id="5" name="Text 3"/>
          <p:cNvSpPr/>
          <p:nvPr/>
        </p:nvSpPr>
        <p:spPr>
          <a:xfrm>
            <a:off x="640080" y="1627632"/>
            <a:ext cx="420624" cy="420624"/>
          </a:xfrm>
          <a:prstGeom prst="rect">
            <a:avLst/>
          </a:prstGeom>
          <a:noFill/>
          <a:ln/>
        </p:spPr>
        <p:txBody>
          <a:bodyPr wrap="square" lIns="0" tIns="0" rIns="0" bIns="0" rtlCol="0" anchor="ctr"/>
          <a:lstStyle/>
          <a:p>
            <a:pPr marL="0" indent="0" algn="ctr">
              <a:buNone/>
            </a:pPr>
            <a:r>
              <a:rPr lang="en-US" sz="1400" b="1" dirty="0">
                <a:solidFill>
                  <a:srgbClr val="E8A33D"/>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98448" y="1572768"/>
            <a:ext cx="2834640" cy="384048"/>
          </a:xfrm>
          <a:prstGeom prst="rect">
            <a:avLst/>
          </a:prstGeom>
          <a:noFill/>
          <a:ln/>
        </p:spPr>
        <p:txBody>
          <a:bodyPr wrap="square" lIns="0" tIns="0" rIns="0" bIns="0" rtlCol="0" anchor="ctr"/>
          <a:lstStyle/>
          <a:p>
            <a:pPr marL="0" indent="0">
              <a:buNone/>
            </a:pPr>
            <a:r>
              <a:rPr lang="en-US" sz="1700" b="1" dirty="0">
                <a:solidFill>
                  <a:srgbClr val="16233F"/>
                </a:solidFill>
                <a:latin typeface="Cambria" pitchFamily="34" charset="0"/>
                <a:ea typeface="Cambria" pitchFamily="34" charset="-122"/>
                <a:cs typeface="Cambria" pitchFamily="34" charset="-120"/>
              </a:rPr>
              <a:t>Primary and secondary</a:t>
            </a:r>
            <a:endParaRPr lang="en-US" sz="1700" dirty="0"/>
          </a:p>
        </p:txBody>
      </p:sp>
      <p:sp>
        <p:nvSpPr>
          <p:cNvPr id="7" name="Text 5"/>
          <p:cNvSpPr/>
          <p:nvPr/>
        </p:nvSpPr>
        <p:spPr>
          <a:xfrm>
            <a:off x="4251960" y="1554480"/>
            <a:ext cx="7345375" cy="91440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Two engineers are scheduled at once. The primary acknowledges and triages every page. The secondary provides fall through coverage or absorbs non urgent production work.</a:t>
            </a:r>
            <a:endParaRPr lang="en-US" sz="1300" dirty="0"/>
          </a:p>
        </p:txBody>
      </p:sp>
      <p:sp>
        <p:nvSpPr>
          <p:cNvPr id="8" name="Shape 6"/>
          <p:cNvSpPr/>
          <p:nvPr/>
        </p:nvSpPr>
        <p:spPr>
          <a:xfrm>
            <a:off x="640080" y="2761488"/>
            <a:ext cx="420624" cy="420624"/>
          </a:xfrm>
          <a:prstGeom prst="ellipse">
            <a:avLst/>
          </a:prstGeom>
          <a:solidFill>
            <a:srgbClr val="16233F"/>
          </a:solidFill>
          <a:ln/>
        </p:spPr>
        <p:txBody>
          <a:bodyPr/>
          <a:lstStyle/>
          <a:p>
            <a:endParaRPr lang="en-US"/>
          </a:p>
        </p:txBody>
      </p:sp>
      <p:sp>
        <p:nvSpPr>
          <p:cNvPr id="9" name="Text 7"/>
          <p:cNvSpPr/>
          <p:nvPr/>
        </p:nvSpPr>
        <p:spPr>
          <a:xfrm>
            <a:off x="640080" y="2761488"/>
            <a:ext cx="420624" cy="420624"/>
          </a:xfrm>
          <a:prstGeom prst="rect">
            <a:avLst/>
          </a:prstGeom>
          <a:noFill/>
          <a:ln/>
        </p:spPr>
        <p:txBody>
          <a:bodyPr wrap="square" lIns="0" tIns="0" rIns="0" bIns="0" rtlCol="0" anchor="ctr"/>
          <a:lstStyle/>
          <a:p>
            <a:pPr marL="0" indent="0" algn="ctr">
              <a:buNone/>
            </a:pPr>
            <a:r>
              <a:rPr lang="en-US" sz="1400" b="1" dirty="0">
                <a:solidFill>
                  <a:srgbClr val="E8A33D"/>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298448" y="2706624"/>
            <a:ext cx="2834640" cy="384048"/>
          </a:xfrm>
          <a:prstGeom prst="rect">
            <a:avLst/>
          </a:prstGeom>
          <a:noFill/>
          <a:ln/>
        </p:spPr>
        <p:txBody>
          <a:bodyPr wrap="square" lIns="0" tIns="0" rIns="0" bIns="0" rtlCol="0" anchor="ctr"/>
          <a:lstStyle/>
          <a:p>
            <a:pPr marL="0" indent="0">
              <a:buNone/>
            </a:pPr>
            <a:r>
              <a:rPr lang="en-US" sz="1700" b="1" dirty="0">
                <a:solidFill>
                  <a:srgbClr val="16233F"/>
                </a:solidFill>
                <a:latin typeface="Cambria" pitchFamily="34" charset="0"/>
                <a:ea typeface="Cambria" pitchFamily="34" charset="-122"/>
                <a:cs typeface="Cambria" pitchFamily="34" charset="-120"/>
              </a:rPr>
              <a:t>Weekly shifts</a:t>
            </a:r>
            <a:endParaRPr lang="en-US" sz="1700" dirty="0"/>
          </a:p>
        </p:txBody>
      </p:sp>
      <p:sp>
        <p:nvSpPr>
          <p:cNvPr id="11" name="Text 9"/>
          <p:cNvSpPr/>
          <p:nvPr/>
        </p:nvSpPr>
        <p:spPr>
          <a:xfrm>
            <a:off x="4251960" y="2688336"/>
            <a:ext cx="7345375" cy="91440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A shift length of one week is the common default. It gives enough continuity to follow an issue to resolution without extending fatigue across multiple weeks.</a:t>
            </a:r>
            <a:endParaRPr lang="en-US" sz="1300" dirty="0"/>
          </a:p>
        </p:txBody>
      </p:sp>
      <p:sp>
        <p:nvSpPr>
          <p:cNvPr id="12" name="Shape 10"/>
          <p:cNvSpPr/>
          <p:nvPr/>
        </p:nvSpPr>
        <p:spPr>
          <a:xfrm>
            <a:off x="640080" y="3895344"/>
            <a:ext cx="420624" cy="420624"/>
          </a:xfrm>
          <a:prstGeom prst="ellipse">
            <a:avLst/>
          </a:prstGeom>
          <a:solidFill>
            <a:srgbClr val="16233F"/>
          </a:solidFill>
          <a:ln/>
        </p:spPr>
        <p:txBody>
          <a:bodyPr/>
          <a:lstStyle/>
          <a:p>
            <a:endParaRPr lang="en-US"/>
          </a:p>
        </p:txBody>
      </p:sp>
      <p:sp>
        <p:nvSpPr>
          <p:cNvPr id="13" name="Text 11"/>
          <p:cNvSpPr/>
          <p:nvPr/>
        </p:nvSpPr>
        <p:spPr>
          <a:xfrm>
            <a:off x="640080" y="3895344"/>
            <a:ext cx="420624" cy="420624"/>
          </a:xfrm>
          <a:prstGeom prst="rect">
            <a:avLst/>
          </a:prstGeom>
          <a:noFill/>
          <a:ln/>
        </p:spPr>
        <p:txBody>
          <a:bodyPr wrap="square" lIns="0" tIns="0" rIns="0" bIns="0" rtlCol="0" anchor="ctr"/>
          <a:lstStyle/>
          <a:p>
            <a:pPr marL="0" indent="0" algn="ctr">
              <a:buNone/>
            </a:pPr>
            <a:r>
              <a:rPr lang="en-US" sz="1400" b="1" dirty="0">
                <a:solidFill>
                  <a:srgbClr val="E8A33D"/>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98448" y="3840480"/>
            <a:ext cx="2834640" cy="384048"/>
          </a:xfrm>
          <a:prstGeom prst="rect">
            <a:avLst/>
          </a:prstGeom>
          <a:noFill/>
          <a:ln/>
        </p:spPr>
        <p:txBody>
          <a:bodyPr wrap="square" lIns="0" tIns="0" rIns="0" bIns="0" rtlCol="0" anchor="ctr"/>
          <a:lstStyle/>
          <a:p>
            <a:pPr marL="0" indent="0">
              <a:buNone/>
            </a:pPr>
            <a:r>
              <a:rPr lang="en-US" sz="1700" b="1" dirty="0">
                <a:solidFill>
                  <a:srgbClr val="16233F"/>
                </a:solidFill>
                <a:latin typeface="Cambria" pitchFamily="34" charset="0"/>
                <a:ea typeface="Cambria" pitchFamily="34" charset="-122"/>
                <a:cs typeface="Cambria" pitchFamily="34" charset="-120"/>
              </a:rPr>
              <a:t>Follow the sun</a:t>
            </a:r>
            <a:endParaRPr lang="en-US" sz="1700" dirty="0"/>
          </a:p>
        </p:txBody>
      </p:sp>
      <p:sp>
        <p:nvSpPr>
          <p:cNvPr id="15" name="Text 13"/>
          <p:cNvSpPr/>
          <p:nvPr/>
        </p:nvSpPr>
        <p:spPr>
          <a:xfrm>
            <a:off x="4251960" y="3822192"/>
            <a:ext cx="7345375" cy="91440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Multi site teams in separate time zones each cover their own daylight hours. This removes overnight shifts entirely at the cost of added coordination overhead.</a:t>
            </a:r>
            <a:endParaRPr lang="en-US" sz="1300" dirty="0"/>
          </a:p>
        </p:txBody>
      </p:sp>
      <p:sp>
        <p:nvSpPr>
          <p:cNvPr id="16" name="Shape 14"/>
          <p:cNvSpPr/>
          <p:nvPr/>
        </p:nvSpPr>
        <p:spPr>
          <a:xfrm>
            <a:off x="640080" y="5029200"/>
            <a:ext cx="420624" cy="420624"/>
          </a:xfrm>
          <a:prstGeom prst="ellipse">
            <a:avLst/>
          </a:prstGeom>
          <a:solidFill>
            <a:srgbClr val="16233F"/>
          </a:solidFill>
          <a:ln/>
        </p:spPr>
        <p:txBody>
          <a:bodyPr/>
          <a:lstStyle/>
          <a:p>
            <a:endParaRPr lang="en-US"/>
          </a:p>
        </p:txBody>
      </p:sp>
      <p:sp>
        <p:nvSpPr>
          <p:cNvPr id="17" name="Text 15"/>
          <p:cNvSpPr/>
          <p:nvPr/>
        </p:nvSpPr>
        <p:spPr>
          <a:xfrm>
            <a:off x="640080" y="5029200"/>
            <a:ext cx="420624" cy="420624"/>
          </a:xfrm>
          <a:prstGeom prst="rect">
            <a:avLst/>
          </a:prstGeom>
          <a:noFill/>
          <a:ln/>
        </p:spPr>
        <p:txBody>
          <a:bodyPr wrap="square" lIns="0" tIns="0" rIns="0" bIns="0" rtlCol="0" anchor="ctr"/>
          <a:lstStyle/>
          <a:p>
            <a:pPr marL="0" indent="0" algn="ctr">
              <a:buNone/>
            </a:pPr>
            <a:r>
              <a:rPr lang="en-US" sz="1400" b="1" dirty="0">
                <a:solidFill>
                  <a:srgbClr val="E8A33D"/>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298448" y="4974336"/>
            <a:ext cx="2834640" cy="384048"/>
          </a:xfrm>
          <a:prstGeom prst="rect">
            <a:avLst/>
          </a:prstGeom>
          <a:noFill/>
          <a:ln/>
        </p:spPr>
        <p:txBody>
          <a:bodyPr wrap="square" lIns="0" tIns="0" rIns="0" bIns="0" rtlCol="0" anchor="ctr"/>
          <a:lstStyle/>
          <a:p>
            <a:pPr marL="0" indent="0">
              <a:buNone/>
            </a:pPr>
            <a:r>
              <a:rPr lang="en-US" sz="1700" b="1" dirty="0">
                <a:solidFill>
                  <a:srgbClr val="16233F"/>
                </a:solidFill>
                <a:latin typeface="Cambria" pitchFamily="34" charset="0"/>
                <a:ea typeface="Cambria" pitchFamily="34" charset="-122"/>
                <a:cs typeface="Cambria" pitchFamily="34" charset="-120"/>
              </a:rPr>
              <a:t>Documented escalation</a:t>
            </a:r>
            <a:endParaRPr lang="en-US" sz="1700" dirty="0"/>
          </a:p>
        </p:txBody>
      </p:sp>
      <p:sp>
        <p:nvSpPr>
          <p:cNvPr id="19" name="Text 17"/>
          <p:cNvSpPr/>
          <p:nvPr/>
        </p:nvSpPr>
        <p:spPr>
          <a:xfrm>
            <a:off x="4251960" y="4956048"/>
            <a:ext cx="7345375" cy="91440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Every rotation needs a published escalation path so a responder can pull in additional help without hesitation or negotiation during an incident.</a:t>
            </a:r>
            <a:endParaRPr lang="en-US" sz="1300" dirty="0"/>
          </a:p>
        </p:txBody>
      </p:sp>
      <p:sp>
        <p:nvSpPr>
          <p:cNvPr id="20" name="Text 18"/>
          <p:cNvSpPr/>
          <p:nvPr/>
        </p:nvSpPr>
        <p:spPr>
          <a:xfrm>
            <a:off x="640080" y="6236208"/>
            <a:ext cx="10911535" cy="292608"/>
          </a:xfrm>
          <a:prstGeom prst="rect">
            <a:avLst/>
          </a:prstGeom>
          <a:noFill/>
          <a:ln/>
        </p:spPr>
        <p:txBody>
          <a:bodyPr wrap="square" lIns="0" tIns="0" rIns="0" bIns="0" rtlCol="0" anchor="ctr"/>
          <a:lstStyle/>
          <a:p>
            <a:pPr marL="0" indent="0">
              <a:buNone/>
            </a:pPr>
            <a:r>
              <a:rPr lang="en-US" sz="1000" i="1" dirty="0">
                <a:solidFill>
                  <a:srgbClr val="6B7794"/>
                </a:solidFill>
                <a:latin typeface="Calibri" pitchFamily="34" charset="0"/>
                <a:ea typeface="Calibri" pitchFamily="34" charset="-122"/>
                <a:cs typeface="Calibri" pitchFamily="34" charset="-120"/>
              </a:rPr>
              <a:t>Sources: Google SRE, Chapter 11, Being On-Call (2016); PagerDuty, Full Service Ownership, On-Call Shifts.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PRACTICE 2</a:t>
            </a:r>
            <a:endParaRPr lang="en-US" sz="1100" dirty="0"/>
          </a:p>
        </p:txBody>
      </p:sp>
      <p:sp>
        <p:nvSpPr>
          <p:cNvPr id="3" name="Text 1"/>
          <p:cNvSpPr/>
          <p:nvPr/>
        </p:nvSpPr>
        <p:spPr>
          <a:xfrm>
            <a:off x="640080" y="749808"/>
            <a:ext cx="10911535"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Balance in Quantity: How Much On-Call Is Sustainable</a:t>
            </a:r>
            <a:endParaRPr lang="en-US" sz="3200" dirty="0"/>
          </a:p>
        </p:txBody>
      </p:sp>
      <p:sp>
        <p:nvSpPr>
          <p:cNvPr id="4" name="Text 2"/>
          <p:cNvSpPr/>
          <p:nvPr/>
        </p:nvSpPr>
        <p:spPr>
          <a:xfrm>
            <a:off x="640080" y="1554480"/>
            <a:ext cx="100584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Google's Site Reliability Engineering organization publishes an explicit time budget for the operational half of the role.</a:t>
            </a:r>
            <a:endParaRPr lang="en-US" sz="1400" dirty="0"/>
          </a:p>
        </p:txBody>
      </p:sp>
      <p:sp>
        <p:nvSpPr>
          <p:cNvPr id="5" name="Shape 3"/>
          <p:cNvSpPr/>
          <p:nvPr/>
        </p:nvSpPr>
        <p:spPr>
          <a:xfrm>
            <a:off x="640080" y="2194560"/>
            <a:ext cx="3511296" cy="3017520"/>
          </a:xfrm>
          <a:prstGeom prst="roundRect">
            <a:avLst>
              <a:gd name="adj" fmla="val 3636"/>
            </a:avLst>
          </a:prstGeom>
          <a:solidFill>
            <a:srgbClr val="24365E"/>
          </a:solidFill>
          <a:ln w="12700">
            <a:solidFill>
              <a:srgbClr val="24365E"/>
            </a:solidFill>
            <a:prstDash val="solid"/>
          </a:ln>
        </p:spPr>
        <p:txBody>
          <a:bodyPr/>
          <a:lstStyle/>
          <a:p>
            <a:endParaRPr lang="en-US"/>
          </a:p>
        </p:txBody>
      </p:sp>
      <p:sp>
        <p:nvSpPr>
          <p:cNvPr id="6" name="Text 4"/>
          <p:cNvSpPr/>
          <p:nvPr/>
        </p:nvSpPr>
        <p:spPr>
          <a:xfrm>
            <a:off x="914400" y="2377440"/>
            <a:ext cx="2962656" cy="1097280"/>
          </a:xfrm>
          <a:prstGeom prst="rect">
            <a:avLst/>
          </a:prstGeom>
          <a:noFill/>
          <a:ln/>
        </p:spPr>
        <p:txBody>
          <a:bodyPr wrap="square" lIns="0" tIns="0" rIns="0" bIns="0" rtlCol="0" anchor="ctr"/>
          <a:lstStyle/>
          <a:p>
            <a:pPr marL="0" indent="0">
              <a:buNone/>
            </a:pPr>
            <a:r>
              <a:rPr lang="en-US" sz="6000" b="1" dirty="0">
                <a:solidFill>
                  <a:srgbClr val="E8A33D"/>
                </a:solidFill>
                <a:latin typeface="Cambria" pitchFamily="34" charset="0"/>
                <a:ea typeface="Cambria" pitchFamily="34" charset="-122"/>
                <a:cs typeface="Cambria" pitchFamily="34" charset="-120"/>
              </a:rPr>
              <a:t>50%</a:t>
            </a:r>
            <a:endParaRPr lang="en-US" sz="6000" dirty="0"/>
          </a:p>
        </p:txBody>
      </p:sp>
      <p:sp>
        <p:nvSpPr>
          <p:cNvPr id="7" name="Text 5"/>
          <p:cNvSpPr/>
          <p:nvPr/>
        </p:nvSpPr>
        <p:spPr>
          <a:xfrm>
            <a:off x="914400" y="3493008"/>
            <a:ext cx="2962656" cy="274320"/>
          </a:xfrm>
          <a:prstGeom prst="rect">
            <a:avLst/>
          </a:prstGeom>
          <a:noFill/>
          <a:ln/>
        </p:spPr>
        <p:txBody>
          <a:bodyPr wrap="square" lIns="0" tIns="0" rIns="0" bIns="0" rtlCol="0" anchor="ctr"/>
          <a:lstStyle/>
          <a:p>
            <a:pPr marL="0" indent="0">
              <a:buNone/>
            </a:pPr>
            <a:r>
              <a:rPr lang="en-US" sz="1100" b="1" kern="0" spc="200" dirty="0">
                <a:solidFill>
                  <a:srgbClr val="CADCFC"/>
                </a:solidFill>
                <a:latin typeface="Calibri" pitchFamily="34" charset="0"/>
                <a:ea typeface="Calibri" pitchFamily="34" charset="-122"/>
                <a:cs typeface="Calibri" pitchFamily="34" charset="-120"/>
              </a:rPr>
              <a:t>MINIMUM</a:t>
            </a:r>
            <a:endParaRPr lang="en-US" sz="1100" dirty="0"/>
          </a:p>
        </p:txBody>
      </p:sp>
      <p:sp>
        <p:nvSpPr>
          <p:cNvPr id="8" name="Text 6"/>
          <p:cNvSpPr/>
          <p:nvPr/>
        </p:nvSpPr>
        <p:spPr>
          <a:xfrm>
            <a:off x="914400" y="3840480"/>
            <a:ext cx="2962656" cy="1188720"/>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of engineer time reserved for engineering and project work that scales the team</a:t>
            </a:r>
            <a:endParaRPr lang="en-US" sz="1300" dirty="0"/>
          </a:p>
        </p:txBody>
      </p:sp>
      <p:sp>
        <p:nvSpPr>
          <p:cNvPr id="9" name="Shape 7"/>
          <p:cNvSpPr/>
          <p:nvPr/>
        </p:nvSpPr>
        <p:spPr>
          <a:xfrm>
            <a:off x="4517136" y="2194560"/>
            <a:ext cx="3511296" cy="3017520"/>
          </a:xfrm>
          <a:prstGeom prst="roundRect">
            <a:avLst>
              <a:gd name="adj" fmla="val 3636"/>
            </a:avLst>
          </a:prstGeom>
          <a:solidFill>
            <a:srgbClr val="24365E"/>
          </a:solidFill>
          <a:ln w="12700">
            <a:solidFill>
              <a:srgbClr val="24365E"/>
            </a:solidFill>
            <a:prstDash val="solid"/>
          </a:ln>
        </p:spPr>
        <p:txBody>
          <a:bodyPr/>
          <a:lstStyle/>
          <a:p>
            <a:endParaRPr lang="en-US"/>
          </a:p>
        </p:txBody>
      </p:sp>
      <p:sp>
        <p:nvSpPr>
          <p:cNvPr id="10" name="Text 8"/>
          <p:cNvSpPr/>
          <p:nvPr/>
        </p:nvSpPr>
        <p:spPr>
          <a:xfrm>
            <a:off x="4791456" y="2377440"/>
            <a:ext cx="2962656" cy="1097280"/>
          </a:xfrm>
          <a:prstGeom prst="rect">
            <a:avLst/>
          </a:prstGeom>
          <a:noFill/>
          <a:ln/>
        </p:spPr>
        <p:txBody>
          <a:bodyPr wrap="square" lIns="0" tIns="0" rIns="0" bIns="0" rtlCol="0" anchor="ctr"/>
          <a:lstStyle/>
          <a:p>
            <a:pPr marL="0" indent="0">
              <a:buNone/>
            </a:pPr>
            <a:r>
              <a:rPr lang="en-US" sz="6000" b="1" dirty="0">
                <a:solidFill>
                  <a:srgbClr val="E8A33D"/>
                </a:solidFill>
                <a:latin typeface="Cambria" pitchFamily="34" charset="0"/>
                <a:ea typeface="Cambria" pitchFamily="34" charset="-122"/>
                <a:cs typeface="Cambria" pitchFamily="34" charset="-120"/>
              </a:rPr>
              <a:t>25%</a:t>
            </a:r>
            <a:endParaRPr lang="en-US" sz="6000" dirty="0"/>
          </a:p>
        </p:txBody>
      </p:sp>
      <p:sp>
        <p:nvSpPr>
          <p:cNvPr id="11" name="Text 9"/>
          <p:cNvSpPr/>
          <p:nvPr/>
        </p:nvSpPr>
        <p:spPr>
          <a:xfrm>
            <a:off x="4791456" y="3493008"/>
            <a:ext cx="2962656" cy="274320"/>
          </a:xfrm>
          <a:prstGeom prst="rect">
            <a:avLst/>
          </a:prstGeom>
          <a:noFill/>
          <a:ln/>
        </p:spPr>
        <p:txBody>
          <a:bodyPr wrap="square" lIns="0" tIns="0" rIns="0" bIns="0" rtlCol="0" anchor="ctr"/>
          <a:lstStyle/>
          <a:p>
            <a:pPr marL="0" indent="0">
              <a:buNone/>
            </a:pPr>
            <a:r>
              <a:rPr lang="en-US" sz="1100" b="1" kern="0" spc="200" dirty="0">
                <a:solidFill>
                  <a:srgbClr val="CADCFC"/>
                </a:solidFill>
                <a:latin typeface="Calibri" pitchFamily="34" charset="0"/>
                <a:ea typeface="Calibri" pitchFamily="34" charset="-122"/>
                <a:cs typeface="Calibri" pitchFamily="34" charset="-120"/>
              </a:rPr>
              <a:t>CEILING</a:t>
            </a:r>
            <a:endParaRPr lang="en-US" sz="1100" dirty="0"/>
          </a:p>
        </p:txBody>
      </p:sp>
      <p:sp>
        <p:nvSpPr>
          <p:cNvPr id="12" name="Text 10"/>
          <p:cNvSpPr/>
          <p:nvPr/>
        </p:nvSpPr>
        <p:spPr>
          <a:xfrm>
            <a:off x="4791456" y="3840480"/>
            <a:ext cx="2962656" cy="1188720"/>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the maximum share of time any engineer spends on on-call duty</a:t>
            </a:r>
            <a:endParaRPr lang="en-US" sz="1300" dirty="0"/>
          </a:p>
        </p:txBody>
      </p:sp>
      <p:sp>
        <p:nvSpPr>
          <p:cNvPr id="13" name="Shape 11"/>
          <p:cNvSpPr/>
          <p:nvPr/>
        </p:nvSpPr>
        <p:spPr>
          <a:xfrm>
            <a:off x="8394192" y="2194560"/>
            <a:ext cx="3511296" cy="3017520"/>
          </a:xfrm>
          <a:prstGeom prst="roundRect">
            <a:avLst>
              <a:gd name="adj" fmla="val 3636"/>
            </a:avLst>
          </a:prstGeom>
          <a:solidFill>
            <a:srgbClr val="24365E"/>
          </a:solidFill>
          <a:ln w="12700">
            <a:solidFill>
              <a:srgbClr val="24365E"/>
            </a:solidFill>
            <a:prstDash val="solid"/>
          </a:ln>
        </p:spPr>
        <p:txBody>
          <a:bodyPr/>
          <a:lstStyle/>
          <a:p>
            <a:endParaRPr lang="en-US"/>
          </a:p>
        </p:txBody>
      </p:sp>
      <p:sp>
        <p:nvSpPr>
          <p:cNvPr id="14" name="Text 12"/>
          <p:cNvSpPr/>
          <p:nvPr/>
        </p:nvSpPr>
        <p:spPr>
          <a:xfrm>
            <a:off x="8668512" y="2377440"/>
            <a:ext cx="2962656" cy="1097280"/>
          </a:xfrm>
          <a:prstGeom prst="rect">
            <a:avLst/>
          </a:prstGeom>
          <a:noFill/>
          <a:ln/>
        </p:spPr>
        <p:txBody>
          <a:bodyPr wrap="square" lIns="0" tIns="0" rIns="0" bIns="0" rtlCol="0" anchor="ctr"/>
          <a:lstStyle/>
          <a:p>
            <a:pPr marL="0" indent="0">
              <a:buNone/>
            </a:pPr>
            <a:r>
              <a:rPr lang="en-US" sz="6000" b="1" dirty="0">
                <a:solidFill>
                  <a:srgbClr val="E8A33D"/>
                </a:solidFill>
                <a:latin typeface="Cambria" pitchFamily="34" charset="0"/>
                <a:ea typeface="Cambria" pitchFamily="34" charset="-122"/>
                <a:cs typeface="Cambria" pitchFamily="34" charset="-120"/>
              </a:rPr>
              <a:t>8</a:t>
            </a:r>
            <a:endParaRPr lang="en-US" sz="6000" dirty="0"/>
          </a:p>
        </p:txBody>
      </p:sp>
      <p:sp>
        <p:nvSpPr>
          <p:cNvPr id="15" name="Text 13"/>
          <p:cNvSpPr/>
          <p:nvPr/>
        </p:nvSpPr>
        <p:spPr>
          <a:xfrm>
            <a:off x="8668512" y="3493008"/>
            <a:ext cx="2962656" cy="274320"/>
          </a:xfrm>
          <a:prstGeom prst="rect">
            <a:avLst/>
          </a:prstGeom>
          <a:noFill/>
          <a:ln/>
        </p:spPr>
        <p:txBody>
          <a:bodyPr wrap="square" lIns="0" tIns="0" rIns="0" bIns="0" rtlCol="0" anchor="ctr"/>
          <a:lstStyle/>
          <a:p>
            <a:pPr marL="0" indent="0">
              <a:buNone/>
            </a:pPr>
            <a:r>
              <a:rPr lang="en-US" sz="1100" b="1" kern="0" spc="200" dirty="0">
                <a:solidFill>
                  <a:srgbClr val="CADCFC"/>
                </a:solidFill>
                <a:latin typeface="Calibri" pitchFamily="34" charset="0"/>
                <a:ea typeface="Calibri" pitchFamily="34" charset="-122"/>
                <a:cs typeface="Calibri" pitchFamily="34" charset="-120"/>
              </a:rPr>
              <a:t>ENGINEERS</a:t>
            </a:r>
            <a:endParaRPr lang="en-US" sz="1100" dirty="0"/>
          </a:p>
        </p:txBody>
      </p:sp>
      <p:sp>
        <p:nvSpPr>
          <p:cNvPr id="16" name="Text 14"/>
          <p:cNvSpPr/>
          <p:nvPr/>
        </p:nvSpPr>
        <p:spPr>
          <a:xfrm>
            <a:off x="8668512" y="3840480"/>
            <a:ext cx="2962656" cy="1188720"/>
          </a:xfrm>
          <a:prstGeom prst="rect">
            <a:avLst/>
          </a:prstGeom>
          <a:noFill/>
          <a:ln/>
        </p:spPr>
        <p:txBody>
          <a:bodyPr wrap="square" lIns="0" tIns="0" rIns="0" bIns="0" rtlCol="0" anchor="ctr"/>
          <a:lstStyle/>
          <a:p>
            <a:pPr marL="0" indent="0">
              <a:lnSpc>
                <a:spcPts val="1900"/>
              </a:lnSpc>
              <a:buNone/>
            </a:pPr>
            <a:r>
              <a:rPr lang="en-US" sz="1300" dirty="0">
                <a:solidFill>
                  <a:srgbClr val="FFFFFF"/>
                </a:solidFill>
                <a:latin typeface="Calibri" pitchFamily="34" charset="0"/>
                <a:ea typeface="Calibri" pitchFamily="34" charset="-122"/>
                <a:cs typeface="Calibri" pitchFamily="34" charset="-120"/>
              </a:rPr>
              <a:t>minimum single site rotation size to honor the 25 percent rule with a primary and a secondary</a:t>
            </a:r>
            <a:endParaRPr lang="en-US" sz="1300" dirty="0"/>
          </a:p>
        </p:txBody>
      </p:sp>
      <p:sp>
        <p:nvSpPr>
          <p:cNvPr id="17" name="Text 15"/>
          <p:cNvSpPr/>
          <p:nvPr/>
        </p:nvSpPr>
        <p:spPr>
          <a:xfrm>
            <a:off x="640080" y="5440680"/>
            <a:ext cx="10911535" cy="54864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A dual site team can honor the same rule with roughly six engineers per site. Teams smaller than this cannot cover a 24/7 rotation without exceeding the budget.</a:t>
            </a:r>
            <a:endParaRPr lang="en-US" sz="1300" dirty="0"/>
          </a:p>
        </p:txBody>
      </p:sp>
      <p:sp>
        <p:nvSpPr>
          <p:cNvPr id="18" name="Text 16"/>
          <p:cNvSpPr/>
          <p:nvPr/>
        </p:nvSpPr>
        <p:spPr>
          <a:xfrm>
            <a:off x="640080" y="6236208"/>
            <a:ext cx="10911535" cy="292608"/>
          </a:xfrm>
          <a:prstGeom prst="rect">
            <a:avLst/>
          </a:prstGeom>
          <a:noFill/>
          <a:ln/>
        </p:spPr>
        <p:txBody>
          <a:bodyPr wrap="square" lIns="0" tIns="0" rIns="0" bIns="0" rtlCol="0" anchor="ctr"/>
          <a:lstStyle/>
          <a:p>
            <a:pPr marL="0" indent="0">
              <a:buNone/>
            </a:pPr>
            <a:r>
              <a:rPr lang="en-US" sz="1000" i="1" dirty="0">
                <a:solidFill>
                  <a:srgbClr val="6B7794"/>
                </a:solidFill>
                <a:latin typeface="Calibri" pitchFamily="34" charset="0"/>
                <a:ea typeface="Calibri" pitchFamily="34" charset="-122"/>
                <a:cs typeface="Calibri" pitchFamily="34" charset="-120"/>
              </a:rPr>
              <a:t>Source: Google SRE, Chapter 11, Being On-Call (2016).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PRACTICE 3</a:t>
            </a:r>
            <a:endParaRPr lang="en-US" sz="1100" dirty="0"/>
          </a:p>
        </p:txBody>
      </p:sp>
      <p:sp>
        <p:nvSpPr>
          <p:cNvPr id="3" name="Text 1"/>
          <p:cNvSpPr/>
          <p:nvPr/>
        </p:nvSpPr>
        <p:spPr>
          <a:xfrm>
            <a:off x="640080" y="658368"/>
            <a:ext cx="10911535" cy="685800"/>
          </a:xfrm>
          <a:prstGeom prst="rect">
            <a:avLst/>
          </a:prstGeom>
          <a:noFill/>
          <a:ln/>
        </p:spPr>
        <p:txBody>
          <a:bodyPr wrap="square" lIns="0" tIns="0" rIns="0" bIns="0" rtlCol="0" anchor="ctr"/>
          <a:lstStyle/>
          <a:p>
            <a:pPr marL="0" indent="0">
              <a:buNone/>
            </a:pPr>
            <a:r>
              <a:rPr lang="en-US" sz="3400" b="1" dirty="0">
                <a:solidFill>
                  <a:srgbClr val="16233F"/>
                </a:solidFill>
                <a:latin typeface="Cambria" pitchFamily="34" charset="0"/>
                <a:ea typeface="Cambria" pitchFamily="34" charset="-122"/>
                <a:cs typeface="Cambria" pitchFamily="34" charset="-120"/>
              </a:rPr>
              <a:t>Balance in Quality: Managing Pager Load</a:t>
            </a:r>
            <a:endParaRPr lang="en-US" sz="3400" dirty="0"/>
          </a:p>
        </p:txBody>
      </p:sp>
      <p:sp>
        <p:nvSpPr>
          <p:cNvPr id="4" name="Shape 2"/>
          <p:cNvSpPr/>
          <p:nvPr/>
        </p:nvSpPr>
        <p:spPr>
          <a:xfrm>
            <a:off x="640080" y="1572768"/>
            <a:ext cx="3931920" cy="3977640"/>
          </a:xfrm>
          <a:prstGeom prst="roundRect">
            <a:avLst>
              <a:gd name="adj" fmla="val 2791"/>
            </a:avLst>
          </a:prstGeom>
          <a:solidFill>
            <a:srgbClr val="16233F"/>
          </a:solidFill>
          <a:ln w="12700">
            <a:solidFill>
              <a:srgbClr val="16233F"/>
            </a:solidFill>
            <a:prstDash val="solid"/>
          </a:ln>
        </p:spPr>
        <p:txBody>
          <a:bodyPr/>
          <a:lstStyle/>
          <a:p>
            <a:endParaRPr lang="en-US"/>
          </a:p>
        </p:txBody>
      </p:sp>
      <p:sp>
        <p:nvSpPr>
          <p:cNvPr id="5" name="Text 3"/>
          <p:cNvSpPr/>
          <p:nvPr/>
        </p:nvSpPr>
        <p:spPr>
          <a:xfrm>
            <a:off x="960120" y="1828800"/>
            <a:ext cx="3291840" cy="1371600"/>
          </a:xfrm>
          <a:prstGeom prst="rect">
            <a:avLst/>
          </a:prstGeom>
          <a:noFill/>
          <a:ln/>
        </p:spPr>
        <p:txBody>
          <a:bodyPr wrap="square" lIns="0" tIns="0" rIns="0" bIns="0" rtlCol="0" anchor="ctr"/>
          <a:lstStyle/>
          <a:p>
            <a:pPr marL="0" indent="0">
              <a:buNone/>
            </a:pPr>
            <a:r>
              <a:rPr lang="en-US" sz="7200" b="1" dirty="0">
                <a:solidFill>
                  <a:srgbClr val="E8A33D"/>
                </a:solidFill>
                <a:latin typeface="Cambria" pitchFamily="34" charset="0"/>
                <a:ea typeface="Cambria" pitchFamily="34" charset="-122"/>
                <a:cs typeface="Cambria" pitchFamily="34" charset="-120"/>
              </a:rPr>
              <a:t>2</a:t>
            </a:r>
            <a:endParaRPr lang="en-US" sz="7200" dirty="0"/>
          </a:p>
        </p:txBody>
      </p:sp>
      <p:sp>
        <p:nvSpPr>
          <p:cNvPr id="6" name="Text 4"/>
          <p:cNvSpPr/>
          <p:nvPr/>
        </p:nvSpPr>
        <p:spPr>
          <a:xfrm>
            <a:off x="960120" y="3154680"/>
            <a:ext cx="329184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incidents per 12 hour shift</a:t>
            </a:r>
            <a:endParaRPr lang="en-US" sz="1500" dirty="0"/>
          </a:p>
        </p:txBody>
      </p:sp>
      <p:sp>
        <p:nvSpPr>
          <p:cNvPr id="7" name="Text 5"/>
          <p:cNvSpPr/>
          <p:nvPr/>
        </p:nvSpPr>
        <p:spPr>
          <a:xfrm>
            <a:off x="960120" y="3703320"/>
            <a:ext cx="3291840" cy="1554480"/>
          </a:xfrm>
          <a:prstGeom prst="rect">
            <a:avLst/>
          </a:prstGeom>
          <a:noFill/>
          <a:ln/>
        </p:spPr>
        <p:txBody>
          <a:bodyPr wrap="square" lIns="0" tIns="0" rIns="0" bIns="0" rtlCol="0" anchor="ctr"/>
          <a:lstStyle/>
          <a:p>
            <a:pPr marL="0" indent="0">
              <a:lnSpc>
                <a:spcPts val="1900"/>
              </a:lnSpc>
              <a:buNone/>
            </a:pPr>
            <a:r>
              <a:rPr lang="en-US" sz="1300" dirty="0">
                <a:solidFill>
                  <a:srgbClr val="CADCFC"/>
                </a:solidFill>
                <a:latin typeface="Calibri" pitchFamily="34" charset="0"/>
                <a:ea typeface="Calibri" pitchFamily="34" charset="-122"/>
                <a:cs typeface="Calibri" pitchFamily="34" charset="-120"/>
              </a:rPr>
              <a:t>Root cause analysis, remediation, and the follow up postmortem average about six hours of work per incident. Two incidents therefore consume a full shift.</a:t>
            </a:r>
            <a:endParaRPr lang="en-US" sz="1300" dirty="0"/>
          </a:p>
        </p:txBody>
      </p:sp>
      <p:sp>
        <p:nvSpPr>
          <p:cNvPr id="8" name="Shape 6"/>
          <p:cNvSpPr/>
          <p:nvPr/>
        </p:nvSpPr>
        <p:spPr>
          <a:xfrm>
            <a:off x="4892040" y="1673352"/>
            <a:ext cx="182880" cy="182880"/>
          </a:xfrm>
          <a:prstGeom prst="ellipse">
            <a:avLst/>
          </a:prstGeom>
          <a:solidFill>
            <a:srgbClr val="E8A33D"/>
          </a:solidFill>
          <a:ln/>
        </p:spPr>
        <p:txBody>
          <a:bodyPr/>
          <a:lstStyle/>
          <a:p>
            <a:endParaRPr lang="en-US"/>
          </a:p>
        </p:txBody>
      </p:sp>
      <p:sp>
        <p:nvSpPr>
          <p:cNvPr id="9" name="Text 7"/>
          <p:cNvSpPr/>
          <p:nvPr/>
        </p:nvSpPr>
        <p:spPr>
          <a:xfrm>
            <a:off x="5230368" y="1600200"/>
            <a:ext cx="640080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Page only on symptoms</a:t>
            </a:r>
            <a:endParaRPr lang="en-US" sz="1600" dirty="0"/>
          </a:p>
        </p:txBody>
      </p:sp>
      <p:sp>
        <p:nvSpPr>
          <p:cNvPr id="10" name="Text 8"/>
          <p:cNvSpPr/>
          <p:nvPr/>
        </p:nvSpPr>
        <p:spPr>
          <a:xfrm>
            <a:off x="5230368" y="1901952"/>
            <a:ext cx="6400800" cy="658368"/>
          </a:xfrm>
          <a:prstGeom prst="rect">
            <a:avLst/>
          </a:prstGeom>
          <a:noFill/>
          <a:ln/>
        </p:spPr>
        <p:txBody>
          <a:bodyPr wrap="square" lIns="0" tIns="0" rIns="0" bIns="0" rtlCol="0" anchor="ctr"/>
          <a:lstStyle/>
          <a:p>
            <a:pPr marL="0" indent="0">
              <a:lnSpc>
                <a:spcPts val="1700"/>
              </a:lnSpc>
              <a:buNone/>
            </a:pPr>
            <a:r>
              <a:rPr lang="en-US" sz="1250" dirty="0">
                <a:solidFill>
                  <a:srgbClr val="2A3550"/>
                </a:solidFill>
                <a:latin typeface="Calibri" pitchFamily="34" charset="0"/>
                <a:ea typeface="Calibri" pitchFamily="34" charset="-122"/>
                <a:cs typeface="Calibri" pitchFamily="34" charset="-120"/>
              </a:rPr>
              <a:t>Paging alerts should map to conditions that threaten a service level objective and that a human can act on. Everything else belongs in a ticket queue or in automated repair.</a:t>
            </a:r>
            <a:endParaRPr lang="en-US" sz="1250" dirty="0"/>
          </a:p>
        </p:txBody>
      </p:sp>
      <p:sp>
        <p:nvSpPr>
          <p:cNvPr id="11" name="Shape 9"/>
          <p:cNvSpPr/>
          <p:nvPr/>
        </p:nvSpPr>
        <p:spPr>
          <a:xfrm>
            <a:off x="4892040" y="2670048"/>
            <a:ext cx="182880" cy="182880"/>
          </a:xfrm>
          <a:prstGeom prst="ellipse">
            <a:avLst/>
          </a:prstGeom>
          <a:solidFill>
            <a:srgbClr val="E8A33D"/>
          </a:solidFill>
          <a:ln/>
        </p:spPr>
        <p:txBody>
          <a:bodyPr/>
          <a:lstStyle/>
          <a:p>
            <a:endParaRPr lang="en-US"/>
          </a:p>
        </p:txBody>
      </p:sp>
      <p:sp>
        <p:nvSpPr>
          <p:cNvPr id="12" name="Text 10"/>
          <p:cNvSpPr/>
          <p:nvPr/>
        </p:nvSpPr>
        <p:spPr>
          <a:xfrm>
            <a:off x="5230368" y="2596896"/>
            <a:ext cx="640080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Target a 1:1 alert to incident ratio</a:t>
            </a:r>
            <a:endParaRPr lang="en-US" sz="1600" dirty="0"/>
          </a:p>
        </p:txBody>
      </p:sp>
      <p:sp>
        <p:nvSpPr>
          <p:cNvPr id="13" name="Text 11"/>
          <p:cNvSpPr/>
          <p:nvPr/>
        </p:nvSpPr>
        <p:spPr>
          <a:xfrm>
            <a:off x="5230368" y="2898648"/>
            <a:ext cx="6400800" cy="658368"/>
          </a:xfrm>
          <a:prstGeom prst="rect">
            <a:avLst/>
          </a:prstGeom>
          <a:noFill/>
          <a:ln/>
        </p:spPr>
        <p:txBody>
          <a:bodyPr wrap="square" lIns="0" tIns="0" rIns="0" bIns="0" rtlCol="0" anchor="ctr"/>
          <a:lstStyle/>
          <a:p>
            <a:pPr marL="0" indent="0">
              <a:lnSpc>
                <a:spcPts val="1700"/>
              </a:lnSpc>
              <a:buNone/>
            </a:pPr>
            <a:r>
              <a:rPr lang="en-US" sz="1250" dirty="0">
                <a:solidFill>
                  <a:srgbClr val="2A3550"/>
                </a:solidFill>
                <a:latin typeface="Calibri" pitchFamily="34" charset="0"/>
                <a:ea typeface="Calibri" pitchFamily="34" charset="-122"/>
                <a:cs typeface="Calibri" pitchFamily="34" charset="-120"/>
              </a:rPr>
              <a:t>Group related alerts so a single abnormal condition does not fan out into a pile of pages. Silence duplicates during an active incident.</a:t>
            </a:r>
            <a:endParaRPr lang="en-US" sz="1250" dirty="0"/>
          </a:p>
        </p:txBody>
      </p:sp>
      <p:sp>
        <p:nvSpPr>
          <p:cNvPr id="14" name="Shape 12"/>
          <p:cNvSpPr/>
          <p:nvPr/>
        </p:nvSpPr>
        <p:spPr>
          <a:xfrm>
            <a:off x="4892040" y="3666744"/>
            <a:ext cx="182880" cy="182880"/>
          </a:xfrm>
          <a:prstGeom prst="ellipse">
            <a:avLst/>
          </a:prstGeom>
          <a:solidFill>
            <a:srgbClr val="E8A33D"/>
          </a:solidFill>
          <a:ln/>
        </p:spPr>
        <p:txBody>
          <a:bodyPr/>
          <a:lstStyle/>
          <a:p>
            <a:endParaRPr lang="en-US"/>
          </a:p>
        </p:txBody>
      </p:sp>
      <p:sp>
        <p:nvSpPr>
          <p:cNvPr id="15" name="Text 13"/>
          <p:cNvSpPr/>
          <p:nvPr/>
        </p:nvSpPr>
        <p:spPr>
          <a:xfrm>
            <a:off x="5230368" y="3593592"/>
            <a:ext cx="640080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Set a pager budget and measure it</a:t>
            </a:r>
            <a:endParaRPr lang="en-US" sz="1600" dirty="0"/>
          </a:p>
        </p:txBody>
      </p:sp>
      <p:sp>
        <p:nvSpPr>
          <p:cNvPr id="16" name="Text 14"/>
          <p:cNvSpPr/>
          <p:nvPr/>
        </p:nvSpPr>
        <p:spPr>
          <a:xfrm>
            <a:off x="5230368" y="3895344"/>
            <a:ext cx="6400800" cy="658368"/>
          </a:xfrm>
          <a:prstGeom prst="rect">
            <a:avLst/>
          </a:prstGeom>
          <a:noFill/>
          <a:ln/>
        </p:spPr>
        <p:txBody>
          <a:bodyPr wrap="square" lIns="0" tIns="0" rIns="0" bIns="0" rtlCol="0" anchor="ctr"/>
          <a:lstStyle/>
          <a:p>
            <a:pPr marL="0" indent="0">
              <a:lnSpc>
                <a:spcPts val="1700"/>
              </a:lnSpc>
              <a:buNone/>
            </a:pPr>
            <a:r>
              <a:rPr lang="en-US" sz="1250" dirty="0">
                <a:solidFill>
                  <a:srgbClr val="2A3550"/>
                </a:solidFill>
                <a:latin typeface="Calibri" pitchFamily="34" charset="0"/>
                <a:ea typeface="Calibri" pitchFamily="34" charset="-122"/>
                <a:cs typeface="Calibri" pitchFamily="34" charset="-120"/>
              </a:rPr>
              <a:t>Make overload quantifiable, for example fewer than five daily tickets and fewer than two paging events per shift, then review the trend in production meetings.</a:t>
            </a:r>
            <a:endParaRPr lang="en-US" sz="1250" dirty="0"/>
          </a:p>
        </p:txBody>
      </p:sp>
      <p:sp>
        <p:nvSpPr>
          <p:cNvPr id="17" name="Shape 15"/>
          <p:cNvSpPr/>
          <p:nvPr/>
        </p:nvSpPr>
        <p:spPr>
          <a:xfrm>
            <a:off x="4892040" y="4663440"/>
            <a:ext cx="182880" cy="182880"/>
          </a:xfrm>
          <a:prstGeom prst="ellipse">
            <a:avLst/>
          </a:prstGeom>
          <a:solidFill>
            <a:srgbClr val="E8A33D"/>
          </a:solidFill>
          <a:ln/>
        </p:spPr>
        <p:txBody>
          <a:bodyPr/>
          <a:lstStyle/>
          <a:p>
            <a:endParaRPr lang="en-US"/>
          </a:p>
        </p:txBody>
      </p:sp>
      <p:sp>
        <p:nvSpPr>
          <p:cNvPr id="18" name="Text 16"/>
          <p:cNvSpPr/>
          <p:nvPr/>
        </p:nvSpPr>
        <p:spPr>
          <a:xfrm>
            <a:off x="5230368" y="4590288"/>
            <a:ext cx="640080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Treat overload as a planning item</a:t>
            </a:r>
            <a:endParaRPr lang="en-US" sz="1600" dirty="0"/>
          </a:p>
        </p:txBody>
      </p:sp>
      <p:sp>
        <p:nvSpPr>
          <p:cNvPr id="19" name="Text 17"/>
          <p:cNvSpPr/>
          <p:nvPr/>
        </p:nvSpPr>
        <p:spPr>
          <a:xfrm>
            <a:off x="5230368" y="4892040"/>
            <a:ext cx="6400800" cy="658368"/>
          </a:xfrm>
          <a:prstGeom prst="rect">
            <a:avLst/>
          </a:prstGeom>
          <a:noFill/>
          <a:ln/>
        </p:spPr>
        <p:txBody>
          <a:bodyPr wrap="square" lIns="0" tIns="0" rIns="0" bIns="0" rtlCol="0" anchor="ctr"/>
          <a:lstStyle/>
          <a:p>
            <a:pPr marL="0" indent="0">
              <a:lnSpc>
                <a:spcPts val="1700"/>
              </a:lnSpc>
              <a:buNone/>
            </a:pPr>
            <a:r>
              <a:rPr lang="en-US" sz="1250" dirty="0">
                <a:solidFill>
                  <a:srgbClr val="2A3550"/>
                </a:solidFill>
                <a:latin typeface="Calibri" pitchFamily="34" charset="0"/>
                <a:ea typeface="Calibri" pitchFamily="34" charset="-122"/>
                <a:cs typeface="Calibri" pitchFamily="34" charset="-120"/>
              </a:rPr>
              <a:t>When load exceeds budget, leadership commits quarterly objectives to reduce it. In extreme cases the rotation is renegotiated with the development team.</a:t>
            </a:r>
            <a:endParaRPr lang="en-US" sz="1250" dirty="0"/>
          </a:p>
        </p:txBody>
      </p:sp>
      <p:sp>
        <p:nvSpPr>
          <p:cNvPr id="20" name="Text 18"/>
          <p:cNvSpPr/>
          <p:nvPr/>
        </p:nvSpPr>
        <p:spPr>
          <a:xfrm>
            <a:off x="640080" y="6236208"/>
            <a:ext cx="10911535" cy="292608"/>
          </a:xfrm>
          <a:prstGeom prst="rect">
            <a:avLst/>
          </a:prstGeom>
          <a:noFill/>
          <a:ln/>
        </p:spPr>
        <p:txBody>
          <a:bodyPr wrap="square" lIns="0" tIns="0" rIns="0" bIns="0" rtlCol="0" anchor="ctr"/>
          <a:lstStyle/>
          <a:p>
            <a:pPr marL="0" indent="0">
              <a:buNone/>
            </a:pPr>
            <a:r>
              <a:rPr lang="en-US" sz="1000" i="1" dirty="0">
                <a:solidFill>
                  <a:srgbClr val="6B7794"/>
                </a:solidFill>
                <a:latin typeface="Calibri" pitchFamily="34" charset="0"/>
                <a:ea typeface="Calibri" pitchFamily="34" charset="-122"/>
                <a:cs typeface="Calibri" pitchFamily="34" charset="-120"/>
              </a:rPr>
              <a:t>Sources: Google SRE, Chapter 11, Being On-Call (2016); Google SRE Workbook, Chapter 8, Anatomy of Pager Load (2018).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PRACTICE 4</a:t>
            </a:r>
            <a:endParaRPr lang="en-US" sz="1100" dirty="0"/>
          </a:p>
        </p:txBody>
      </p:sp>
      <p:sp>
        <p:nvSpPr>
          <p:cNvPr id="3" name="Text 1"/>
          <p:cNvSpPr/>
          <p:nvPr/>
        </p:nvSpPr>
        <p:spPr>
          <a:xfrm>
            <a:off x="640080" y="658368"/>
            <a:ext cx="10911535" cy="685800"/>
          </a:xfrm>
          <a:prstGeom prst="rect">
            <a:avLst/>
          </a:prstGeom>
          <a:noFill/>
          <a:ln/>
        </p:spPr>
        <p:txBody>
          <a:bodyPr wrap="square" lIns="0" tIns="0" rIns="0" bIns="0" rtlCol="0" anchor="ctr"/>
          <a:lstStyle/>
          <a:p>
            <a:pPr marL="0" indent="0">
              <a:buNone/>
            </a:pPr>
            <a:r>
              <a:rPr lang="en-US" sz="3400" b="1" dirty="0">
                <a:solidFill>
                  <a:srgbClr val="16233F"/>
                </a:solidFill>
                <a:latin typeface="Cambria" pitchFamily="34" charset="0"/>
                <a:ea typeface="Cambria" pitchFamily="34" charset="-122"/>
                <a:cs typeface="Cambria" pitchFamily="34" charset="-120"/>
              </a:rPr>
              <a:t>Before the Shift: Preparation and Playbooks</a:t>
            </a:r>
            <a:endParaRPr lang="en-US" sz="3400" dirty="0"/>
          </a:p>
        </p:txBody>
      </p:sp>
      <p:sp>
        <p:nvSpPr>
          <p:cNvPr id="4" name="Text 2"/>
          <p:cNvSpPr/>
          <p:nvPr/>
        </p:nvSpPr>
        <p:spPr>
          <a:xfrm>
            <a:off x="640080" y="1463040"/>
            <a:ext cx="10911535" cy="594360"/>
          </a:xfrm>
          <a:prstGeom prst="rect">
            <a:avLst/>
          </a:prstGeom>
          <a:noFill/>
          <a:ln/>
        </p:spPr>
        <p:txBody>
          <a:bodyPr wrap="square" lIns="0" tIns="0" rIns="0" bIns="0" rtlCol="0" anchor="ctr"/>
          <a:lstStyle/>
          <a:p>
            <a:pPr marL="0" indent="0">
              <a:lnSpc>
                <a:spcPts val="2100"/>
              </a:lnSpc>
              <a:buNone/>
            </a:pPr>
            <a:r>
              <a:rPr lang="en-US" sz="1400" dirty="0">
                <a:solidFill>
                  <a:srgbClr val="2A3550"/>
                </a:solidFill>
                <a:latin typeface="Calibri" pitchFamily="34" charset="0"/>
                <a:ea typeface="Calibri" pitchFamily="34" charset="-122"/>
                <a:cs typeface="Calibri" pitchFamily="34" charset="-120"/>
              </a:rPr>
              <a:t>Preparation converts a page at three in the morning from a crisis into a procedure. PagerDuty publishes a readiness checklist that responders complete at least one business day before a shift begins.</a:t>
            </a:r>
            <a:endParaRPr lang="en-US" sz="1400" dirty="0"/>
          </a:p>
        </p:txBody>
      </p:sp>
      <p:sp>
        <p:nvSpPr>
          <p:cNvPr id="5" name="Shape 3"/>
          <p:cNvSpPr/>
          <p:nvPr/>
        </p:nvSpPr>
        <p:spPr>
          <a:xfrm>
            <a:off x="640080" y="2286000"/>
            <a:ext cx="5349240" cy="3246120"/>
          </a:xfrm>
          <a:prstGeom prst="roundRect">
            <a:avLst>
              <a:gd name="adj" fmla="val 3380"/>
            </a:avLst>
          </a:prstGeom>
          <a:solidFill>
            <a:srgbClr val="F1F4FA"/>
          </a:solidFill>
          <a:ln w="12700">
            <a:solidFill>
              <a:srgbClr val="F1F4FA"/>
            </a:solidFill>
            <a:prstDash val="solid"/>
          </a:ln>
        </p:spPr>
        <p:txBody>
          <a:bodyPr/>
          <a:lstStyle/>
          <a:p>
            <a:endParaRPr lang="en-US"/>
          </a:p>
        </p:txBody>
      </p:sp>
      <p:sp>
        <p:nvSpPr>
          <p:cNvPr id="6" name="Text 4"/>
          <p:cNvSpPr/>
          <p:nvPr/>
        </p:nvSpPr>
        <p:spPr>
          <a:xfrm>
            <a:off x="1005840" y="2542032"/>
            <a:ext cx="4617720" cy="365760"/>
          </a:xfrm>
          <a:prstGeom prst="rect">
            <a:avLst/>
          </a:prstGeom>
          <a:noFill/>
          <a:ln/>
        </p:spPr>
        <p:txBody>
          <a:bodyPr wrap="square" lIns="0" tIns="0" rIns="0" bIns="0" rtlCol="0" anchor="ctr"/>
          <a:lstStyle/>
          <a:p>
            <a:pPr marL="0" indent="0">
              <a:buNone/>
            </a:pPr>
            <a:r>
              <a:rPr lang="en-US" sz="1800" b="1" dirty="0">
                <a:solidFill>
                  <a:srgbClr val="16233F"/>
                </a:solidFill>
                <a:latin typeface="Cambria" pitchFamily="34" charset="0"/>
                <a:ea typeface="Cambria" pitchFamily="34" charset="-122"/>
                <a:cs typeface="Cambria" pitchFamily="34" charset="-120"/>
              </a:rPr>
              <a:t>Responder readiness checklist</a:t>
            </a:r>
            <a:endParaRPr lang="en-US" sz="1800" dirty="0"/>
          </a:p>
        </p:txBody>
      </p:sp>
      <p:sp>
        <p:nvSpPr>
          <p:cNvPr id="7" name="Text 5"/>
          <p:cNvSpPr/>
          <p:nvPr/>
        </p:nvSpPr>
        <p:spPr>
          <a:xfrm>
            <a:off x="1005840" y="2971800"/>
            <a:ext cx="4617720" cy="2286000"/>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300" dirty="0">
                <a:solidFill>
                  <a:srgbClr val="2A3550"/>
                </a:solidFill>
                <a:latin typeface="Calibri" pitchFamily="34" charset="0"/>
                <a:ea typeface="Calibri" pitchFamily="34" charset="-122"/>
                <a:cs typeface="Calibri" pitchFamily="34" charset="-120"/>
              </a:rPr>
              <a:t>Reachable device, charged, with notifications set to bypass do not disturb</a:t>
            </a:r>
            <a:endParaRPr lang="en-US" sz="1300" dirty="0"/>
          </a:p>
          <a:p>
            <a:pPr marL="342900" indent="-342900">
              <a:lnSpc>
                <a:spcPts val="1800"/>
              </a:lnSpc>
              <a:spcAft>
                <a:spcPts val="800"/>
              </a:spcAft>
              <a:buSzPct val="100000"/>
              <a:buChar char="•"/>
            </a:pPr>
            <a:r>
              <a:rPr lang="en-US" sz="1300" dirty="0">
                <a:solidFill>
                  <a:srgbClr val="2A3550"/>
                </a:solidFill>
                <a:latin typeface="Calibri" pitchFamily="34" charset="0"/>
                <a:ea typeface="Calibri" pitchFamily="34" charset="-122"/>
                <a:cs typeface="Calibri" pitchFamily="34" charset="-120"/>
              </a:rPr>
              <a:t>Laptop and chargers within a one minute reach at all times</a:t>
            </a:r>
            <a:endParaRPr lang="en-US" sz="1300" dirty="0"/>
          </a:p>
          <a:p>
            <a:pPr marL="342900" indent="-342900">
              <a:lnSpc>
                <a:spcPts val="1800"/>
              </a:lnSpc>
              <a:spcAft>
                <a:spcPts val="800"/>
              </a:spcAft>
              <a:buSzPct val="100000"/>
              <a:buChar char="•"/>
            </a:pPr>
            <a:r>
              <a:rPr lang="en-US" sz="1300" dirty="0">
                <a:solidFill>
                  <a:srgbClr val="2A3550"/>
                </a:solidFill>
                <a:latin typeface="Calibri" pitchFamily="34" charset="0"/>
                <a:ea typeface="Calibri" pitchFamily="34" charset="-122"/>
                <a:cs typeface="Calibri" pitchFamily="34" charset="-120"/>
              </a:rPr>
              <a:t>Verified connectivity plan, including a hotspot fallback</a:t>
            </a:r>
            <a:endParaRPr lang="en-US" sz="1300" dirty="0"/>
          </a:p>
          <a:p>
            <a:pPr marL="342900" indent="-342900">
              <a:lnSpc>
                <a:spcPts val="1800"/>
              </a:lnSpc>
              <a:spcAft>
                <a:spcPts val="800"/>
              </a:spcAft>
              <a:buSzPct val="100000"/>
              <a:buChar char="•"/>
            </a:pPr>
            <a:r>
              <a:rPr lang="en-US" sz="1300" dirty="0">
                <a:solidFill>
                  <a:srgbClr val="2A3550"/>
                </a:solidFill>
                <a:latin typeface="Calibri" pitchFamily="34" charset="0"/>
                <a:ea typeface="Calibri" pitchFamily="34" charset="-122"/>
                <a:cs typeface="Calibri" pitchFamily="34" charset="-120"/>
              </a:rPr>
              <a:t>Confirmed access to VPN, password vault, dashboards, and log aggregators</a:t>
            </a:r>
            <a:endParaRPr lang="en-US" sz="1300" dirty="0"/>
          </a:p>
          <a:p>
            <a:pPr marL="342900" indent="-342900">
              <a:lnSpc>
                <a:spcPts val="1800"/>
              </a:lnSpc>
              <a:spcAft>
                <a:spcPts val="800"/>
              </a:spcAft>
              <a:buSzPct val="100000"/>
              <a:buChar char="•"/>
            </a:pPr>
            <a:r>
              <a:rPr lang="en-US" sz="1300" dirty="0">
                <a:solidFill>
                  <a:srgbClr val="2A3550"/>
                </a:solidFill>
                <a:latin typeface="Calibri" pitchFamily="34" charset="0"/>
                <a:ea typeface="Calibri" pitchFamily="34" charset="-122"/>
                <a:cs typeface="Calibri" pitchFamily="34" charset="-120"/>
              </a:rPr>
              <a:t>Staggered notification methods so one missed channel is not the only channel</a:t>
            </a:r>
            <a:endParaRPr lang="en-US" sz="1300" dirty="0"/>
          </a:p>
        </p:txBody>
      </p:sp>
      <p:sp>
        <p:nvSpPr>
          <p:cNvPr id="8" name="Shape 6"/>
          <p:cNvSpPr/>
          <p:nvPr/>
        </p:nvSpPr>
        <p:spPr>
          <a:xfrm>
            <a:off x="6355080" y="2286000"/>
            <a:ext cx="5349240" cy="3246120"/>
          </a:xfrm>
          <a:prstGeom prst="roundRect">
            <a:avLst>
              <a:gd name="adj" fmla="val 3380"/>
            </a:avLst>
          </a:prstGeom>
          <a:solidFill>
            <a:srgbClr val="16233F"/>
          </a:solidFill>
          <a:ln w="12700">
            <a:solidFill>
              <a:srgbClr val="16233F"/>
            </a:solidFill>
            <a:prstDash val="solid"/>
          </a:ln>
        </p:spPr>
        <p:txBody>
          <a:bodyPr/>
          <a:lstStyle/>
          <a:p>
            <a:endParaRPr lang="en-US"/>
          </a:p>
        </p:txBody>
      </p:sp>
      <p:sp>
        <p:nvSpPr>
          <p:cNvPr id="9" name="Text 7"/>
          <p:cNvSpPr/>
          <p:nvPr/>
        </p:nvSpPr>
        <p:spPr>
          <a:xfrm>
            <a:off x="6720840" y="2542032"/>
            <a:ext cx="4617720" cy="365760"/>
          </a:xfrm>
          <a:prstGeom prst="rect">
            <a:avLst/>
          </a:prstGeom>
          <a:noFill/>
          <a:ln/>
        </p:spPr>
        <p:txBody>
          <a:bodyPr wrap="square" lIns="0" tIns="0" rIns="0" bIns="0" rtlCol="0" anchor="ctr"/>
          <a:lstStyle/>
          <a:p>
            <a:pPr marL="0" indent="0">
              <a:buNone/>
            </a:pPr>
            <a:r>
              <a:rPr lang="en-US" sz="1800" b="1" dirty="0">
                <a:solidFill>
                  <a:srgbClr val="E8A33D"/>
                </a:solidFill>
                <a:latin typeface="Cambria" pitchFamily="34" charset="0"/>
                <a:ea typeface="Cambria" pitchFamily="34" charset="-122"/>
                <a:cs typeface="Cambria" pitchFamily="34" charset="-120"/>
              </a:rPr>
              <a:t>Runbooks and playbooks</a:t>
            </a:r>
            <a:endParaRPr lang="en-US" sz="1800" dirty="0"/>
          </a:p>
        </p:txBody>
      </p:sp>
      <p:sp>
        <p:nvSpPr>
          <p:cNvPr id="10" name="Text 8"/>
          <p:cNvSpPr/>
          <p:nvPr/>
        </p:nvSpPr>
        <p:spPr>
          <a:xfrm>
            <a:off x="6720840" y="2971800"/>
            <a:ext cx="4617720" cy="2286000"/>
          </a:xfrm>
          <a:prstGeom prst="rect">
            <a:avLst/>
          </a:prstGeom>
          <a:noFill/>
          <a:ln/>
        </p:spPr>
        <p:txBody>
          <a:bodyPr wrap="square" lIns="0" tIns="0" rIns="0" bIns="0" rtlCol="0" anchor="ctr"/>
          <a:lstStyle/>
          <a:p>
            <a:pPr marL="0" indent="0">
              <a:lnSpc>
                <a:spcPts val="1800"/>
              </a:lnSpc>
              <a:buNone/>
            </a:pPr>
            <a:r>
              <a:rPr lang="en-US" sz="1300" dirty="0">
                <a:solidFill>
                  <a:srgbClr val="CADCFC"/>
                </a:solidFill>
                <a:latin typeface="Calibri" pitchFamily="34" charset="0"/>
                <a:ea typeface="Calibri" pitchFamily="34" charset="-122"/>
                <a:cs typeface="Calibri" pitchFamily="34" charset="-120"/>
              </a:rPr>
              <a:t>A playbook entry is written whenever an alert is created. It states the severity and user impact of the alert, offers debugging suggestions, and lists mitigation steps.</a:t>
            </a:r>
            <a:endParaRPr lang="en-US" sz="1300" dirty="0"/>
          </a:p>
          <a:p>
            <a:pPr marL="0" indent="0">
              <a:lnSpc>
                <a:spcPts val="1800"/>
              </a:lnSpc>
              <a:buNone/>
            </a:pPr>
            <a:endParaRPr lang="en-US" sz="1300" dirty="0"/>
          </a:p>
          <a:p>
            <a:pPr marL="0" indent="0">
              <a:lnSpc>
                <a:spcPts val="1800"/>
              </a:lnSpc>
              <a:buNone/>
            </a:pPr>
            <a:r>
              <a:rPr lang="en-US" sz="1300" dirty="0">
                <a:solidFill>
                  <a:srgbClr val="CADCFC"/>
                </a:solidFill>
                <a:latin typeface="Calibri" pitchFamily="34" charset="0"/>
                <a:ea typeface="Calibri" pitchFamily="34" charset="-122"/>
                <a:cs typeface="Calibri" pitchFamily="34" charset="-120"/>
              </a:rPr>
              <a:t>Playbooks reduce stress, reduce mean time to repair, and reduce the risk of human error, which matters most when the responder is not the service expert. If a playbook becomes a deterministic list of commands, that is a signal to automate it instead.</a:t>
            </a:r>
            <a:endParaRPr lang="en-US" sz="1300" dirty="0"/>
          </a:p>
        </p:txBody>
      </p:sp>
      <p:sp>
        <p:nvSpPr>
          <p:cNvPr id="11" name="Text 9"/>
          <p:cNvSpPr/>
          <p:nvPr/>
        </p:nvSpPr>
        <p:spPr>
          <a:xfrm>
            <a:off x="640080" y="6236208"/>
            <a:ext cx="10911535" cy="292608"/>
          </a:xfrm>
          <a:prstGeom prst="rect">
            <a:avLst/>
          </a:prstGeom>
          <a:noFill/>
          <a:ln/>
        </p:spPr>
        <p:txBody>
          <a:bodyPr wrap="square" lIns="0" tIns="0" rIns="0" bIns="0" rtlCol="0" anchor="ctr"/>
          <a:lstStyle/>
          <a:p>
            <a:pPr marL="0" indent="0">
              <a:buNone/>
            </a:pPr>
            <a:r>
              <a:rPr lang="en-US" sz="1000" i="1" dirty="0">
                <a:solidFill>
                  <a:srgbClr val="6B7794"/>
                </a:solidFill>
                <a:latin typeface="Calibri" pitchFamily="34" charset="0"/>
                <a:ea typeface="Calibri" pitchFamily="34" charset="-122"/>
                <a:cs typeface="Calibri" pitchFamily="34" charset="-120"/>
              </a:rPr>
              <a:t>Sources: PagerDuty, Full Service Ownership, On-Call Shifts; Google SRE Workbook, Chapter 8; Atlassian, Incident Response Best Practices.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PRACTICE 5</a:t>
            </a:r>
            <a:endParaRPr lang="en-US" sz="1100" dirty="0"/>
          </a:p>
        </p:txBody>
      </p:sp>
      <p:sp>
        <p:nvSpPr>
          <p:cNvPr id="3" name="Text 1"/>
          <p:cNvSpPr/>
          <p:nvPr/>
        </p:nvSpPr>
        <p:spPr>
          <a:xfrm>
            <a:off x="640080" y="658368"/>
            <a:ext cx="10911535" cy="685800"/>
          </a:xfrm>
          <a:prstGeom prst="rect">
            <a:avLst/>
          </a:prstGeom>
          <a:noFill/>
          <a:ln/>
        </p:spPr>
        <p:txBody>
          <a:bodyPr wrap="square" lIns="0" tIns="0" rIns="0" bIns="0" rtlCol="0" anchor="ctr"/>
          <a:lstStyle/>
          <a:p>
            <a:pPr marL="0" indent="0">
              <a:buNone/>
            </a:pPr>
            <a:r>
              <a:rPr lang="en-US" sz="3400" b="1" dirty="0">
                <a:solidFill>
                  <a:srgbClr val="16233F"/>
                </a:solidFill>
                <a:latin typeface="Cambria" pitchFamily="34" charset="0"/>
                <a:ea typeface="Cambria" pitchFamily="34" charset="-122"/>
                <a:cs typeface="Cambria" pitchFamily="34" charset="-120"/>
              </a:rPr>
              <a:t>During the Shift: Triage, Response, and Escalation</a:t>
            </a:r>
            <a:endParaRPr lang="en-US" sz="3400" dirty="0"/>
          </a:p>
        </p:txBody>
      </p:sp>
      <p:sp>
        <p:nvSpPr>
          <p:cNvPr id="4" name="Text 2"/>
          <p:cNvSpPr/>
          <p:nvPr/>
        </p:nvSpPr>
        <p:spPr>
          <a:xfrm>
            <a:off x="640080" y="1463040"/>
            <a:ext cx="10911535" cy="548640"/>
          </a:xfrm>
          <a:prstGeom prst="rect">
            <a:avLst/>
          </a:prstGeom>
          <a:noFill/>
          <a:ln/>
        </p:spPr>
        <p:txBody>
          <a:bodyPr wrap="square" lIns="0" tIns="0" rIns="0" bIns="0" rtlCol="0" anchor="ctr"/>
          <a:lstStyle/>
          <a:p>
            <a:pPr marL="0" indent="0">
              <a:lnSpc>
                <a:spcPts val="2100"/>
              </a:lnSpc>
              <a:buNone/>
            </a:pPr>
            <a:r>
              <a:rPr lang="en-US" sz="1400" dirty="0">
                <a:solidFill>
                  <a:srgbClr val="2A3550"/>
                </a:solidFill>
                <a:latin typeface="Calibri" pitchFamily="34" charset="0"/>
                <a:ea typeface="Calibri" pitchFamily="34" charset="-122"/>
                <a:cs typeface="Calibri" pitchFamily="34" charset="-120"/>
              </a:rPr>
              <a:t>Response time expectations should be tiered to the actual business impact of the failure. Paging every alert at a five minute expectation is a common and avoidable source of burnout.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10908792" cy="2139696"/>
        </p:xfrm>
        <a:graphic>
          <a:graphicData uri="http://schemas.openxmlformats.org/drawingml/2006/table">
            <a:tbl>
              <a:tblPr/>
              <a:tblGrid>
                <a:gridCol w="31089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5696712">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Incident type</a:t>
                      </a:r>
                      <a:endParaRPr lang="en-US" sz="130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16233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Expected response</a:t>
                      </a:r>
                      <a:endParaRPr lang="en-US" sz="130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16233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Impact on the responder</a:t>
                      </a:r>
                      <a:endParaRPr lang="en-US" sz="130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658368">
                <a:tc>
                  <a:txBody>
                    <a:bodyPr/>
                    <a:lstStyle/>
                    <a:p>
                      <a:pPr marL="0" indent="0">
                        <a:buNone/>
                      </a:pPr>
                      <a:r>
                        <a:rPr lang="en-US" sz="1250" dirty="0">
                          <a:solidFill>
                            <a:srgbClr val="2A3550"/>
                          </a:solidFill>
                          <a:latin typeface="Calibri" pitchFamily="34" charset="0"/>
                          <a:ea typeface="Calibri" pitchFamily="34" charset="-122"/>
                          <a:cs typeface="Calibri" pitchFamily="34" charset="-120"/>
                        </a:rPr>
                        <a:t>Revenue impacting outage</a:t>
                      </a:r>
                      <a:endParaRPr lang="en-US" sz="125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marL="0" indent="0">
                        <a:buNone/>
                      </a:pPr>
                      <a:r>
                        <a:rPr lang="en-US" sz="1250" dirty="0">
                          <a:solidFill>
                            <a:srgbClr val="2A3550"/>
                          </a:solidFill>
                          <a:latin typeface="Calibri" pitchFamily="34" charset="0"/>
                          <a:ea typeface="Calibri" pitchFamily="34" charset="-122"/>
                          <a:cs typeface="Calibri" pitchFamily="34" charset="-120"/>
                        </a:rPr>
                        <a:t>5 minutes</a:t>
                      </a:r>
                      <a:endParaRPr lang="en-US" sz="125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marL="0" indent="0">
                        <a:buNone/>
                      </a:pPr>
                      <a:r>
                        <a:rPr lang="en-US" sz="1250" dirty="0">
                          <a:solidFill>
                            <a:srgbClr val="2A3550"/>
                          </a:solidFill>
                          <a:latin typeface="Calibri" pitchFamily="34" charset="0"/>
                          <a:ea typeface="Calibri" pitchFamily="34" charset="-122"/>
                          <a:cs typeface="Calibri" pitchFamily="34" charset="-120"/>
                        </a:rPr>
                        <a:t>Must stay within arm's reach of a charged, authenticated laptop and coordinate closely with the secondary</a:t>
                      </a:r>
                      <a:endParaRPr lang="en-US" sz="125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250" dirty="0">
                          <a:solidFill>
                            <a:srgbClr val="2A3550"/>
                          </a:solidFill>
                          <a:latin typeface="Calibri" pitchFamily="34" charset="0"/>
                          <a:ea typeface="Calibri" pitchFamily="34" charset="-122"/>
                          <a:cs typeface="Calibri" pitchFamily="34" charset="-120"/>
                        </a:rPr>
                        <a:t>Batch processing system stuck</a:t>
                      </a:r>
                      <a:endParaRPr lang="en-US" sz="125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marL="0" indent="0">
                        <a:buNone/>
                      </a:pPr>
                      <a:r>
                        <a:rPr lang="en-US" sz="1250" dirty="0">
                          <a:solidFill>
                            <a:srgbClr val="2A3550"/>
                          </a:solidFill>
                          <a:latin typeface="Calibri" pitchFamily="34" charset="0"/>
                          <a:ea typeface="Calibri" pitchFamily="34" charset="-122"/>
                          <a:cs typeface="Calibri" pitchFamily="34" charset="-120"/>
                        </a:rPr>
                        <a:t>30 minutes</a:t>
                      </a:r>
                      <a:endParaRPr lang="en-US" sz="125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marL="0" indent="0">
                        <a:buNone/>
                      </a:pPr>
                      <a:r>
                        <a:rPr lang="en-US" sz="1250" dirty="0">
                          <a:solidFill>
                            <a:srgbClr val="2A3550"/>
                          </a:solidFill>
                          <a:latin typeface="Calibri" pitchFamily="34" charset="0"/>
                          <a:ea typeface="Calibri" pitchFamily="34" charset="-122"/>
                          <a:cs typeface="Calibri" pitchFamily="34" charset="-120"/>
                        </a:rPr>
                        <a:t>Can leave home for a short errand without secondary coverage</a:t>
                      </a:r>
                      <a:endParaRPr lang="en-US" sz="125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50" dirty="0">
                          <a:solidFill>
                            <a:srgbClr val="2A3550"/>
                          </a:solidFill>
                          <a:latin typeface="Calibri" pitchFamily="34" charset="0"/>
                          <a:ea typeface="Calibri" pitchFamily="34" charset="-122"/>
                          <a:cs typeface="Calibri" pitchFamily="34" charset="-120"/>
                        </a:rPr>
                        <a:t>Backups failing on a pre launch service</a:t>
                      </a:r>
                      <a:endParaRPr lang="en-US" sz="125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marL="0" indent="0">
                        <a:buNone/>
                      </a:pPr>
                      <a:r>
                        <a:rPr lang="en-US" sz="1250" dirty="0">
                          <a:solidFill>
                            <a:srgbClr val="2A3550"/>
                          </a:solidFill>
                          <a:latin typeface="Calibri" pitchFamily="34" charset="0"/>
                          <a:ea typeface="Calibri" pitchFamily="34" charset="-122"/>
                          <a:cs typeface="Calibri" pitchFamily="34" charset="-120"/>
                        </a:rPr>
                        <a:t>Ticket, business hours</a:t>
                      </a:r>
                      <a:endParaRPr lang="en-US" sz="125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tc>
                  <a:txBody>
                    <a:bodyPr/>
                    <a:lstStyle/>
                    <a:p>
                      <a:pPr marL="0" indent="0">
                        <a:buNone/>
                      </a:pPr>
                      <a:r>
                        <a:rPr lang="en-US" sz="1250" dirty="0">
                          <a:solidFill>
                            <a:srgbClr val="2A3550"/>
                          </a:solidFill>
                          <a:latin typeface="Calibri" pitchFamily="34" charset="0"/>
                          <a:ea typeface="Calibri" pitchFamily="34" charset="-122"/>
                          <a:cs typeface="Calibri" pitchFamily="34" charset="-120"/>
                        </a:rPr>
                        <a:t>No out of hours impact at all</a:t>
                      </a:r>
                      <a:endParaRPr lang="en-US" sz="1250" dirty="0">
                        <a:latin typeface="Calibri" charset="0"/>
                        <a:ea typeface="Calibri" charset="0"/>
                        <a:cs typeface="Calibri" charset="0"/>
                      </a:endParaRPr>
                    </a:p>
                  </a:txBody>
                  <a:tcPr anchor="ctr">
                    <a:lnL w="12700" cap="flat" cmpd="sng" algn="ctr">
                      <a:solidFill>
                        <a:srgbClr val="DDE3EF"/>
                      </a:solidFill>
                      <a:prstDash val="solid"/>
                      <a:round/>
                      <a:headEnd type="none" w="med" len="med"/>
                      <a:tailEnd type="none" w="med" len="med"/>
                    </a:lnL>
                    <a:lnR w="12700" cap="flat" cmpd="sng" algn="ctr">
                      <a:solidFill>
                        <a:srgbClr val="DDE3EF"/>
                      </a:solidFill>
                      <a:prstDash val="solid"/>
                      <a:round/>
                      <a:headEnd type="none" w="med" len="med"/>
                      <a:tailEnd type="none" w="med" len="med"/>
                    </a:lnR>
                    <a:lnT w="12700" cap="flat" cmpd="sng" algn="ctr">
                      <a:solidFill>
                        <a:srgbClr val="DDE3EF"/>
                      </a:solidFill>
                      <a:prstDash val="solid"/>
                      <a:round/>
                      <a:headEnd type="none" w="med" len="med"/>
                      <a:tailEnd type="none" w="med" len="med"/>
                    </a:lnT>
                    <a:lnB w="12700" cap="flat" cmpd="sng" algn="ctr">
                      <a:solidFill>
                        <a:srgbClr val="DDE3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640080" y="4617720"/>
            <a:ext cx="10911535" cy="1371600"/>
          </a:xfrm>
          <a:prstGeom prst="roundRect">
            <a:avLst>
              <a:gd name="adj" fmla="val 8000"/>
            </a:avLst>
          </a:prstGeom>
          <a:solidFill>
            <a:srgbClr val="F1F4FA"/>
          </a:solidFill>
          <a:ln w="12700">
            <a:solidFill>
              <a:srgbClr val="F1F4FA"/>
            </a:solidFill>
            <a:prstDash val="solid"/>
          </a:ln>
        </p:spPr>
        <p:txBody>
          <a:bodyPr/>
          <a:lstStyle/>
          <a:p>
            <a:endParaRPr lang="en-US"/>
          </a:p>
        </p:txBody>
      </p:sp>
      <p:sp>
        <p:nvSpPr>
          <p:cNvPr id="7" name="Text 4"/>
          <p:cNvSpPr/>
          <p:nvPr/>
        </p:nvSpPr>
        <p:spPr>
          <a:xfrm>
            <a:off x="1005840" y="4800600"/>
            <a:ext cx="457200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Triage discipline</a:t>
            </a:r>
            <a:endParaRPr lang="en-US" sz="1600" dirty="0"/>
          </a:p>
        </p:txBody>
      </p:sp>
      <p:sp>
        <p:nvSpPr>
          <p:cNvPr id="5" name="Text 5"/>
          <p:cNvSpPr/>
          <p:nvPr/>
        </p:nvSpPr>
        <p:spPr>
          <a:xfrm>
            <a:off x="1005840" y="5138928"/>
            <a:ext cx="10180015" cy="777240"/>
          </a:xfrm>
          <a:prstGeom prst="rect">
            <a:avLst/>
          </a:prstGeom>
          <a:noFill/>
          <a:ln/>
        </p:spPr>
        <p:txBody>
          <a:bodyPr wrap="square" lIns="0" tIns="0" rIns="0" bIns="0" rtlCol="0" anchor="ctr"/>
          <a:lstStyle/>
          <a:p>
            <a:pPr marL="0" indent="0">
              <a:lnSpc>
                <a:spcPts val="1700"/>
              </a:lnSpc>
              <a:buNone/>
            </a:pPr>
            <a:r>
              <a:rPr lang="en-US" sz="1250" dirty="0">
                <a:solidFill>
                  <a:srgbClr val="2A3550"/>
                </a:solidFill>
                <a:latin typeface="Calibri" pitchFamily="34" charset="0"/>
                <a:ea typeface="Calibri" pitchFamily="34" charset="-122"/>
                <a:cs typeface="Calibri" pitchFamily="34" charset="-120"/>
              </a:rPr>
              <a:t>Verify the source of the page, check for related activity already in flight, decide whether the issue requires immediate action, and confirm the affected service belongs to your team. Escalating is a valid outcome of triage, not a failure of it. Responders should keep notes as they work so the runbook can be corrected afterward.</a:t>
            </a:r>
            <a:endParaRPr lang="en-US" sz="1250" dirty="0"/>
          </a:p>
        </p:txBody>
      </p:sp>
      <p:sp>
        <p:nvSpPr>
          <p:cNvPr id="9" name="Text 6"/>
          <p:cNvSpPr/>
          <p:nvPr/>
        </p:nvSpPr>
        <p:spPr>
          <a:xfrm>
            <a:off x="640080" y="6236208"/>
            <a:ext cx="10911535" cy="292608"/>
          </a:xfrm>
          <a:prstGeom prst="rect">
            <a:avLst/>
          </a:prstGeom>
          <a:noFill/>
          <a:ln/>
        </p:spPr>
        <p:txBody>
          <a:bodyPr wrap="square" lIns="0" tIns="0" rIns="0" bIns="0" rtlCol="0" anchor="ctr"/>
          <a:lstStyle/>
          <a:p>
            <a:pPr marL="0" indent="0">
              <a:buNone/>
            </a:pPr>
            <a:r>
              <a:rPr lang="en-US" sz="1000" i="1" dirty="0">
                <a:solidFill>
                  <a:srgbClr val="6B7794"/>
                </a:solidFill>
                <a:latin typeface="Calibri" pitchFamily="34" charset="0"/>
                <a:ea typeface="Calibri" pitchFamily="34" charset="-122"/>
                <a:cs typeface="Calibri" pitchFamily="34" charset="-120"/>
              </a:rPr>
              <a:t>Sources: Google SRE Workbook, Chapter 8, Table 8-1 (2018); PagerDuty, Full Service Ownership, On-Call Shifts.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PRACTICE 6</a:t>
            </a:r>
            <a:endParaRPr lang="en-US" sz="1100" dirty="0"/>
          </a:p>
        </p:txBody>
      </p:sp>
      <p:sp>
        <p:nvSpPr>
          <p:cNvPr id="3" name="Text 1"/>
          <p:cNvSpPr/>
          <p:nvPr/>
        </p:nvSpPr>
        <p:spPr>
          <a:xfrm>
            <a:off x="640080" y="658368"/>
            <a:ext cx="10911535" cy="685800"/>
          </a:xfrm>
          <a:prstGeom prst="rect">
            <a:avLst/>
          </a:prstGeom>
          <a:noFill/>
          <a:ln/>
        </p:spPr>
        <p:txBody>
          <a:bodyPr wrap="square" lIns="0" tIns="0" rIns="0" bIns="0" rtlCol="0" anchor="ctr"/>
          <a:lstStyle/>
          <a:p>
            <a:pPr marL="0" indent="0">
              <a:buNone/>
            </a:pPr>
            <a:r>
              <a:rPr lang="en-US" sz="3400" b="1" dirty="0">
                <a:solidFill>
                  <a:srgbClr val="16233F"/>
                </a:solidFill>
                <a:latin typeface="Cambria" pitchFamily="34" charset="0"/>
                <a:ea typeface="Cambria" pitchFamily="34" charset="-122"/>
                <a:cs typeface="Cambria" pitchFamily="34" charset="-120"/>
              </a:rPr>
              <a:t>After the Shift: Handoff and Review</a:t>
            </a:r>
            <a:endParaRPr lang="en-US" sz="3400" dirty="0"/>
          </a:p>
        </p:txBody>
      </p:sp>
      <p:sp>
        <p:nvSpPr>
          <p:cNvPr id="4" name="Text 2"/>
          <p:cNvSpPr/>
          <p:nvPr/>
        </p:nvSpPr>
        <p:spPr>
          <a:xfrm>
            <a:off x="640080" y="1463040"/>
            <a:ext cx="10911535" cy="457200"/>
          </a:xfrm>
          <a:prstGeom prst="rect">
            <a:avLst/>
          </a:prstGeom>
          <a:noFill/>
          <a:ln/>
        </p:spPr>
        <p:txBody>
          <a:bodyPr wrap="square" lIns="0" tIns="0" rIns="0" bIns="0" rtlCol="0" anchor="ctr"/>
          <a:lstStyle/>
          <a:p>
            <a:pPr marL="0" indent="0">
              <a:lnSpc>
                <a:spcPts val="2100"/>
              </a:lnSpc>
              <a:buNone/>
            </a:pPr>
            <a:r>
              <a:rPr lang="en-US" sz="1400" dirty="0">
                <a:solidFill>
                  <a:srgbClr val="2A3550"/>
                </a:solidFill>
                <a:latin typeface="Calibri" pitchFamily="34" charset="0"/>
                <a:ea typeface="Calibri" pitchFamily="34" charset="-122"/>
                <a:cs typeface="Calibri" pitchFamily="34" charset="-120"/>
              </a:rPr>
              <a:t>The end of a shift is a learning opportunity, not just a schedule boundary. Three practices convert a completed rotation into durable improvement.</a:t>
            </a:r>
            <a:endParaRPr lang="en-US" sz="1400" dirty="0"/>
          </a:p>
        </p:txBody>
      </p:sp>
      <p:sp>
        <p:nvSpPr>
          <p:cNvPr id="5" name="Shape 3"/>
          <p:cNvSpPr/>
          <p:nvPr/>
        </p:nvSpPr>
        <p:spPr>
          <a:xfrm>
            <a:off x="640080" y="2148840"/>
            <a:ext cx="3511296" cy="3337560"/>
          </a:xfrm>
          <a:prstGeom prst="roundRect">
            <a:avLst>
              <a:gd name="adj" fmla="val 3288"/>
            </a:avLst>
          </a:prstGeom>
          <a:solidFill>
            <a:srgbClr val="F1F4FA"/>
          </a:solidFill>
          <a:ln w="12700">
            <a:solidFill>
              <a:srgbClr val="F1F4FA"/>
            </a:solidFill>
            <a:prstDash val="solid"/>
          </a:ln>
        </p:spPr>
        <p:txBody>
          <a:bodyPr/>
          <a:lstStyle/>
          <a:p>
            <a:endParaRPr lang="en-US"/>
          </a:p>
        </p:txBody>
      </p:sp>
      <p:sp>
        <p:nvSpPr>
          <p:cNvPr id="6" name="Shape 4"/>
          <p:cNvSpPr/>
          <p:nvPr/>
        </p:nvSpPr>
        <p:spPr>
          <a:xfrm>
            <a:off x="960120" y="2468880"/>
            <a:ext cx="475488" cy="475488"/>
          </a:xfrm>
          <a:prstGeom prst="ellipse">
            <a:avLst/>
          </a:prstGeom>
          <a:solidFill>
            <a:srgbClr val="E8A33D"/>
          </a:solidFill>
          <a:ln/>
        </p:spPr>
        <p:txBody>
          <a:bodyPr/>
          <a:lstStyle/>
          <a:p>
            <a:endParaRPr lang="en-US"/>
          </a:p>
        </p:txBody>
      </p:sp>
      <p:sp>
        <p:nvSpPr>
          <p:cNvPr id="7" name="Text 5"/>
          <p:cNvSpPr/>
          <p:nvPr/>
        </p:nvSpPr>
        <p:spPr>
          <a:xfrm>
            <a:off x="960120" y="2468880"/>
            <a:ext cx="475488" cy="475488"/>
          </a:xfrm>
          <a:prstGeom prst="rect">
            <a:avLst/>
          </a:prstGeom>
          <a:noFill/>
          <a:ln/>
        </p:spPr>
        <p:txBody>
          <a:bodyPr wrap="square" lIns="0" tIns="0" rIns="0" bIns="0" rtlCol="0" anchor="ctr"/>
          <a:lstStyle/>
          <a:p>
            <a:pPr marL="0" indent="0" algn="ctr">
              <a:buNone/>
            </a:pPr>
            <a:r>
              <a:rPr lang="en-US" sz="1600" b="1" dirty="0">
                <a:solidFill>
                  <a:srgbClr val="16233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960120" y="3127248"/>
            <a:ext cx="2871216" cy="640080"/>
          </a:xfrm>
          <a:prstGeom prst="rect">
            <a:avLst/>
          </a:prstGeom>
          <a:noFill/>
          <a:ln/>
        </p:spPr>
        <p:txBody>
          <a:bodyPr wrap="square" lIns="0" tIns="0" rIns="0" bIns="0" rtlCol="0" anchor="ctr"/>
          <a:lstStyle/>
          <a:p>
            <a:pPr marL="0" indent="0">
              <a:buNone/>
            </a:pPr>
            <a:r>
              <a:rPr lang="en-US" sz="1800" b="1" dirty="0">
                <a:solidFill>
                  <a:srgbClr val="16233F"/>
                </a:solidFill>
                <a:latin typeface="Cambria" pitchFamily="34" charset="0"/>
                <a:ea typeface="Cambria" pitchFamily="34" charset="-122"/>
                <a:cs typeface="Cambria" pitchFamily="34" charset="-120"/>
              </a:rPr>
              <a:t>Structured handoff</a:t>
            </a:r>
            <a:endParaRPr lang="en-US" sz="1800" dirty="0"/>
          </a:p>
        </p:txBody>
      </p:sp>
      <p:sp>
        <p:nvSpPr>
          <p:cNvPr id="9" name="Text 7"/>
          <p:cNvSpPr/>
          <p:nvPr/>
        </p:nvSpPr>
        <p:spPr>
          <a:xfrm>
            <a:off x="960120" y="3822192"/>
            <a:ext cx="2871216" cy="155448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The outgoing engineer sends a written handoff summarizing open issues and conditions to watch. The incoming engineer reads it at the start of the shift before touching anything else.</a:t>
            </a:r>
            <a:endParaRPr lang="en-US" sz="1300" dirty="0"/>
          </a:p>
        </p:txBody>
      </p:sp>
      <p:sp>
        <p:nvSpPr>
          <p:cNvPr id="10" name="Shape 8"/>
          <p:cNvSpPr/>
          <p:nvPr/>
        </p:nvSpPr>
        <p:spPr>
          <a:xfrm>
            <a:off x="4517136" y="2148840"/>
            <a:ext cx="3511296" cy="3337560"/>
          </a:xfrm>
          <a:prstGeom prst="roundRect">
            <a:avLst>
              <a:gd name="adj" fmla="val 3288"/>
            </a:avLst>
          </a:prstGeom>
          <a:solidFill>
            <a:srgbClr val="16233F"/>
          </a:solidFill>
          <a:ln w="12700">
            <a:solidFill>
              <a:srgbClr val="16233F"/>
            </a:solidFill>
            <a:prstDash val="solid"/>
          </a:ln>
        </p:spPr>
        <p:txBody>
          <a:bodyPr/>
          <a:lstStyle/>
          <a:p>
            <a:endParaRPr lang="en-US"/>
          </a:p>
        </p:txBody>
      </p:sp>
      <p:sp>
        <p:nvSpPr>
          <p:cNvPr id="11" name="Shape 9"/>
          <p:cNvSpPr/>
          <p:nvPr/>
        </p:nvSpPr>
        <p:spPr>
          <a:xfrm>
            <a:off x="4837176" y="2468880"/>
            <a:ext cx="475488" cy="475488"/>
          </a:xfrm>
          <a:prstGeom prst="ellipse">
            <a:avLst/>
          </a:prstGeom>
          <a:solidFill>
            <a:srgbClr val="E8A33D"/>
          </a:solidFill>
          <a:ln/>
        </p:spPr>
        <p:txBody>
          <a:bodyPr/>
          <a:lstStyle/>
          <a:p>
            <a:endParaRPr lang="en-US"/>
          </a:p>
        </p:txBody>
      </p:sp>
      <p:sp>
        <p:nvSpPr>
          <p:cNvPr id="12" name="Text 10"/>
          <p:cNvSpPr/>
          <p:nvPr/>
        </p:nvSpPr>
        <p:spPr>
          <a:xfrm>
            <a:off x="4837176" y="2468880"/>
            <a:ext cx="475488" cy="475488"/>
          </a:xfrm>
          <a:prstGeom prst="rect">
            <a:avLst/>
          </a:prstGeom>
          <a:noFill/>
          <a:ln/>
        </p:spPr>
        <p:txBody>
          <a:bodyPr wrap="square" lIns="0" tIns="0" rIns="0" bIns="0" rtlCol="0" anchor="ctr"/>
          <a:lstStyle/>
          <a:p>
            <a:pPr marL="0" indent="0" algn="ctr">
              <a:buNone/>
            </a:pPr>
            <a:r>
              <a:rPr lang="en-US" sz="1600" b="1" dirty="0">
                <a:solidFill>
                  <a:srgbClr val="16233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837176" y="3127248"/>
            <a:ext cx="2871216" cy="640080"/>
          </a:xfrm>
          <a:prstGeom prst="rect">
            <a:avLst/>
          </a:prstGeom>
          <a:noFill/>
          <a:ln/>
        </p:spPr>
        <p:txBody>
          <a:bodyPr wrap="square" lIns="0" tIns="0" rIns="0" bIns="0" rtlCol="0" anchor="ctr"/>
          <a:lstStyle/>
          <a:p>
            <a:pPr marL="0" indent="0">
              <a:buNone/>
            </a:pPr>
            <a:r>
              <a:rPr lang="en-US" sz="1800" b="1" dirty="0">
                <a:solidFill>
                  <a:srgbClr val="E8A33D"/>
                </a:solidFill>
                <a:latin typeface="Cambria" pitchFamily="34" charset="0"/>
                <a:ea typeface="Cambria" pitchFamily="34" charset="-122"/>
                <a:cs typeface="Cambria" pitchFamily="34" charset="-120"/>
              </a:rPr>
              <a:t>On-call review meeting</a:t>
            </a:r>
            <a:endParaRPr lang="en-US" sz="1800" dirty="0"/>
          </a:p>
        </p:txBody>
      </p:sp>
      <p:sp>
        <p:nvSpPr>
          <p:cNvPr id="14" name="Text 12"/>
          <p:cNvSpPr/>
          <p:nvPr/>
        </p:nvSpPr>
        <p:spPr>
          <a:xfrm>
            <a:off x="4837176" y="3822192"/>
            <a:ext cx="2871216" cy="1554480"/>
          </a:xfrm>
          <a:prstGeom prst="rect">
            <a:avLst/>
          </a:prstGeom>
          <a:noFill/>
          <a:ln/>
        </p:spPr>
        <p:txBody>
          <a:bodyPr wrap="square" lIns="0" tIns="0" rIns="0" bIns="0" rtlCol="0" anchor="ctr"/>
          <a:lstStyle/>
          <a:p>
            <a:pPr marL="0" indent="0">
              <a:lnSpc>
                <a:spcPts val="1900"/>
              </a:lnSpc>
              <a:buNone/>
            </a:pPr>
            <a:r>
              <a:rPr lang="en-US" sz="1300" dirty="0">
                <a:solidFill>
                  <a:srgbClr val="CADCFC"/>
                </a:solidFill>
                <a:latin typeface="Calibri" pitchFamily="34" charset="0"/>
                <a:ea typeface="Calibri" pitchFamily="34" charset="-122"/>
                <a:cs typeface="Calibri" pitchFamily="34" charset="-120"/>
              </a:rPr>
              <a:t>The team reviews the shift together to understand the load it carried, identify noisy or non actionable alerts, transfer knowledge, and plan concrete improvements before problems become trends.</a:t>
            </a:r>
            <a:endParaRPr lang="en-US" sz="1300" dirty="0"/>
          </a:p>
        </p:txBody>
      </p:sp>
      <p:sp>
        <p:nvSpPr>
          <p:cNvPr id="15" name="Shape 13"/>
          <p:cNvSpPr/>
          <p:nvPr/>
        </p:nvSpPr>
        <p:spPr>
          <a:xfrm>
            <a:off x="8394192" y="2148840"/>
            <a:ext cx="3511296" cy="3337560"/>
          </a:xfrm>
          <a:prstGeom prst="roundRect">
            <a:avLst>
              <a:gd name="adj" fmla="val 3288"/>
            </a:avLst>
          </a:prstGeom>
          <a:solidFill>
            <a:srgbClr val="F1F4FA"/>
          </a:solidFill>
          <a:ln w="12700">
            <a:solidFill>
              <a:srgbClr val="F1F4FA"/>
            </a:solidFill>
            <a:prstDash val="solid"/>
          </a:ln>
        </p:spPr>
        <p:txBody>
          <a:bodyPr/>
          <a:lstStyle/>
          <a:p>
            <a:endParaRPr lang="en-US"/>
          </a:p>
        </p:txBody>
      </p:sp>
      <p:sp>
        <p:nvSpPr>
          <p:cNvPr id="16" name="Shape 14"/>
          <p:cNvSpPr/>
          <p:nvPr/>
        </p:nvSpPr>
        <p:spPr>
          <a:xfrm>
            <a:off x="8714232" y="2468880"/>
            <a:ext cx="475488" cy="475488"/>
          </a:xfrm>
          <a:prstGeom prst="ellipse">
            <a:avLst/>
          </a:prstGeom>
          <a:solidFill>
            <a:srgbClr val="E8A33D"/>
          </a:solidFill>
          <a:ln/>
        </p:spPr>
        <p:txBody>
          <a:bodyPr/>
          <a:lstStyle/>
          <a:p>
            <a:endParaRPr lang="en-US"/>
          </a:p>
        </p:txBody>
      </p:sp>
      <p:sp>
        <p:nvSpPr>
          <p:cNvPr id="17" name="Text 15"/>
          <p:cNvSpPr/>
          <p:nvPr/>
        </p:nvSpPr>
        <p:spPr>
          <a:xfrm>
            <a:off x="8714232" y="2468880"/>
            <a:ext cx="475488" cy="475488"/>
          </a:xfrm>
          <a:prstGeom prst="rect">
            <a:avLst/>
          </a:prstGeom>
          <a:noFill/>
          <a:ln/>
        </p:spPr>
        <p:txBody>
          <a:bodyPr wrap="square" lIns="0" tIns="0" rIns="0" bIns="0" rtlCol="0" anchor="ctr"/>
          <a:lstStyle/>
          <a:p>
            <a:pPr marL="0" indent="0" algn="ctr">
              <a:buNone/>
            </a:pPr>
            <a:r>
              <a:rPr lang="en-US" sz="1600" b="1" dirty="0">
                <a:solidFill>
                  <a:srgbClr val="16233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8714232" y="3127248"/>
            <a:ext cx="2871216" cy="640080"/>
          </a:xfrm>
          <a:prstGeom prst="rect">
            <a:avLst/>
          </a:prstGeom>
          <a:noFill/>
          <a:ln/>
        </p:spPr>
        <p:txBody>
          <a:bodyPr wrap="square" lIns="0" tIns="0" rIns="0" bIns="0" rtlCol="0" anchor="ctr"/>
          <a:lstStyle/>
          <a:p>
            <a:pPr marL="0" indent="0">
              <a:buNone/>
            </a:pPr>
            <a:r>
              <a:rPr lang="en-US" sz="1800" b="1" dirty="0">
                <a:solidFill>
                  <a:srgbClr val="16233F"/>
                </a:solidFill>
                <a:latin typeface="Cambria" pitchFamily="34" charset="0"/>
                <a:ea typeface="Cambria" pitchFamily="34" charset="-122"/>
                <a:cs typeface="Cambria" pitchFamily="34" charset="-120"/>
              </a:rPr>
              <a:t>Blameless postmortem</a:t>
            </a:r>
            <a:endParaRPr lang="en-US" sz="1800" dirty="0"/>
          </a:p>
        </p:txBody>
      </p:sp>
      <p:sp>
        <p:nvSpPr>
          <p:cNvPr id="19" name="Text 17"/>
          <p:cNvSpPr/>
          <p:nvPr/>
        </p:nvSpPr>
        <p:spPr>
          <a:xfrm>
            <a:off x="8714232" y="3822192"/>
            <a:ext cx="2871216" cy="155448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Significant incidents get a written timeline that examines events rather than people. The value comes from systematic analysis and from recognizing opportunities to automate away human error.</a:t>
            </a:r>
            <a:endParaRPr lang="en-US" sz="1300" dirty="0"/>
          </a:p>
        </p:txBody>
      </p:sp>
      <p:sp>
        <p:nvSpPr>
          <p:cNvPr id="20" name="Text 18"/>
          <p:cNvSpPr/>
          <p:nvPr/>
        </p:nvSpPr>
        <p:spPr>
          <a:xfrm>
            <a:off x="640080" y="6236208"/>
            <a:ext cx="10911535" cy="292608"/>
          </a:xfrm>
          <a:prstGeom prst="rect">
            <a:avLst/>
          </a:prstGeom>
          <a:noFill/>
          <a:ln/>
        </p:spPr>
        <p:txBody>
          <a:bodyPr wrap="square" lIns="0" tIns="0" rIns="0" bIns="0" rtlCol="0" anchor="ctr"/>
          <a:lstStyle/>
          <a:p>
            <a:pPr marL="0" indent="0">
              <a:buNone/>
            </a:pPr>
            <a:r>
              <a:rPr lang="en-US" sz="1000" i="1" dirty="0">
                <a:solidFill>
                  <a:srgbClr val="6B7794"/>
                </a:solidFill>
                <a:latin typeface="Calibri" pitchFamily="34" charset="0"/>
                <a:ea typeface="Calibri" pitchFamily="34" charset="-122"/>
                <a:cs typeface="Calibri" pitchFamily="34" charset="-120"/>
              </a:rPr>
              <a:t>Sources: PagerDuty, Full Service Ownership, On-Call Shifts; Google SRE, Chapter 11 and Chapter 15, Postmortem Culture.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PRACTICE 7</a:t>
            </a:r>
            <a:endParaRPr lang="en-US" sz="1100" dirty="0"/>
          </a:p>
        </p:txBody>
      </p:sp>
      <p:sp>
        <p:nvSpPr>
          <p:cNvPr id="3" name="Text 1"/>
          <p:cNvSpPr/>
          <p:nvPr/>
        </p:nvSpPr>
        <p:spPr>
          <a:xfrm>
            <a:off x="640080" y="658368"/>
            <a:ext cx="10911535" cy="685800"/>
          </a:xfrm>
          <a:prstGeom prst="rect">
            <a:avLst/>
          </a:prstGeom>
          <a:noFill/>
          <a:ln/>
        </p:spPr>
        <p:txBody>
          <a:bodyPr wrap="square" lIns="0" tIns="0" rIns="0" bIns="0" rtlCol="0" anchor="ctr"/>
          <a:lstStyle/>
          <a:p>
            <a:pPr marL="0" indent="0">
              <a:buNone/>
            </a:pPr>
            <a:r>
              <a:rPr lang="en-US" sz="3400" b="1" dirty="0">
                <a:solidFill>
                  <a:srgbClr val="16233F"/>
                </a:solidFill>
                <a:latin typeface="Cambria" pitchFamily="34" charset="0"/>
                <a:ea typeface="Cambria" pitchFamily="34" charset="-122"/>
                <a:cs typeface="Cambria" pitchFamily="34" charset="-120"/>
              </a:rPr>
              <a:t>Sustaining the Practice Over Time</a:t>
            </a:r>
            <a:endParaRPr lang="en-US" sz="3400" dirty="0"/>
          </a:p>
        </p:txBody>
      </p:sp>
      <p:sp>
        <p:nvSpPr>
          <p:cNvPr id="4" name="Shape 2"/>
          <p:cNvSpPr/>
          <p:nvPr/>
        </p:nvSpPr>
        <p:spPr>
          <a:xfrm>
            <a:off x="640080" y="1627632"/>
            <a:ext cx="5349240" cy="1828800"/>
          </a:xfrm>
          <a:prstGeom prst="roundRect">
            <a:avLst>
              <a:gd name="adj" fmla="val 6000"/>
            </a:avLst>
          </a:prstGeom>
          <a:solidFill>
            <a:srgbClr val="F1F4FA"/>
          </a:solidFill>
          <a:ln w="12700">
            <a:solidFill>
              <a:srgbClr val="F1F4FA"/>
            </a:solidFill>
            <a:prstDash val="solid"/>
          </a:ln>
        </p:spPr>
        <p:txBody>
          <a:bodyPr/>
          <a:lstStyle/>
          <a:p>
            <a:endParaRPr lang="en-US"/>
          </a:p>
        </p:txBody>
      </p:sp>
      <p:sp>
        <p:nvSpPr>
          <p:cNvPr id="5" name="Text 3"/>
          <p:cNvSpPr/>
          <p:nvPr/>
        </p:nvSpPr>
        <p:spPr>
          <a:xfrm>
            <a:off x="1005840" y="1883664"/>
            <a:ext cx="4617720" cy="365760"/>
          </a:xfrm>
          <a:prstGeom prst="rect">
            <a:avLst/>
          </a:prstGeom>
          <a:noFill/>
          <a:ln/>
        </p:spPr>
        <p:txBody>
          <a:bodyPr wrap="square" lIns="0" tIns="0" rIns="0" bIns="0" rtlCol="0" anchor="ctr"/>
          <a:lstStyle/>
          <a:p>
            <a:pPr marL="0" indent="0">
              <a:buNone/>
            </a:pPr>
            <a:r>
              <a:rPr lang="en-US" sz="1700" b="1" dirty="0">
                <a:solidFill>
                  <a:srgbClr val="16233F"/>
                </a:solidFill>
                <a:latin typeface="Cambria" pitchFamily="34" charset="0"/>
                <a:ea typeface="Cambria" pitchFamily="34" charset="-122"/>
                <a:cs typeface="Cambria" pitchFamily="34" charset="-120"/>
              </a:rPr>
              <a:t>Compensate out of hours work</a:t>
            </a:r>
            <a:endParaRPr lang="en-US" sz="1700" dirty="0"/>
          </a:p>
        </p:txBody>
      </p:sp>
      <p:sp>
        <p:nvSpPr>
          <p:cNvPr id="6" name="Text 4"/>
          <p:cNvSpPr/>
          <p:nvPr/>
        </p:nvSpPr>
        <p:spPr>
          <a:xfrm>
            <a:off x="1005840" y="2313432"/>
            <a:ext cx="4617720" cy="96012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Time off in or cash compensation, capped at a proportion of salary. The cap deliberately limits how much on-call any one person can take on for economic reasons.</a:t>
            </a:r>
            <a:endParaRPr lang="en-US" sz="1300" dirty="0"/>
          </a:p>
        </p:txBody>
      </p:sp>
      <p:sp>
        <p:nvSpPr>
          <p:cNvPr id="7" name="Shape 5"/>
          <p:cNvSpPr/>
          <p:nvPr/>
        </p:nvSpPr>
        <p:spPr>
          <a:xfrm>
            <a:off x="640080" y="3685032"/>
            <a:ext cx="5349240" cy="1828800"/>
          </a:xfrm>
          <a:prstGeom prst="roundRect">
            <a:avLst>
              <a:gd name="adj" fmla="val 6000"/>
            </a:avLst>
          </a:prstGeom>
          <a:solidFill>
            <a:srgbClr val="F1F4FA"/>
          </a:solidFill>
          <a:ln w="12700">
            <a:solidFill>
              <a:srgbClr val="F1F4FA"/>
            </a:solidFill>
            <a:prstDash val="solid"/>
          </a:ln>
        </p:spPr>
        <p:txBody>
          <a:bodyPr/>
          <a:lstStyle/>
          <a:p>
            <a:endParaRPr lang="en-US"/>
          </a:p>
        </p:txBody>
      </p:sp>
      <p:sp>
        <p:nvSpPr>
          <p:cNvPr id="8" name="Text 6"/>
          <p:cNvSpPr/>
          <p:nvPr/>
        </p:nvSpPr>
        <p:spPr>
          <a:xfrm>
            <a:off x="1005840" y="3941064"/>
            <a:ext cx="4617720" cy="365760"/>
          </a:xfrm>
          <a:prstGeom prst="rect">
            <a:avLst/>
          </a:prstGeom>
          <a:noFill/>
          <a:ln/>
        </p:spPr>
        <p:txBody>
          <a:bodyPr wrap="square" lIns="0" tIns="0" rIns="0" bIns="0" rtlCol="0" anchor="ctr"/>
          <a:lstStyle/>
          <a:p>
            <a:pPr marL="0" indent="0">
              <a:buNone/>
            </a:pPr>
            <a:r>
              <a:rPr lang="en-US" sz="1700" b="1" dirty="0">
                <a:solidFill>
                  <a:srgbClr val="16233F"/>
                </a:solidFill>
                <a:latin typeface="Cambria" pitchFamily="34" charset="0"/>
                <a:ea typeface="Cambria" pitchFamily="34" charset="-122"/>
                <a:cs typeface="Cambria" pitchFamily="34" charset="-120"/>
              </a:rPr>
              <a:t>Protect psychological safety</a:t>
            </a:r>
            <a:endParaRPr lang="en-US" sz="1700" dirty="0"/>
          </a:p>
        </p:txBody>
      </p:sp>
      <p:sp>
        <p:nvSpPr>
          <p:cNvPr id="9" name="Text 7"/>
          <p:cNvSpPr/>
          <p:nvPr/>
        </p:nvSpPr>
        <p:spPr>
          <a:xfrm>
            <a:off x="1005840" y="4370832"/>
            <a:ext cx="4617720" cy="96012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Clear escalation paths, defined incident management procedures, and a blameless culture let responders think deliberately instead of reacting under stress.</a:t>
            </a:r>
            <a:endParaRPr lang="en-US" sz="1300" dirty="0"/>
          </a:p>
        </p:txBody>
      </p:sp>
      <p:sp>
        <p:nvSpPr>
          <p:cNvPr id="10" name="Shape 8"/>
          <p:cNvSpPr/>
          <p:nvPr/>
        </p:nvSpPr>
        <p:spPr>
          <a:xfrm>
            <a:off x="6355080" y="1627632"/>
            <a:ext cx="5349240" cy="1828800"/>
          </a:xfrm>
          <a:prstGeom prst="roundRect">
            <a:avLst>
              <a:gd name="adj" fmla="val 6000"/>
            </a:avLst>
          </a:prstGeom>
          <a:solidFill>
            <a:srgbClr val="F1F4FA"/>
          </a:solidFill>
          <a:ln w="12700">
            <a:solidFill>
              <a:srgbClr val="F1F4FA"/>
            </a:solidFill>
            <a:prstDash val="solid"/>
          </a:ln>
        </p:spPr>
        <p:txBody>
          <a:bodyPr/>
          <a:lstStyle/>
          <a:p>
            <a:endParaRPr lang="en-US"/>
          </a:p>
        </p:txBody>
      </p:sp>
      <p:sp>
        <p:nvSpPr>
          <p:cNvPr id="11" name="Text 9"/>
          <p:cNvSpPr/>
          <p:nvPr/>
        </p:nvSpPr>
        <p:spPr>
          <a:xfrm>
            <a:off x="6720840" y="1883664"/>
            <a:ext cx="4617720" cy="365760"/>
          </a:xfrm>
          <a:prstGeom prst="rect">
            <a:avLst/>
          </a:prstGeom>
          <a:noFill/>
          <a:ln/>
        </p:spPr>
        <p:txBody>
          <a:bodyPr wrap="square" lIns="0" tIns="0" rIns="0" bIns="0" rtlCol="0" anchor="ctr"/>
          <a:lstStyle/>
          <a:p>
            <a:pPr marL="0" indent="0">
              <a:buNone/>
            </a:pPr>
            <a:r>
              <a:rPr lang="en-US" sz="1700" b="1" dirty="0">
                <a:solidFill>
                  <a:srgbClr val="16233F"/>
                </a:solidFill>
                <a:latin typeface="Cambria" pitchFamily="34" charset="0"/>
                <a:ea typeface="Cambria" pitchFamily="34" charset="-122"/>
                <a:cs typeface="Cambria" pitchFamily="34" charset="-120"/>
              </a:rPr>
              <a:t>Watch for operational underload</a:t>
            </a:r>
            <a:endParaRPr lang="en-US" sz="1700" dirty="0"/>
          </a:p>
        </p:txBody>
      </p:sp>
      <p:sp>
        <p:nvSpPr>
          <p:cNvPr id="12" name="Text 10"/>
          <p:cNvSpPr/>
          <p:nvPr/>
        </p:nvSpPr>
        <p:spPr>
          <a:xfrm>
            <a:off x="6720840" y="2313432"/>
            <a:ext cx="4617720" cy="96012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A rotation that is too quiet erodes confidence and creates hidden knowledge gaps. Size teams so every engineer is on call at least once or twice per quarter.</a:t>
            </a:r>
            <a:endParaRPr lang="en-US" sz="1300" dirty="0"/>
          </a:p>
        </p:txBody>
      </p:sp>
      <p:sp>
        <p:nvSpPr>
          <p:cNvPr id="13" name="Shape 11"/>
          <p:cNvSpPr/>
          <p:nvPr/>
        </p:nvSpPr>
        <p:spPr>
          <a:xfrm>
            <a:off x="6355080" y="3685032"/>
            <a:ext cx="5349240" cy="1828800"/>
          </a:xfrm>
          <a:prstGeom prst="roundRect">
            <a:avLst>
              <a:gd name="adj" fmla="val 6000"/>
            </a:avLst>
          </a:prstGeom>
          <a:solidFill>
            <a:srgbClr val="F1F4FA"/>
          </a:solidFill>
          <a:ln w="12700">
            <a:solidFill>
              <a:srgbClr val="F1F4FA"/>
            </a:solidFill>
            <a:prstDash val="solid"/>
          </a:ln>
        </p:spPr>
        <p:txBody>
          <a:bodyPr/>
          <a:lstStyle/>
          <a:p>
            <a:endParaRPr lang="en-US"/>
          </a:p>
        </p:txBody>
      </p:sp>
      <p:sp>
        <p:nvSpPr>
          <p:cNvPr id="14" name="Text 12"/>
          <p:cNvSpPr/>
          <p:nvPr/>
        </p:nvSpPr>
        <p:spPr>
          <a:xfrm>
            <a:off x="6720840" y="3941064"/>
            <a:ext cx="4617720" cy="365760"/>
          </a:xfrm>
          <a:prstGeom prst="rect">
            <a:avLst/>
          </a:prstGeom>
          <a:noFill/>
          <a:ln/>
        </p:spPr>
        <p:txBody>
          <a:bodyPr wrap="square" lIns="0" tIns="0" rIns="0" bIns="0" rtlCol="0" anchor="ctr"/>
          <a:lstStyle/>
          <a:p>
            <a:pPr marL="0" indent="0">
              <a:buNone/>
            </a:pPr>
            <a:r>
              <a:rPr lang="en-US" sz="1700" b="1" dirty="0">
                <a:solidFill>
                  <a:srgbClr val="16233F"/>
                </a:solidFill>
                <a:latin typeface="Cambria" pitchFamily="34" charset="0"/>
                <a:ea typeface="Cambria" pitchFamily="34" charset="-122"/>
                <a:cs typeface="Cambria" pitchFamily="34" charset="-120"/>
              </a:rPr>
              <a:t>Practice failure deliberately</a:t>
            </a:r>
            <a:endParaRPr lang="en-US" sz="1700" dirty="0"/>
          </a:p>
        </p:txBody>
      </p:sp>
      <p:sp>
        <p:nvSpPr>
          <p:cNvPr id="15" name="Text 13"/>
          <p:cNvSpPr/>
          <p:nvPr/>
        </p:nvSpPr>
        <p:spPr>
          <a:xfrm>
            <a:off x="6720840" y="4370832"/>
            <a:ext cx="4617720" cy="960120"/>
          </a:xfrm>
          <a:prstGeom prst="rect">
            <a:avLst/>
          </a:prstGeom>
          <a:noFill/>
          <a:ln/>
        </p:spPr>
        <p:txBody>
          <a:bodyPr wrap="square" lIns="0" tIns="0" rIns="0" bIns="0" rtlCol="0" anchor="ctr"/>
          <a:lstStyle/>
          <a:p>
            <a:pPr marL="0" indent="0">
              <a:lnSpc>
                <a:spcPts val="1900"/>
              </a:lnSpc>
              <a:buNone/>
            </a:pPr>
            <a:r>
              <a:rPr lang="en-US" sz="1300" dirty="0">
                <a:solidFill>
                  <a:srgbClr val="2A3550"/>
                </a:solidFill>
                <a:latin typeface="Calibri" pitchFamily="34" charset="0"/>
                <a:ea typeface="Calibri" pitchFamily="34" charset="-122"/>
                <a:cs typeface="Calibri" pitchFamily="34" charset="-120"/>
              </a:rPr>
              <a:t>Disaster role playing exercises and scheduled disaster recovery drills build the muscle memory that a quiet quarter does not provide.</a:t>
            </a:r>
            <a:endParaRPr lang="en-US" sz="1300" dirty="0"/>
          </a:p>
        </p:txBody>
      </p:sp>
      <p:sp>
        <p:nvSpPr>
          <p:cNvPr id="16" name="Text 14"/>
          <p:cNvSpPr/>
          <p:nvPr/>
        </p:nvSpPr>
        <p:spPr>
          <a:xfrm>
            <a:off x="640080" y="6236208"/>
            <a:ext cx="10911535" cy="292608"/>
          </a:xfrm>
          <a:prstGeom prst="rect">
            <a:avLst/>
          </a:prstGeom>
          <a:noFill/>
          <a:ln/>
        </p:spPr>
        <p:txBody>
          <a:bodyPr wrap="square" lIns="0" tIns="0" rIns="0" bIns="0" rtlCol="0" anchor="ctr"/>
          <a:lstStyle/>
          <a:p>
            <a:pPr marL="0" indent="0">
              <a:buNone/>
            </a:pPr>
            <a:r>
              <a:rPr lang="en-US" sz="1000" i="1" dirty="0">
                <a:solidFill>
                  <a:srgbClr val="6B7794"/>
                </a:solidFill>
                <a:latin typeface="Calibri" pitchFamily="34" charset="0"/>
                <a:ea typeface="Calibri" pitchFamily="34" charset="-122"/>
                <a:cs typeface="Calibri" pitchFamily="34" charset="-120"/>
              </a:rPr>
              <a:t>Sources: Google SRE, Chapter 11, Being On-Call (2016); Google SRE Workbook, Chapter 8 (2018).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33F"/>
        </a:solidFill>
        <a:effectLst/>
      </p:bgPr>
    </p:bg>
    <p:spTree>
      <p:nvGrpSpPr>
        <p:cNvPr id="1" name=""/>
        <p:cNvGrpSpPr/>
        <p:nvPr/>
      </p:nvGrpSpPr>
      <p:grpSpPr>
        <a:xfrm>
          <a:off x="0" y="0"/>
          <a:ext cx="0" cy="0"/>
          <a:chOff x="0" y="0"/>
          <a:chExt cx="0" cy="0"/>
        </a:xfrm>
      </p:grpSpPr>
      <p:sp>
        <p:nvSpPr>
          <p:cNvPr id="2" name="Shape 0"/>
          <p:cNvSpPr/>
          <p:nvPr/>
        </p:nvSpPr>
        <p:spPr>
          <a:xfrm>
            <a:off x="-1463040" y="4663440"/>
            <a:ext cx="3108960" cy="3108960"/>
          </a:xfrm>
          <a:prstGeom prst="ellipse">
            <a:avLst/>
          </a:prstGeom>
          <a:solidFill>
            <a:srgbClr val="24365E"/>
          </a:solidFill>
          <a:ln/>
        </p:spPr>
        <p:txBody>
          <a:bodyPr/>
          <a:lstStyle/>
          <a:p>
            <a:endParaRPr lang="en-US"/>
          </a:p>
        </p:txBody>
      </p:sp>
      <p:sp>
        <p:nvSpPr>
          <p:cNvPr id="3" name="Text 1"/>
          <p:cNvSpPr/>
          <p:nvPr/>
        </p:nvSpPr>
        <p:spPr>
          <a:xfrm>
            <a:off x="640080" y="457200"/>
            <a:ext cx="8229600" cy="274320"/>
          </a:xfrm>
          <a:prstGeom prst="rect">
            <a:avLst/>
          </a:prstGeom>
          <a:noFill/>
          <a:ln/>
        </p:spPr>
        <p:txBody>
          <a:bodyPr wrap="square" lIns="0" tIns="0" rIns="0" bIns="0" rtlCol="0" anchor="ctr"/>
          <a:lstStyle/>
          <a:p>
            <a:pPr marL="0" indent="0">
              <a:buNone/>
            </a:pPr>
            <a:r>
              <a:rPr lang="en-US" sz="1100" b="1" kern="0" spc="200" dirty="0">
                <a:solidFill>
                  <a:srgbClr val="E8A33D"/>
                </a:solidFill>
                <a:latin typeface="Calibri" pitchFamily="34" charset="0"/>
                <a:ea typeface="Calibri" pitchFamily="34" charset="-122"/>
                <a:cs typeface="Calibri" pitchFamily="34" charset="-120"/>
              </a:rPr>
              <a:t>CONCLUSION AND REFERENCES</a:t>
            </a:r>
            <a:endParaRPr lang="en-US" sz="1100" dirty="0"/>
          </a:p>
        </p:txBody>
      </p:sp>
      <p:sp>
        <p:nvSpPr>
          <p:cNvPr id="4" name="Text 2"/>
          <p:cNvSpPr/>
          <p:nvPr/>
        </p:nvSpPr>
        <p:spPr>
          <a:xfrm>
            <a:off x="640080" y="777240"/>
            <a:ext cx="10911535"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 Sustainable Rotation Is an Engineering Outcome</a:t>
            </a:r>
            <a:endParaRPr lang="en-US" sz="3200" dirty="0"/>
          </a:p>
        </p:txBody>
      </p:sp>
      <p:sp>
        <p:nvSpPr>
          <p:cNvPr id="5" name="Text 3"/>
          <p:cNvSpPr/>
          <p:nvPr/>
        </p:nvSpPr>
        <p:spPr>
          <a:xfrm>
            <a:off x="640080" y="1572768"/>
            <a:ext cx="10607040" cy="640080"/>
          </a:xfrm>
          <a:prstGeom prst="rect">
            <a:avLst/>
          </a:prstGeom>
          <a:noFill/>
          <a:ln/>
        </p:spPr>
        <p:txBody>
          <a:bodyPr wrap="square" lIns="0" tIns="0" rIns="0" bIns="0" rtlCol="0" anchor="ctr"/>
          <a:lstStyle/>
          <a:p>
            <a:pPr marL="0" indent="0">
              <a:lnSpc>
                <a:spcPts val="2200"/>
              </a:lnSpc>
              <a:buNone/>
            </a:pPr>
            <a:r>
              <a:rPr lang="en-US" sz="1500" dirty="0">
                <a:solidFill>
                  <a:srgbClr val="CADCFC"/>
                </a:solidFill>
                <a:latin typeface="Calibri" pitchFamily="34" charset="0"/>
                <a:ea typeface="Calibri" pitchFamily="34" charset="-122"/>
                <a:cs typeface="Calibri" pitchFamily="34" charset="-120"/>
              </a:rPr>
              <a:t>The sources converge on one theme. A healthy pager rotation is produced by budgeting time, budgeting alerts, documenting procedure, and reviewing every shift. It is not produced by asking individuals to endure more.</a:t>
            </a:r>
            <a:endParaRPr lang="en-US" sz="1500" dirty="0"/>
          </a:p>
        </p:txBody>
      </p:sp>
      <p:sp>
        <p:nvSpPr>
          <p:cNvPr id="6" name="Shape 4"/>
          <p:cNvSpPr/>
          <p:nvPr/>
        </p:nvSpPr>
        <p:spPr>
          <a:xfrm>
            <a:off x="640080" y="2423160"/>
            <a:ext cx="1463040" cy="27432"/>
          </a:xfrm>
          <a:prstGeom prst="rect">
            <a:avLst/>
          </a:prstGeom>
          <a:solidFill>
            <a:srgbClr val="E8A33D"/>
          </a:solidFill>
          <a:ln/>
        </p:spPr>
        <p:txBody>
          <a:bodyPr/>
          <a:lstStyle/>
          <a:p>
            <a:endParaRPr lang="en-US"/>
          </a:p>
        </p:txBody>
      </p:sp>
      <p:sp>
        <p:nvSpPr>
          <p:cNvPr id="7" name="Text 5"/>
          <p:cNvSpPr/>
          <p:nvPr/>
        </p:nvSpPr>
        <p:spPr>
          <a:xfrm>
            <a:off x="640080" y="2606040"/>
            <a:ext cx="5486400" cy="365760"/>
          </a:xfrm>
          <a:prstGeom prst="rect">
            <a:avLst/>
          </a:prstGeom>
          <a:noFill/>
          <a:ln/>
        </p:spPr>
        <p:txBody>
          <a:bodyPr wrap="square" lIns="0" tIns="0" rIns="0" bIns="0" rtlCol="0" anchor="ctr"/>
          <a:lstStyle/>
          <a:p>
            <a:pPr marL="0" indent="0">
              <a:buNone/>
            </a:pPr>
            <a:r>
              <a:rPr lang="en-US" sz="2000" b="1" dirty="0">
                <a:solidFill>
                  <a:srgbClr val="E8A33D"/>
                </a:solidFill>
                <a:latin typeface="Cambria" pitchFamily="34" charset="0"/>
                <a:ea typeface="Cambria" pitchFamily="34" charset="-122"/>
                <a:cs typeface="Cambria" pitchFamily="34" charset="-120"/>
              </a:rPr>
              <a:t>References</a:t>
            </a:r>
            <a:endParaRPr lang="en-US" sz="2000" dirty="0"/>
          </a:p>
        </p:txBody>
      </p:sp>
      <p:sp>
        <p:nvSpPr>
          <p:cNvPr id="8" name="Text 6"/>
          <p:cNvSpPr/>
          <p:nvPr/>
        </p:nvSpPr>
        <p:spPr>
          <a:xfrm>
            <a:off x="640080" y="3063240"/>
            <a:ext cx="10698480" cy="2834640"/>
          </a:xfrm>
          <a:prstGeom prst="rect">
            <a:avLst/>
          </a:prstGeom>
          <a:noFill/>
          <a:ln/>
        </p:spPr>
        <p:txBody>
          <a:bodyPr wrap="square" lIns="0" tIns="0" rIns="0" bIns="0" rtlCol="0" anchor="ctr"/>
          <a:lstStyle/>
          <a:p>
            <a:pPr marL="342900" indent="-342900">
              <a:lnSpc>
                <a:spcPts val="17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Spadaccini, A. (2016). "Being On-Call." In Site Reliability Engineering: How Google Runs Production Systems, Ch. 11. O'Reilly. https://sre.google/sre-book/being-on-call/</a:t>
            </a:r>
            <a:endParaRPr lang="en-US" sz="1250" dirty="0"/>
          </a:p>
          <a:p>
            <a:pPr marL="342900" indent="-342900">
              <a:lnSpc>
                <a:spcPts val="17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Cook, O., Smollett, S., Spadaccini, A., Donnelly, C., Ma, J., and Plasky, G. (2018). "On-Call." In The Site Reliability Workbook, Ch. 8. O'Reilly. https://sre.google/workbook/on-call/</a:t>
            </a:r>
            <a:endParaRPr lang="en-US" sz="1250" dirty="0"/>
          </a:p>
          <a:p>
            <a:pPr marL="342900" indent="-342900">
              <a:lnSpc>
                <a:spcPts val="17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PagerDuty. "On-Call Shifts." Full Service Ownership Ops Guide. https://ownership.pagerduty.com/on-call/</a:t>
            </a:r>
            <a:endParaRPr lang="en-US" sz="1250" dirty="0"/>
          </a:p>
          <a:p>
            <a:pPr marL="342900" indent="-342900">
              <a:lnSpc>
                <a:spcPts val="17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Atlassian. "A Manager's Guide to Improving On-Call." Incident Management Handbook. https://www.atlassian.com/incident-management/on-call/improving-on-call</a:t>
            </a:r>
            <a:endParaRPr lang="en-US" sz="1250" dirty="0"/>
          </a:p>
          <a:p>
            <a:pPr marL="342900" indent="-342900">
              <a:lnSpc>
                <a:spcPts val="1700"/>
              </a:lnSpc>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Atlassian. "Incident Response Best Practices and Tips." https://www.atlassian.com/incident-management/incident-response/best-practices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1905</Words>
  <Application>Microsoft Office PowerPoint</Application>
  <PresentationFormat>Widescreen</PresentationFormat>
  <Paragraphs>146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Pager Rotation Duties in the DevOps Model</dc:title>
  <dc:subject>PptxGenJS Presentation</dc:subject>
  <dc:creator>Caleb Schumacher</dc:creator>
  <cp:lastModifiedBy>Caleb Schumacher</cp:lastModifiedBy>
  <cp:revision>3</cp:revision>
  <dcterms:created xsi:type="dcterms:W3CDTF">2026-07-26T19:48:08Z</dcterms:created>
  <dcterms:modified xsi:type="dcterms:W3CDTF">2026-07-26T20:01:00Z</dcterms:modified>
</cp:coreProperties>
</file>